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  <p:sldMasterId id="2147483672" r:id="rId6"/>
    <p:sldMasterId id="2147483684" r:id="rId7"/>
  </p:sldMasterIdLst>
  <p:notesMasterIdLst>
    <p:notesMasterId r:id="rId20"/>
  </p:notesMasterIdLst>
  <p:handoutMasterIdLst>
    <p:handoutMasterId r:id="rId21"/>
  </p:handoutMasterIdLst>
  <p:sldIdLst>
    <p:sldId id="301" r:id="rId8"/>
    <p:sldId id="317" r:id="rId9"/>
    <p:sldId id="308" r:id="rId10"/>
    <p:sldId id="309" r:id="rId11"/>
    <p:sldId id="310" r:id="rId12"/>
    <p:sldId id="311" r:id="rId13"/>
    <p:sldId id="312" r:id="rId14"/>
    <p:sldId id="313" r:id="rId15"/>
    <p:sldId id="315" r:id="rId16"/>
    <p:sldId id="320" r:id="rId17"/>
    <p:sldId id="318" r:id="rId18"/>
    <p:sldId id="31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E42"/>
    <a:srgbClr val="C50E3D"/>
    <a:srgbClr val="081F3F"/>
    <a:srgbClr val="ED1846"/>
    <a:srgbClr val="252849"/>
    <a:srgbClr val="081E40"/>
    <a:srgbClr val="002164"/>
    <a:srgbClr val="004E7F"/>
    <a:srgbClr val="C32E4C"/>
    <a:srgbClr val="DB0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661" autoAdjust="0"/>
  </p:normalViewPr>
  <p:slideViewPr>
    <p:cSldViewPr snapToGrid="0">
      <p:cViewPr varScale="1">
        <p:scale>
          <a:sx n="80" d="100"/>
          <a:sy n="80" d="100"/>
        </p:scale>
        <p:origin x="179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243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575D1-9CCC-4433-898F-283877E0E7F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8B7FB4-AD83-4AC4-82DB-D9079C6EC565}">
      <dgm:prSet phldrT="[Text]" phldr="0"/>
      <dgm:spPr/>
      <dgm:t>
        <a:bodyPr/>
        <a:lstStyle/>
        <a:p>
          <a:r>
            <a:rPr lang="en-US" dirty="0"/>
            <a:t>Motivation</a:t>
          </a:r>
        </a:p>
      </dgm:t>
    </dgm:pt>
    <dgm:pt modelId="{0B880E9C-325E-4F40-A160-58B7DC05B42A}" type="parTrans" cxnId="{6F006444-6B7D-455C-BD3D-294FB33E54B3}">
      <dgm:prSet/>
      <dgm:spPr/>
      <dgm:t>
        <a:bodyPr/>
        <a:lstStyle/>
        <a:p>
          <a:endParaRPr lang="en-US"/>
        </a:p>
      </dgm:t>
    </dgm:pt>
    <dgm:pt modelId="{AE5A4DA7-5A3C-450A-A46B-FA5FC319DC76}" type="sibTrans" cxnId="{6F006444-6B7D-455C-BD3D-294FB33E54B3}">
      <dgm:prSet/>
      <dgm:spPr/>
      <dgm:t>
        <a:bodyPr/>
        <a:lstStyle/>
        <a:p>
          <a:endParaRPr lang="en-US"/>
        </a:p>
      </dgm:t>
    </dgm:pt>
    <dgm:pt modelId="{358C7DD1-AD4C-4D00-8F48-1B21C920A626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b="1" dirty="0"/>
            <a:t>Methodology</a:t>
          </a:r>
        </a:p>
      </dgm:t>
    </dgm:pt>
    <dgm:pt modelId="{CE19F191-249E-49AB-AAF3-82183FADC92D}" type="parTrans" cxnId="{E4E1FE17-FAAE-402A-A8F2-2D9508BCA4F8}">
      <dgm:prSet/>
      <dgm:spPr/>
      <dgm:t>
        <a:bodyPr/>
        <a:lstStyle/>
        <a:p>
          <a:endParaRPr lang="en-US"/>
        </a:p>
      </dgm:t>
    </dgm:pt>
    <dgm:pt modelId="{6D0641E6-9327-4E60-B4C3-47768EE840E9}" type="sibTrans" cxnId="{E4E1FE17-FAAE-402A-A8F2-2D9508BCA4F8}">
      <dgm:prSet/>
      <dgm:spPr/>
      <dgm:t>
        <a:bodyPr/>
        <a:lstStyle/>
        <a:p>
          <a:endParaRPr lang="en-US"/>
        </a:p>
      </dgm:t>
    </dgm:pt>
    <dgm:pt modelId="{A71D6A35-8C4E-412C-9EDF-01674497B442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Monte Carlo Coupling</a:t>
          </a:r>
        </a:p>
      </dgm:t>
    </dgm:pt>
    <dgm:pt modelId="{F7425609-52A1-4754-8DBA-8E90CD21C244}" type="parTrans" cxnId="{889E2E20-6488-4981-9596-BAE51F6E4255}">
      <dgm:prSet/>
      <dgm:spPr/>
      <dgm:t>
        <a:bodyPr/>
        <a:lstStyle/>
        <a:p>
          <a:endParaRPr lang="en-US"/>
        </a:p>
      </dgm:t>
    </dgm:pt>
    <dgm:pt modelId="{896D9CD1-B04F-4910-B846-4189FF7661F0}" type="sibTrans" cxnId="{889E2E20-6488-4981-9596-BAE51F6E4255}">
      <dgm:prSet/>
      <dgm:spPr/>
      <dgm:t>
        <a:bodyPr/>
        <a:lstStyle/>
        <a:p>
          <a:endParaRPr lang="en-US"/>
        </a:p>
      </dgm:t>
    </dgm:pt>
    <dgm:pt modelId="{2E02803E-C9A3-4650-A0A6-FE93AA769508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/>
            <a:t>Interpreting Results</a:t>
          </a:r>
          <a:endParaRPr lang="en-US" dirty="0"/>
        </a:p>
      </dgm:t>
    </dgm:pt>
    <dgm:pt modelId="{F317F248-660C-4EAF-9C1F-3C14C0DA64CC}" type="parTrans" cxnId="{715EDF7F-C48C-4DD2-8FB0-33B2D511F34A}">
      <dgm:prSet/>
      <dgm:spPr/>
      <dgm:t>
        <a:bodyPr/>
        <a:lstStyle/>
        <a:p>
          <a:endParaRPr lang="en-US"/>
        </a:p>
      </dgm:t>
    </dgm:pt>
    <dgm:pt modelId="{E90AB208-AA43-4BE1-A126-F8D13E6E561B}" type="sibTrans" cxnId="{715EDF7F-C48C-4DD2-8FB0-33B2D511F34A}">
      <dgm:prSet/>
      <dgm:spPr/>
      <dgm:t>
        <a:bodyPr/>
        <a:lstStyle/>
        <a:p>
          <a:endParaRPr lang="en-US"/>
        </a:p>
      </dgm:t>
    </dgm:pt>
    <dgm:pt modelId="{8E4D77BA-C37E-4234-8245-1F671F391DEC}" type="pres">
      <dgm:prSet presAssocID="{A87575D1-9CCC-4433-898F-283877E0E7FF}" presName="CompostProcess" presStyleCnt="0">
        <dgm:presLayoutVars>
          <dgm:dir/>
          <dgm:resizeHandles val="exact"/>
        </dgm:presLayoutVars>
      </dgm:prSet>
      <dgm:spPr/>
    </dgm:pt>
    <dgm:pt modelId="{89AD4A10-A66D-4ED8-B4F3-D7492C545783}" type="pres">
      <dgm:prSet presAssocID="{A87575D1-9CCC-4433-898F-283877E0E7FF}" presName="arrow" presStyleLbl="bgShp" presStyleIdx="0" presStyleCnt="1" custLinFactNeighborX="0"/>
      <dgm:spPr/>
    </dgm:pt>
    <dgm:pt modelId="{2E8693ED-480F-46CE-854C-75BAC54CBB25}" type="pres">
      <dgm:prSet presAssocID="{A87575D1-9CCC-4433-898F-283877E0E7FF}" presName="linearProcess" presStyleCnt="0"/>
      <dgm:spPr/>
    </dgm:pt>
    <dgm:pt modelId="{83A51606-C820-4F31-BBCE-F0EAA0ABEBF2}" type="pres">
      <dgm:prSet presAssocID="{628B7FB4-AD83-4AC4-82DB-D9079C6EC565}" presName="textNode" presStyleLbl="node1" presStyleIdx="0" presStyleCnt="4">
        <dgm:presLayoutVars>
          <dgm:bulletEnabled val="1"/>
        </dgm:presLayoutVars>
      </dgm:prSet>
      <dgm:spPr/>
    </dgm:pt>
    <dgm:pt modelId="{420730A7-BBF4-4C08-BFB3-8F51EAF50497}" type="pres">
      <dgm:prSet presAssocID="{AE5A4DA7-5A3C-450A-A46B-FA5FC319DC76}" presName="sibTrans" presStyleCnt="0"/>
      <dgm:spPr/>
    </dgm:pt>
    <dgm:pt modelId="{A070D9FA-3AD1-477F-9CBB-31A8FAF0CC56}" type="pres">
      <dgm:prSet presAssocID="{358C7DD1-AD4C-4D00-8F48-1B21C920A626}" presName="textNode" presStyleLbl="node1" presStyleIdx="1" presStyleCnt="4">
        <dgm:presLayoutVars>
          <dgm:bulletEnabled val="1"/>
        </dgm:presLayoutVars>
      </dgm:prSet>
      <dgm:spPr/>
    </dgm:pt>
    <dgm:pt modelId="{4B6936E7-F039-4C0D-A653-514388E99BA1}" type="pres">
      <dgm:prSet presAssocID="{6D0641E6-9327-4E60-B4C3-47768EE840E9}" presName="sibTrans" presStyleCnt="0"/>
      <dgm:spPr/>
    </dgm:pt>
    <dgm:pt modelId="{54D63E36-3BC9-4438-B419-D5FA3D22DC55}" type="pres">
      <dgm:prSet presAssocID="{A71D6A35-8C4E-412C-9EDF-01674497B442}" presName="textNode" presStyleLbl="node1" presStyleIdx="2" presStyleCnt="4">
        <dgm:presLayoutVars>
          <dgm:bulletEnabled val="1"/>
        </dgm:presLayoutVars>
      </dgm:prSet>
      <dgm:spPr/>
    </dgm:pt>
    <dgm:pt modelId="{2DFD21CC-74AB-40C7-A85E-AF1D581344A2}" type="pres">
      <dgm:prSet presAssocID="{896D9CD1-B04F-4910-B846-4189FF7661F0}" presName="sibTrans" presStyleCnt="0"/>
      <dgm:spPr/>
    </dgm:pt>
    <dgm:pt modelId="{43A33F54-CC79-4E29-A894-1816F576D360}" type="pres">
      <dgm:prSet presAssocID="{2E02803E-C9A3-4650-A0A6-FE93AA76950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4E1FE17-FAAE-402A-A8F2-2D9508BCA4F8}" srcId="{A87575D1-9CCC-4433-898F-283877E0E7FF}" destId="{358C7DD1-AD4C-4D00-8F48-1B21C920A626}" srcOrd="1" destOrd="0" parTransId="{CE19F191-249E-49AB-AAF3-82183FADC92D}" sibTransId="{6D0641E6-9327-4E60-B4C3-47768EE840E9}"/>
    <dgm:cxn modelId="{889E2E20-6488-4981-9596-BAE51F6E4255}" srcId="{A87575D1-9CCC-4433-898F-283877E0E7FF}" destId="{A71D6A35-8C4E-412C-9EDF-01674497B442}" srcOrd="2" destOrd="0" parTransId="{F7425609-52A1-4754-8DBA-8E90CD21C244}" sibTransId="{896D9CD1-B04F-4910-B846-4189FF7661F0}"/>
    <dgm:cxn modelId="{12565F61-5C64-45F6-A3C1-65A695A26457}" type="presOf" srcId="{2E02803E-C9A3-4650-A0A6-FE93AA769508}" destId="{43A33F54-CC79-4E29-A894-1816F576D360}" srcOrd="0" destOrd="0" presId="urn:microsoft.com/office/officeart/2005/8/layout/hProcess9"/>
    <dgm:cxn modelId="{6F006444-6B7D-455C-BD3D-294FB33E54B3}" srcId="{A87575D1-9CCC-4433-898F-283877E0E7FF}" destId="{628B7FB4-AD83-4AC4-82DB-D9079C6EC565}" srcOrd="0" destOrd="0" parTransId="{0B880E9C-325E-4F40-A160-58B7DC05B42A}" sibTransId="{AE5A4DA7-5A3C-450A-A46B-FA5FC319DC76}"/>
    <dgm:cxn modelId="{8B6B0B4A-CF03-48A5-AA3C-2005234219A0}" type="presOf" srcId="{A87575D1-9CCC-4433-898F-283877E0E7FF}" destId="{8E4D77BA-C37E-4234-8245-1F671F391DEC}" srcOrd="0" destOrd="0" presId="urn:microsoft.com/office/officeart/2005/8/layout/hProcess9"/>
    <dgm:cxn modelId="{715EDF7F-C48C-4DD2-8FB0-33B2D511F34A}" srcId="{A87575D1-9CCC-4433-898F-283877E0E7FF}" destId="{2E02803E-C9A3-4650-A0A6-FE93AA769508}" srcOrd="3" destOrd="0" parTransId="{F317F248-660C-4EAF-9C1F-3C14C0DA64CC}" sibTransId="{E90AB208-AA43-4BE1-A126-F8D13E6E561B}"/>
    <dgm:cxn modelId="{134E3380-C9E2-4CC6-8246-35C14EFBA90D}" type="presOf" srcId="{628B7FB4-AD83-4AC4-82DB-D9079C6EC565}" destId="{83A51606-C820-4F31-BBCE-F0EAA0ABEBF2}" srcOrd="0" destOrd="0" presId="urn:microsoft.com/office/officeart/2005/8/layout/hProcess9"/>
    <dgm:cxn modelId="{635FDEC6-4E5A-4949-A02A-352061831F42}" type="presOf" srcId="{358C7DD1-AD4C-4D00-8F48-1B21C920A626}" destId="{A070D9FA-3AD1-477F-9CBB-31A8FAF0CC56}" srcOrd="0" destOrd="0" presId="urn:microsoft.com/office/officeart/2005/8/layout/hProcess9"/>
    <dgm:cxn modelId="{AD8FA3E4-A1AA-422F-A3B8-76E513EA8F3D}" type="presOf" srcId="{A71D6A35-8C4E-412C-9EDF-01674497B442}" destId="{54D63E36-3BC9-4438-B419-D5FA3D22DC55}" srcOrd="0" destOrd="0" presId="urn:microsoft.com/office/officeart/2005/8/layout/hProcess9"/>
    <dgm:cxn modelId="{B368AF0E-9B87-4C24-AFC5-CE69B59E9216}" type="presParOf" srcId="{8E4D77BA-C37E-4234-8245-1F671F391DEC}" destId="{89AD4A10-A66D-4ED8-B4F3-D7492C545783}" srcOrd="0" destOrd="0" presId="urn:microsoft.com/office/officeart/2005/8/layout/hProcess9"/>
    <dgm:cxn modelId="{2ABA3DFD-B10E-45D4-8F4B-8765C3A7E451}" type="presParOf" srcId="{8E4D77BA-C37E-4234-8245-1F671F391DEC}" destId="{2E8693ED-480F-46CE-854C-75BAC54CBB25}" srcOrd="1" destOrd="0" presId="urn:microsoft.com/office/officeart/2005/8/layout/hProcess9"/>
    <dgm:cxn modelId="{1EC465B3-DBF4-4CF5-ABFE-5743789104F1}" type="presParOf" srcId="{2E8693ED-480F-46CE-854C-75BAC54CBB25}" destId="{83A51606-C820-4F31-BBCE-F0EAA0ABEBF2}" srcOrd="0" destOrd="0" presId="urn:microsoft.com/office/officeart/2005/8/layout/hProcess9"/>
    <dgm:cxn modelId="{3EE6ABCB-262B-43F6-B866-AFFCEB85EF54}" type="presParOf" srcId="{2E8693ED-480F-46CE-854C-75BAC54CBB25}" destId="{420730A7-BBF4-4C08-BFB3-8F51EAF50497}" srcOrd="1" destOrd="0" presId="urn:microsoft.com/office/officeart/2005/8/layout/hProcess9"/>
    <dgm:cxn modelId="{661DD4D0-2CC3-408C-A34A-69766E45A134}" type="presParOf" srcId="{2E8693ED-480F-46CE-854C-75BAC54CBB25}" destId="{A070D9FA-3AD1-477F-9CBB-31A8FAF0CC56}" srcOrd="2" destOrd="0" presId="urn:microsoft.com/office/officeart/2005/8/layout/hProcess9"/>
    <dgm:cxn modelId="{C2BC2ECA-3456-4346-9483-086308E66637}" type="presParOf" srcId="{2E8693ED-480F-46CE-854C-75BAC54CBB25}" destId="{4B6936E7-F039-4C0D-A653-514388E99BA1}" srcOrd="3" destOrd="0" presId="urn:microsoft.com/office/officeart/2005/8/layout/hProcess9"/>
    <dgm:cxn modelId="{54A4C4C3-C062-420D-9117-9DE82B454140}" type="presParOf" srcId="{2E8693ED-480F-46CE-854C-75BAC54CBB25}" destId="{54D63E36-3BC9-4438-B419-D5FA3D22DC55}" srcOrd="4" destOrd="0" presId="urn:microsoft.com/office/officeart/2005/8/layout/hProcess9"/>
    <dgm:cxn modelId="{1BBDB6BF-24D6-4691-9C3A-3DE995910C67}" type="presParOf" srcId="{2E8693ED-480F-46CE-854C-75BAC54CBB25}" destId="{2DFD21CC-74AB-40C7-A85E-AF1D581344A2}" srcOrd="5" destOrd="0" presId="urn:microsoft.com/office/officeart/2005/8/layout/hProcess9"/>
    <dgm:cxn modelId="{189AD0B8-E642-451D-9FC9-E6A283467D7C}" type="presParOf" srcId="{2E8693ED-480F-46CE-854C-75BAC54CBB25}" destId="{43A33F54-CC79-4E29-A894-1816F576D36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7575D1-9CCC-4433-898F-283877E0E7F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8B7FB4-AD83-4AC4-82DB-D9079C6EC565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0B880E9C-325E-4F40-A160-58B7DC05B42A}" type="parTrans" cxnId="{6F006444-6B7D-455C-BD3D-294FB33E54B3}">
      <dgm:prSet/>
      <dgm:spPr/>
      <dgm:t>
        <a:bodyPr/>
        <a:lstStyle/>
        <a:p>
          <a:endParaRPr lang="en-US"/>
        </a:p>
      </dgm:t>
    </dgm:pt>
    <dgm:pt modelId="{AE5A4DA7-5A3C-450A-A46B-FA5FC319DC76}" type="sibTrans" cxnId="{6F006444-6B7D-455C-BD3D-294FB33E54B3}">
      <dgm:prSet/>
      <dgm:spPr/>
      <dgm:t>
        <a:bodyPr/>
        <a:lstStyle/>
        <a:p>
          <a:endParaRPr lang="en-US"/>
        </a:p>
      </dgm:t>
    </dgm:pt>
    <dgm:pt modelId="{358C7DD1-AD4C-4D00-8F48-1B21C920A626}">
      <dgm:prSet phldrT="[Text]" phldr="0"/>
      <dgm:spPr>
        <a:solidFill>
          <a:schemeClr val="accent1"/>
        </a:solidFill>
      </dgm:spPr>
      <dgm:t>
        <a:bodyPr/>
        <a:lstStyle/>
        <a:p>
          <a:r>
            <a:rPr lang="en-US" b="1" dirty="0"/>
            <a:t>Methodology</a:t>
          </a:r>
        </a:p>
      </dgm:t>
    </dgm:pt>
    <dgm:pt modelId="{CE19F191-249E-49AB-AAF3-82183FADC92D}" type="parTrans" cxnId="{E4E1FE17-FAAE-402A-A8F2-2D9508BCA4F8}">
      <dgm:prSet/>
      <dgm:spPr/>
      <dgm:t>
        <a:bodyPr/>
        <a:lstStyle/>
        <a:p>
          <a:endParaRPr lang="en-US"/>
        </a:p>
      </dgm:t>
    </dgm:pt>
    <dgm:pt modelId="{6D0641E6-9327-4E60-B4C3-47768EE840E9}" type="sibTrans" cxnId="{E4E1FE17-FAAE-402A-A8F2-2D9508BCA4F8}">
      <dgm:prSet/>
      <dgm:spPr/>
      <dgm:t>
        <a:bodyPr/>
        <a:lstStyle/>
        <a:p>
          <a:endParaRPr lang="en-US"/>
        </a:p>
      </dgm:t>
    </dgm:pt>
    <dgm:pt modelId="{A71D6A35-8C4E-412C-9EDF-01674497B442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Monte Carlo Coupling</a:t>
          </a:r>
        </a:p>
      </dgm:t>
    </dgm:pt>
    <dgm:pt modelId="{F7425609-52A1-4754-8DBA-8E90CD21C244}" type="parTrans" cxnId="{889E2E20-6488-4981-9596-BAE51F6E4255}">
      <dgm:prSet/>
      <dgm:spPr/>
      <dgm:t>
        <a:bodyPr/>
        <a:lstStyle/>
        <a:p>
          <a:endParaRPr lang="en-US"/>
        </a:p>
      </dgm:t>
    </dgm:pt>
    <dgm:pt modelId="{896D9CD1-B04F-4910-B846-4189FF7661F0}" type="sibTrans" cxnId="{889E2E20-6488-4981-9596-BAE51F6E4255}">
      <dgm:prSet/>
      <dgm:spPr/>
      <dgm:t>
        <a:bodyPr/>
        <a:lstStyle/>
        <a:p>
          <a:endParaRPr lang="en-US"/>
        </a:p>
      </dgm:t>
    </dgm:pt>
    <dgm:pt modelId="{2E02803E-C9A3-4650-A0A6-FE93AA769508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/>
            <a:t>Interpreting Results</a:t>
          </a:r>
          <a:endParaRPr lang="en-US" dirty="0"/>
        </a:p>
      </dgm:t>
    </dgm:pt>
    <dgm:pt modelId="{F317F248-660C-4EAF-9C1F-3C14C0DA64CC}" type="parTrans" cxnId="{715EDF7F-C48C-4DD2-8FB0-33B2D511F34A}">
      <dgm:prSet/>
      <dgm:spPr/>
      <dgm:t>
        <a:bodyPr/>
        <a:lstStyle/>
        <a:p>
          <a:endParaRPr lang="en-US"/>
        </a:p>
      </dgm:t>
    </dgm:pt>
    <dgm:pt modelId="{E90AB208-AA43-4BE1-A126-F8D13E6E561B}" type="sibTrans" cxnId="{715EDF7F-C48C-4DD2-8FB0-33B2D511F34A}">
      <dgm:prSet/>
      <dgm:spPr/>
      <dgm:t>
        <a:bodyPr/>
        <a:lstStyle/>
        <a:p>
          <a:endParaRPr lang="en-US"/>
        </a:p>
      </dgm:t>
    </dgm:pt>
    <dgm:pt modelId="{8E4D77BA-C37E-4234-8245-1F671F391DEC}" type="pres">
      <dgm:prSet presAssocID="{A87575D1-9CCC-4433-898F-283877E0E7FF}" presName="CompostProcess" presStyleCnt="0">
        <dgm:presLayoutVars>
          <dgm:dir/>
          <dgm:resizeHandles val="exact"/>
        </dgm:presLayoutVars>
      </dgm:prSet>
      <dgm:spPr/>
    </dgm:pt>
    <dgm:pt modelId="{89AD4A10-A66D-4ED8-B4F3-D7492C545783}" type="pres">
      <dgm:prSet presAssocID="{A87575D1-9CCC-4433-898F-283877E0E7FF}" presName="arrow" presStyleLbl="bgShp" presStyleIdx="0" presStyleCnt="1" custLinFactNeighborX="0"/>
      <dgm:spPr/>
    </dgm:pt>
    <dgm:pt modelId="{2E8693ED-480F-46CE-854C-75BAC54CBB25}" type="pres">
      <dgm:prSet presAssocID="{A87575D1-9CCC-4433-898F-283877E0E7FF}" presName="linearProcess" presStyleCnt="0"/>
      <dgm:spPr/>
    </dgm:pt>
    <dgm:pt modelId="{83A51606-C820-4F31-BBCE-F0EAA0ABEBF2}" type="pres">
      <dgm:prSet presAssocID="{628B7FB4-AD83-4AC4-82DB-D9079C6EC565}" presName="textNode" presStyleLbl="node1" presStyleIdx="0" presStyleCnt="4">
        <dgm:presLayoutVars>
          <dgm:bulletEnabled val="1"/>
        </dgm:presLayoutVars>
      </dgm:prSet>
      <dgm:spPr/>
    </dgm:pt>
    <dgm:pt modelId="{420730A7-BBF4-4C08-BFB3-8F51EAF50497}" type="pres">
      <dgm:prSet presAssocID="{AE5A4DA7-5A3C-450A-A46B-FA5FC319DC76}" presName="sibTrans" presStyleCnt="0"/>
      <dgm:spPr/>
    </dgm:pt>
    <dgm:pt modelId="{A070D9FA-3AD1-477F-9CBB-31A8FAF0CC56}" type="pres">
      <dgm:prSet presAssocID="{358C7DD1-AD4C-4D00-8F48-1B21C920A626}" presName="textNode" presStyleLbl="node1" presStyleIdx="1" presStyleCnt="4">
        <dgm:presLayoutVars>
          <dgm:bulletEnabled val="1"/>
        </dgm:presLayoutVars>
      </dgm:prSet>
      <dgm:spPr/>
    </dgm:pt>
    <dgm:pt modelId="{4B6936E7-F039-4C0D-A653-514388E99BA1}" type="pres">
      <dgm:prSet presAssocID="{6D0641E6-9327-4E60-B4C3-47768EE840E9}" presName="sibTrans" presStyleCnt="0"/>
      <dgm:spPr/>
    </dgm:pt>
    <dgm:pt modelId="{54D63E36-3BC9-4438-B419-D5FA3D22DC55}" type="pres">
      <dgm:prSet presAssocID="{A71D6A35-8C4E-412C-9EDF-01674497B442}" presName="textNode" presStyleLbl="node1" presStyleIdx="2" presStyleCnt="4">
        <dgm:presLayoutVars>
          <dgm:bulletEnabled val="1"/>
        </dgm:presLayoutVars>
      </dgm:prSet>
      <dgm:spPr/>
    </dgm:pt>
    <dgm:pt modelId="{2DFD21CC-74AB-40C7-A85E-AF1D581344A2}" type="pres">
      <dgm:prSet presAssocID="{896D9CD1-B04F-4910-B846-4189FF7661F0}" presName="sibTrans" presStyleCnt="0"/>
      <dgm:spPr/>
    </dgm:pt>
    <dgm:pt modelId="{43A33F54-CC79-4E29-A894-1816F576D360}" type="pres">
      <dgm:prSet presAssocID="{2E02803E-C9A3-4650-A0A6-FE93AA76950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4E1FE17-FAAE-402A-A8F2-2D9508BCA4F8}" srcId="{A87575D1-9CCC-4433-898F-283877E0E7FF}" destId="{358C7DD1-AD4C-4D00-8F48-1B21C920A626}" srcOrd="1" destOrd="0" parTransId="{CE19F191-249E-49AB-AAF3-82183FADC92D}" sibTransId="{6D0641E6-9327-4E60-B4C3-47768EE840E9}"/>
    <dgm:cxn modelId="{889E2E20-6488-4981-9596-BAE51F6E4255}" srcId="{A87575D1-9CCC-4433-898F-283877E0E7FF}" destId="{A71D6A35-8C4E-412C-9EDF-01674497B442}" srcOrd="2" destOrd="0" parTransId="{F7425609-52A1-4754-8DBA-8E90CD21C244}" sibTransId="{896D9CD1-B04F-4910-B846-4189FF7661F0}"/>
    <dgm:cxn modelId="{12565F61-5C64-45F6-A3C1-65A695A26457}" type="presOf" srcId="{2E02803E-C9A3-4650-A0A6-FE93AA769508}" destId="{43A33F54-CC79-4E29-A894-1816F576D360}" srcOrd="0" destOrd="0" presId="urn:microsoft.com/office/officeart/2005/8/layout/hProcess9"/>
    <dgm:cxn modelId="{6F006444-6B7D-455C-BD3D-294FB33E54B3}" srcId="{A87575D1-9CCC-4433-898F-283877E0E7FF}" destId="{628B7FB4-AD83-4AC4-82DB-D9079C6EC565}" srcOrd="0" destOrd="0" parTransId="{0B880E9C-325E-4F40-A160-58B7DC05B42A}" sibTransId="{AE5A4DA7-5A3C-450A-A46B-FA5FC319DC76}"/>
    <dgm:cxn modelId="{8B6B0B4A-CF03-48A5-AA3C-2005234219A0}" type="presOf" srcId="{A87575D1-9CCC-4433-898F-283877E0E7FF}" destId="{8E4D77BA-C37E-4234-8245-1F671F391DEC}" srcOrd="0" destOrd="0" presId="urn:microsoft.com/office/officeart/2005/8/layout/hProcess9"/>
    <dgm:cxn modelId="{715EDF7F-C48C-4DD2-8FB0-33B2D511F34A}" srcId="{A87575D1-9CCC-4433-898F-283877E0E7FF}" destId="{2E02803E-C9A3-4650-A0A6-FE93AA769508}" srcOrd="3" destOrd="0" parTransId="{F317F248-660C-4EAF-9C1F-3C14C0DA64CC}" sibTransId="{E90AB208-AA43-4BE1-A126-F8D13E6E561B}"/>
    <dgm:cxn modelId="{134E3380-C9E2-4CC6-8246-35C14EFBA90D}" type="presOf" srcId="{628B7FB4-AD83-4AC4-82DB-D9079C6EC565}" destId="{83A51606-C820-4F31-BBCE-F0EAA0ABEBF2}" srcOrd="0" destOrd="0" presId="urn:microsoft.com/office/officeart/2005/8/layout/hProcess9"/>
    <dgm:cxn modelId="{635FDEC6-4E5A-4949-A02A-352061831F42}" type="presOf" srcId="{358C7DD1-AD4C-4D00-8F48-1B21C920A626}" destId="{A070D9FA-3AD1-477F-9CBB-31A8FAF0CC56}" srcOrd="0" destOrd="0" presId="urn:microsoft.com/office/officeart/2005/8/layout/hProcess9"/>
    <dgm:cxn modelId="{AD8FA3E4-A1AA-422F-A3B8-76E513EA8F3D}" type="presOf" srcId="{A71D6A35-8C4E-412C-9EDF-01674497B442}" destId="{54D63E36-3BC9-4438-B419-D5FA3D22DC55}" srcOrd="0" destOrd="0" presId="urn:microsoft.com/office/officeart/2005/8/layout/hProcess9"/>
    <dgm:cxn modelId="{B368AF0E-9B87-4C24-AFC5-CE69B59E9216}" type="presParOf" srcId="{8E4D77BA-C37E-4234-8245-1F671F391DEC}" destId="{89AD4A10-A66D-4ED8-B4F3-D7492C545783}" srcOrd="0" destOrd="0" presId="urn:microsoft.com/office/officeart/2005/8/layout/hProcess9"/>
    <dgm:cxn modelId="{2ABA3DFD-B10E-45D4-8F4B-8765C3A7E451}" type="presParOf" srcId="{8E4D77BA-C37E-4234-8245-1F671F391DEC}" destId="{2E8693ED-480F-46CE-854C-75BAC54CBB25}" srcOrd="1" destOrd="0" presId="urn:microsoft.com/office/officeart/2005/8/layout/hProcess9"/>
    <dgm:cxn modelId="{1EC465B3-DBF4-4CF5-ABFE-5743789104F1}" type="presParOf" srcId="{2E8693ED-480F-46CE-854C-75BAC54CBB25}" destId="{83A51606-C820-4F31-BBCE-F0EAA0ABEBF2}" srcOrd="0" destOrd="0" presId="urn:microsoft.com/office/officeart/2005/8/layout/hProcess9"/>
    <dgm:cxn modelId="{3EE6ABCB-262B-43F6-B866-AFFCEB85EF54}" type="presParOf" srcId="{2E8693ED-480F-46CE-854C-75BAC54CBB25}" destId="{420730A7-BBF4-4C08-BFB3-8F51EAF50497}" srcOrd="1" destOrd="0" presId="urn:microsoft.com/office/officeart/2005/8/layout/hProcess9"/>
    <dgm:cxn modelId="{661DD4D0-2CC3-408C-A34A-69766E45A134}" type="presParOf" srcId="{2E8693ED-480F-46CE-854C-75BAC54CBB25}" destId="{A070D9FA-3AD1-477F-9CBB-31A8FAF0CC56}" srcOrd="2" destOrd="0" presId="urn:microsoft.com/office/officeart/2005/8/layout/hProcess9"/>
    <dgm:cxn modelId="{C2BC2ECA-3456-4346-9483-086308E66637}" type="presParOf" srcId="{2E8693ED-480F-46CE-854C-75BAC54CBB25}" destId="{4B6936E7-F039-4C0D-A653-514388E99BA1}" srcOrd="3" destOrd="0" presId="urn:microsoft.com/office/officeart/2005/8/layout/hProcess9"/>
    <dgm:cxn modelId="{54A4C4C3-C062-420D-9117-9DE82B454140}" type="presParOf" srcId="{2E8693ED-480F-46CE-854C-75BAC54CBB25}" destId="{54D63E36-3BC9-4438-B419-D5FA3D22DC55}" srcOrd="4" destOrd="0" presId="urn:microsoft.com/office/officeart/2005/8/layout/hProcess9"/>
    <dgm:cxn modelId="{1BBDB6BF-24D6-4691-9C3A-3DE995910C67}" type="presParOf" srcId="{2E8693ED-480F-46CE-854C-75BAC54CBB25}" destId="{2DFD21CC-74AB-40C7-A85E-AF1D581344A2}" srcOrd="5" destOrd="0" presId="urn:microsoft.com/office/officeart/2005/8/layout/hProcess9"/>
    <dgm:cxn modelId="{189AD0B8-E642-451D-9FC9-E6A283467D7C}" type="presParOf" srcId="{2E8693ED-480F-46CE-854C-75BAC54CBB25}" destId="{43A33F54-CC79-4E29-A894-1816F576D36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7575D1-9CCC-4433-898F-283877E0E7F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8B7FB4-AD83-4AC4-82DB-D9079C6EC565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0B880E9C-325E-4F40-A160-58B7DC05B42A}" type="parTrans" cxnId="{6F006444-6B7D-455C-BD3D-294FB33E54B3}">
      <dgm:prSet/>
      <dgm:spPr/>
      <dgm:t>
        <a:bodyPr/>
        <a:lstStyle/>
        <a:p>
          <a:endParaRPr lang="en-US"/>
        </a:p>
      </dgm:t>
    </dgm:pt>
    <dgm:pt modelId="{AE5A4DA7-5A3C-450A-A46B-FA5FC319DC76}" type="sibTrans" cxnId="{6F006444-6B7D-455C-BD3D-294FB33E54B3}">
      <dgm:prSet/>
      <dgm:spPr/>
      <dgm:t>
        <a:bodyPr/>
        <a:lstStyle/>
        <a:p>
          <a:endParaRPr lang="en-US"/>
        </a:p>
      </dgm:t>
    </dgm:pt>
    <dgm:pt modelId="{358C7DD1-AD4C-4D00-8F48-1B21C920A626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b="1" dirty="0"/>
            <a:t>Methodology</a:t>
          </a:r>
        </a:p>
      </dgm:t>
    </dgm:pt>
    <dgm:pt modelId="{CE19F191-249E-49AB-AAF3-82183FADC92D}" type="parTrans" cxnId="{E4E1FE17-FAAE-402A-A8F2-2D9508BCA4F8}">
      <dgm:prSet/>
      <dgm:spPr/>
      <dgm:t>
        <a:bodyPr/>
        <a:lstStyle/>
        <a:p>
          <a:endParaRPr lang="en-US"/>
        </a:p>
      </dgm:t>
    </dgm:pt>
    <dgm:pt modelId="{6D0641E6-9327-4E60-B4C3-47768EE840E9}" type="sibTrans" cxnId="{E4E1FE17-FAAE-402A-A8F2-2D9508BCA4F8}">
      <dgm:prSet/>
      <dgm:spPr/>
      <dgm:t>
        <a:bodyPr/>
        <a:lstStyle/>
        <a:p>
          <a:endParaRPr lang="en-US"/>
        </a:p>
      </dgm:t>
    </dgm:pt>
    <dgm:pt modelId="{A71D6A35-8C4E-412C-9EDF-01674497B442}">
      <dgm:prSet phldrT="[Text]" phldr="0"/>
      <dgm:spPr>
        <a:solidFill>
          <a:schemeClr val="accent1"/>
        </a:solidFill>
      </dgm:spPr>
      <dgm:t>
        <a:bodyPr/>
        <a:lstStyle/>
        <a:p>
          <a:r>
            <a:rPr lang="en-US" dirty="0"/>
            <a:t>Monte Carlo Coupling</a:t>
          </a:r>
        </a:p>
      </dgm:t>
    </dgm:pt>
    <dgm:pt modelId="{F7425609-52A1-4754-8DBA-8E90CD21C244}" type="parTrans" cxnId="{889E2E20-6488-4981-9596-BAE51F6E4255}">
      <dgm:prSet/>
      <dgm:spPr/>
      <dgm:t>
        <a:bodyPr/>
        <a:lstStyle/>
        <a:p>
          <a:endParaRPr lang="en-US"/>
        </a:p>
      </dgm:t>
    </dgm:pt>
    <dgm:pt modelId="{896D9CD1-B04F-4910-B846-4189FF7661F0}" type="sibTrans" cxnId="{889E2E20-6488-4981-9596-BAE51F6E4255}">
      <dgm:prSet/>
      <dgm:spPr/>
      <dgm:t>
        <a:bodyPr/>
        <a:lstStyle/>
        <a:p>
          <a:endParaRPr lang="en-US"/>
        </a:p>
      </dgm:t>
    </dgm:pt>
    <dgm:pt modelId="{2E02803E-C9A3-4650-A0A6-FE93AA769508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/>
            <a:t>Interpreting Results</a:t>
          </a:r>
          <a:endParaRPr lang="en-US" dirty="0"/>
        </a:p>
      </dgm:t>
    </dgm:pt>
    <dgm:pt modelId="{F317F248-660C-4EAF-9C1F-3C14C0DA64CC}" type="parTrans" cxnId="{715EDF7F-C48C-4DD2-8FB0-33B2D511F34A}">
      <dgm:prSet/>
      <dgm:spPr/>
      <dgm:t>
        <a:bodyPr/>
        <a:lstStyle/>
        <a:p>
          <a:endParaRPr lang="en-US"/>
        </a:p>
      </dgm:t>
    </dgm:pt>
    <dgm:pt modelId="{E90AB208-AA43-4BE1-A126-F8D13E6E561B}" type="sibTrans" cxnId="{715EDF7F-C48C-4DD2-8FB0-33B2D511F34A}">
      <dgm:prSet/>
      <dgm:spPr/>
      <dgm:t>
        <a:bodyPr/>
        <a:lstStyle/>
        <a:p>
          <a:endParaRPr lang="en-US"/>
        </a:p>
      </dgm:t>
    </dgm:pt>
    <dgm:pt modelId="{8E4D77BA-C37E-4234-8245-1F671F391DEC}" type="pres">
      <dgm:prSet presAssocID="{A87575D1-9CCC-4433-898F-283877E0E7FF}" presName="CompostProcess" presStyleCnt="0">
        <dgm:presLayoutVars>
          <dgm:dir/>
          <dgm:resizeHandles val="exact"/>
        </dgm:presLayoutVars>
      </dgm:prSet>
      <dgm:spPr/>
    </dgm:pt>
    <dgm:pt modelId="{89AD4A10-A66D-4ED8-B4F3-D7492C545783}" type="pres">
      <dgm:prSet presAssocID="{A87575D1-9CCC-4433-898F-283877E0E7FF}" presName="arrow" presStyleLbl="bgShp" presStyleIdx="0" presStyleCnt="1" custLinFactNeighborX="0"/>
      <dgm:spPr/>
    </dgm:pt>
    <dgm:pt modelId="{2E8693ED-480F-46CE-854C-75BAC54CBB25}" type="pres">
      <dgm:prSet presAssocID="{A87575D1-9CCC-4433-898F-283877E0E7FF}" presName="linearProcess" presStyleCnt="0"/>
      <dgm:spPr/>
    </dgm:pt>
    <dgm:pt modelId="{83A51606-C820-4F31-BBCE-F0EAA0ABEBF2}" type="pres">
      <dgm:prSet presAssocID="{628B7FB4-AD83-4AC4-82DB-D9079C6EC565}" presName="textNode" presStyleLbl="node1" presStyleIdx="0" presStyleCnt="4">
        <dgm:presLayoutVars>
          <dgm:bulletEnabled val="1"/>
        </dgm:presLayoutVars>
      </dgm:prSet>
      <dgm:spPr/>
    </dgm:pt>
    <dgm:pt modelId="{420730A7-BBF4-4C08-BFB3-8F51EAF50497}" type="pres">
      <dgm:prSet presAssocID="{AE5A4DA7-5A3C-450A-A46B-FA5FC319DC76}" presName="sibTrans" presStyleCnt="0"/>
      <dgm:spPr/>
    </dgm:pt>
    <dgm:pt modelId="{A070D9FA-3AD1-477F-9CBB-31A8FAF0CC56}" type="pres">
      <dgm:prSet presAssocID="{358C7DD1-AD4C-4D00-8F48-1B21C920A626}" presName="textNode" presStyleLbl="node1" presStyleIdx="1" presStyleCnt="4">
        <dgm:presLayoutVars>
          <dgm:bulletEnabled val="1"/>
        </dgm:presLayoutVars>
      </dgm:prSet>
      <dgm:spPr/>
    </dgm:pt>
    <dgm:pt modelId="{4B6936E7-F039-4C0D-A653-514388E99BA1}" type="pres">
      <dgm:prSet presAssocID="{6D0641E6-9327-4E60-B4C3-47768EE840E9}" presName="sibTrans" presStyleCnt="0"/>
      <dgm:spPr/>
    </dgm:pt>
    <dgm:pt modelId="{54D63E36-3BC9-4438-B419-D5FA3D22DC55}" type="pres">
      <dgm:prSet presAssocID="{A71D6A35-8C4E-412C-9EDF-01674497B442}" presName="textNode" presStyleLbl="node1" presStyleIdx="2" presStyleCnt="4">
        <dgm:presLayoutVars>
          <dgm:bulletEnabled val="1"/>
        </dgm:presLayoutVars>
      </dgm:prSet>
      <dgm:spPr/>
    </dgm:pt>
    <dgm:pt modelId="{2DFD21CC-74AB-40C7-A85E-AF1D581344A2}" type="pres">
      <dgm:prSet presAssocID="{896D9CD1-B04F-4910-B846-4189FF7661F0}" presName="sibTrans" presStyleCnt="0"/>
      <dgm:spPr/>
    </dgm:pt>
    <dgm:pt modelId="{43A33F54-CC79-4E29-A894-1816F576D360}" type="pres">
      <dgm:prSet presAssocID="{2E02803E-C9A3-4650-A0A6-FE93AA76950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4E1FE17-FAAE-402A-A8F2-2D9508BCA4F8}" srcId="{A87575D1-9CCC-4433-898F-283877E0E7FF}" destId="{358C7DD1-AD4C-4D00-8F48-1B21C920A626}" srcOrd="1" destOrd="0" parTransId="{CE19F191-249E-49AB-AAF3-82183FADC92D}" sibTransId="{6D0641E6-9327-4E60-B4C3-47768EE840E9}"/>
    <dgm:cxn modelId="{889E2E20-6488-4981-9596-BAE51F6E4255}" srcId="{A87575D1-9CCC-4433-898F-283877E0E7FF}" destId="{A71D6A35-8C4E-412C-9EDF-01674497B442}" srcOrd="2" destOrd="0" parTransId="{F7425609-52A1-4754-8DBA-8E90CD21C244}" sibTransId="{896D9CD1-B04F-4910-B846-4189FF7661F0}"/>
    <dgm:cxn modelId="{12565F61-5C64-45F6-A3C1-65A695A26457}" type="presOf" srcId="{2E02803E-C9A3-4650-A0A6-FE93AA769508}" destId="{43A33F54-CC79-4E29-A894-1816F576D360}" srcOrd="0" destOrd="0" presId="urn:microsoft.com/office/officeart/2005/8/layout/hProcess9"/>
    <dgm:cxn modelId="{6F006444-6B7D-455C-BD3D-294FB33E54B3}" srcId="{A87575D1-9CCC-4433-898F-283877E0E7FF}" destId="{628B7FB4-AD83-4AC4-82DB-D9079C6EC565}" srcOrd="0" destOrd="0" parTransId="{0B880E9C-325E-4F40-A160-58B7DC05B42A}" sibTransId="{AE5A4DA7-5A3C-450A-A46B-FA5FC319DC76}"/>
    <dgm:cxn modelId="{8B6B0B4A-CF03-48A5-AA3C-2005234219A0}" type="presOf" srcId="{A87575D1-9CCC-4433-898F-283877E0E7FF}" destId="{8E4D77BA-C37E-4234-8245-1F671F391DEC}" srcOrd="0" destOrd="0" presId="urn:microsoft.com/office/officeart/2005/8/layout/hProcess9"/>
    <dgm:cxn modelId="{715EDF7F-C48C-4DD2-8FB0-33B2D511F34A}" srcId="{A87575D1-9CCC-4433-898F-283877E0E7FF}" destId="{2E02803E-C9A3-4650-A0A6-FE93AA769508}" srcOrd="3" destOrd="0" parTransId="{F317F248-660C-4EAF-9C1F-3C14C0DA64CC}" sibTransId="{E90AB208-AA43-4BE1-A126-F8D13E6E561B}"/>
    <dgm:cxn modelId="{134E3380-C9E2-4CC6-8246-35C14EFBA90D}" type="presOf" srcId="{628B7FB4-AD83-4AC4-82DB-D9079C6EC565}" destId="{83A51606-C820-4F31-BBCE-F0EAA0ABEBF2}" srcOrd="0" destOrd="0" presId="urn:microsoft.com/office/officeart/2005/8/layout/hProcess9"/>
    <dgm:cxn modelId="{635FDEC6-4E5A-4949-A02A-352061831F42}" type="presOf" srcId="{358C7DD1-AD4C-4D00-8F48-1B21C920A626}" destId="{A070D9FA-3AD1-477F-9CBB-31A8FAF0CC56}" srcOrd="0" destOrd="0" presId="urn:microsoft.com/office/officeart/2005/8/layout/hProcess9"/>
    <dgm:cxn modelId="{AD8FA3E4-A1AA-422F-A3B8-76E513EA8F3D}" type="presOf" srcId="{A71D6A35-8C4E-412C-9EDF-01674497B442}" destId="{54D63E36-3BC9-4438-B419-D5FA3D22DC55}" srcOrd="0" destOrd="0" presId="urn:microsoft.com/office/officeart/2005/8/layout/hProcess9"/>
    <dgm:cxn modelId="{B368AF0E-9B87-4C24-AFC5-CE69B59E9216}" type="presParOf" srcId="{8E4D77BA-C37E-4234-8245-1F671F391DEC}" destId="{89AD4A10-A66D-4ED8-B4F3-D7492C545783}" srcOrd="0" destOrd="0" presId="urn:microsoft.com/office/officeart/2005/8/layout/hProcess9"/>
    <dgm:cxn modelId="{2ABA3DFD-B10E-45D4-8F4B-8765C3A7E451}" type="presParOf" srcId="{8E4D77BA-C37E-4234-8245-1F671F391DEC}" destId="{2E8693ED-480F-46CE-854C-75BAC54CBB25}" srcOrd="1" destOrd="0" presId="urn:microsoft.com/office/officeart/2005/8/layout/hProcess9"/>
    <dgm:cxn modelId="{1EC465B3-DBF4-4CF5-ABFE-5743789104F1}" type="presParOf" srcId="{2E8693ED-480F-46CE-854C-75BAC54CBB25}" destId="{83A51606-C820-4F31-BBCE-F0EAA0ABEBF2}" srcOrd="0" destOrd="0" presId="urn:microsoft.com/office/officeart/2005/8/layout/hProcess9"/>
    <dgm:cxn modelId="{3EE6ABCB-262B-43F6-B866-AFFCEB85EF54}" type="presParOf" srcId="{2E8693ED-480F-46CE-854C-75BAC54CBB25}" destId="{420730A7-BBF4-4C08-BFB3-8F51EAF50497}" srcOrd="1" destOrd="0" presId="urn:microsoft.com/office/officeart/2005/8/layout/hProcess9"/>
    <dgm:cxn modelId="{661DD4D0-2CC3-408C-A34A-69766E45A134}" type="presParOf" srcId="{2E8693ED-480F-46CE-854C-75BAC54CBB25}" destId="{A070D9FA-3AD1-477F-9CBB-31A8FAF0CC56}" srcOrd="2" destOrd="0" presId="urn:microsoft.com/office/officeart/2005/8/layout/hProcess9"/>
    <dgm:cxn modelId="{C2BC2ECA-3456-4346-9483-086308E66637}" type="presParOf" srcId="{2E8693ED-480F-46CE-854C-75BAC54CBB25}" destId="{4B6936E7-F039-4C0D-A653-514388E99BA1}" srcOrd="3" destOrd="0" presId="urn:microsoft.com/office/officeart/2005/8/layout/hProcess9"/>
    <dgm:cxn modelId="{54A4C4C3-C062-420D-9117-9DE82B454140}" type="presParOf" srcId="{2E8693ED-480F-46CE-854C-75BAC54CBB25}" destId="{54D63E36-3BC9-4438-B419-D5FA3D22DC55}" srcOrd="4" destOrd="0" presId="urn:microsoft.com/office/officeart/2005/8/layout/hProcess9"/>
    <dgm:cxn modelId="{1BBDB6BF-24D6-4691-9C3A-3DE995910C67}" type="presParOf" srcId="{2E8693ED-480F-46CE-854C-75BAC54CBB25}" destId="{2DFD21CC-74AB-40C7-A85E-AF1D581344A2}" srcOrd="5" destOrd="0" presId="urn:microsoft.com/office/officeart/2005/8/layout/hProcess9"/>
    <dgm:cxn modelId="{189AD0B8-E642-451D-9FC9-E6A283467D7C}" type="presParOf" srcId="{2E8693ED-480F-46CE-854C-75BAC54CBB25}" destId="{43A33F54-CC79-4E29-A894-1816F576D36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7575D1-9CCC-4433-898F-283877E0E7F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8B7FB4-AD83-4AC4-82DB-D9079C6EC565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0B880E9C-325E-4F40-A160-58B7DC05B42A}" type="parTrans" cxnId="{6F006444-6B7D-455C-BD3D-294FB33E54B3}">
      <dgm:prSet/>
      <dgm:spPr/>
      <dgm:t>
        <a:bodyPr/>
        <a:lstStyle/>
        <a:p>
          <a:endParaRPr lang="en-US"/>
        </a:p>
      </dgm:t>
    </dgm:pt>
    <dgm:pt modelId="{AE5A4DA7-5A3C-450A-A46B-FA5FC319DC76}" type="sibTrans" cxnId="{6F006444-6B7D-455C-BD3D-294FB33E54B3}">
      <dgm:prSet/>
      <dgm:spPr/>
      <dgm:t>
        <a:bodyPr/>
        <a:lstStyle/>
        <a:p>
          <a:endParaRPr lang="en-US"/>
        </a:p>
      </dgm:t>
    </dgm:pt>
    <dgm:pt modelId="{358C7DD1-AD4C-4D00-8F48-1B21C920A626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b="1" dirty="0"/>
            <a:t>Methodology</a:t>
          </a:r>
        </a:p>
      </dgm:t>
    </dgm:pt>
    <dgm:pt modelId="{CE19F191-249E-49AB-AAF3-82183FADC92D}" type="parTrans" cxnId="{E4E1FE17-FAAE-402A-A8F2-2D9508BCA4F8}">
      <dgm:prSet/>
      <dgm:spPr/>
      <dgm:t>
        <a:bodyPr/>
        <a:lstStyle/>
        <a:p>
          <a:endParaRPr lang="en-US"/>
        </a:p>
      </dgm:t>
    </dgm:pt>
    <dgm:pt modelId="{6D0641E6-9327-4E60-B4C3-47768EE840E9}" type="sibTrans" cxnId="{E4E1FE17-FAAE-402A-A8F2-2D9508BCA4F8}">
      <dgm:prSet/>
      <dgm:spPr/>
      <dgm:t>
        <a:bodyPr/>
        <a:lstStyle/>
        <a:p>
          <a:endParaRPr lang="en-US"/>
        </a:p>
      </dgm:t>
    </dgm:pt>
    <dgm:pt modelId="{A71D6A35-8C4E-412C-9EDF-01674497B442}">
      <dgm:prSet phldrT="[Text]" phldr="0"/>
      <dgm:spPr>
        <a:solidFill>
          <a:schemeClr val="tx2"/>
        </a:solidFill>
      </dgm:spPr>
      <dgm:t>
        <a:bodyPr/>
        <a:lstStyle/>
        <a:p>
          <a:r>
            <a:rPr lang="en-US" dirty="0"/>
            <a:t>Monte Carlo Coupling</a:t>
          </a:r>
        </a:p>
      </dgm:t>
    </dgm:pt>
    <dgm:pt modelId="{F7425609-52A1-4754-8DBA-8E90CD21C244}" type="parTrans" cxnId="{889E2E20-6488-4981-9596-BAE51F6E4255}">
      <dgm:prSet/>
      <dgm:spPr/>
      <dgm:t>
        <a:bodyPr/>
        <a:lstStyle/>
        <a:p>
          <a:endParaRPr lang="en-US"/>
        </a:p>
      </dgm:t>
    </dgm:pt>
    <dgm:pt modelId="{896D9CD1-B04F-4910-B846-4189FF7661F0}" type="sibTrans" cxnId="{889E2E20-6488-4981-9596-BAE51F6E4255}">
      <dgm:prSet/>
      <dgm:spPr/>
      <dgm:t>
        <a:bodyPr/>
        <a:lstStyle/>
        <a:p>
          <a:endParaRPr lang="en-US"/>
        </a:p>
      </dgm:t>
    </dgm:pt>
    <dgm:pt modelId="{2E02803E-C9A3-4650-A0A6-FE93AA769508}">
      <dgm:prSet phldrT="[Text]" phldr="0"/>
      <dgm:spPr>
        <a:solidFill>
          <a:schemeClr val="accent1"/>
        </a:solidFill>
      </dgm:spPr>
      <dgm:t>
        <a:bodyPr/>
        <a:lstStyle/>
        <a:p>
          <a:r>
            <a:rPr lang="en-US"/>
            <a:t>Interpreting Results</a:t>
          </a:r>
          <a:endParaRPr lang="en-US" dirty="0"/>
        </a:p>
      </dgm:t>
    </dgm:pt>
    <dgm:pt modelId="{F317F248-660C-4EAF-9C1F-3C14C0DA64CC}" type="parTrans" cxnId="{715EDF7F-C48C-4DD2-8FB0-33B2D511F34A}">
      <dgm:prSet/>
      <dgm:spPr/>
      <dgm:t>
        <a:bodyPr/>
        <a:lstStyle/>
        <a:p>
          <a:endParaRPr lang="en-US"/>
        </a:p>
      </dgm:t>
    </dgm:pt>
    <dgm:pt modelId="{E90AB208-AA43-4BE1-A126-F8D13E6E561B}" type="sibTrans" cxnId="{715EDF7F-C48C-4DD2-8FB0-33B2D511F34A}">
      <dgm:prSet/>
      <dgm:spPr/>
      <dgm:t>
        <a:bodyPr/>
        <a:lstStyle/>
        <a:p>
          <a:endParaRPr lang="en-US"/>
        </a:p>
      </dgm:t>
    </dgm:pt>
    <dgm:pt modelId="{8E4D77BA-C37E-4234-8245-1F671F391DEC}" type="pres">
      <dgm:prSet presAssocID="{A87575D1-9CCC-4433-898F-283877E0E7FF}" presName="CompostProcess" presStyleCnt="0">
        <dgm:presLayoutVars>
          <dgm:dir/>
          <dgm:resizeHandles val="exact"/>
        </dgm:presLayoutVars>
      </dgm:prSet>
      <dgm:spPr/>
    </dgm:pt>
    <dgm:pt modelId="{89AD4A10-A66D-4ED8-B4F3-D7492C545783}" type="pres">
      <dgm:prSet presAssocID="{A87575D1-9CCC-4433-898F-283877E0E7FF}" presName="arrow" presStyleLbl="bgShp" presStyleIdx="0" presStyleCnt="1" custLinFactNeighborX="0"/>
      <dgm:spPr/>
    </dgm:pt>
    <dgm:pt modelId="{2E8693ED-480F-46CE-854C-75BAC54CBB25}" type="pres">
      <dgm:prSet presAssocID="{A87575D1-9CCC-4433-898F-283877E0E7FF}" presName="linearProcess" presStyleCnt="0"/>
      <dgm:spPr/>
    </dgm:pt>
    <dgm:pt modelId="{83A51606-C820-4F31-BBCE-F0EAA0ABEBF2}" type="pres">
      <dgm:prSet presAssocID="{628B7FB4-AD83-4AC4-82DB-D9079C6EC565}" presName="textNode" presStyleLbl="node1" presStyleIdx="0" presStyleCnt="4">
        <dgm:presLayoutVars>
          <dgm:bulletEnabled val="1"/>
        </dgm:presLayoutVars>
      </dgm:prSet>
      <dgm:spPr/>
    </dgm:pt>
    <dgm:pt modelId="{420730A7-BBF4-4C08-BFB3-8F51EAF50497}" type="pres">
      <dgm:prSet presAssocID="{AE5A4DA7-5A3C-450A-A46B-FA5FC319DC76}" presName="sibTrans" presStyleCnt="0"/>
      <dgm:spPr/>
    </dgm:pt>
    <dgm:pt modelId="{A070D9FA-3AD1-477F-9CBB-31A8FAF0CC56}" type="pres">
      <dgm:prSet presAssocID="{358C7DD1-AD4C-4D00-8F48-1B21C920A626}" presName="textNode" presStyleLbl="node1" presStyleIdx="1" presStyleCnt="4">
        <dgm:presLayoutVars>
          <dgm:bulletEnabled val="1"/>
        </dgm:presLayoutVars>
      </dgm:prSet>
      <dgm:spPr/>
    </dgm:pt>
    <dgm:pt modelId="{4B6936E7-F039-4C0D-A653-514388E99BA1}" type="pres">
      <dgm:prSet presAssocID="{6D0641E6-9327-4E60-B4C3-47768EE840E9}" presName="sibTrans" presStyleCnt="0"/>
      <dgm:spPr/>
    </dgm:pt>
    <dgm:pt modelId="{54D63E36-3BC9-4438-B419-D5FA3D22DC55}" type="pres">
      <dgm:prSet presAssocID="{A71D6A35-8C4E-412C-9EDF-01674497B442}" presName="textNode" presStyleLbl="node1" presStyleIdx="2" presStyleCnt="4">
        <dgm:presLayoutVars>
          <dgm:bulletEnabled val="1"/>
        </dgm:presLayoutVars>
      </dgm:prSet>
      <dgm:spPr/>
    </dgm:pt>
    <dgm:pt modelId="{2DFD21CC-74AB-40C7-A85E-AF1D581344A2}" type="pres">
      <dgm:prSet presAssocID="{896D9CD1-B04F-4910-B846-4189FF7661F0}" presName="sibTrans" presStyleCnt="0"/>
      <dgm:spPr/>
    </dgm:pt>
    <dgm:pt modelId="{43A33F54-CC79-4E29-A894-1816F576D360}" type="pres">
      <dgm:prSet presAssocID="{2E02803E-C9A3-4650-A0A6-FE93AA76950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4E1FE17-FAAE-402A-A8F2-2D9508BCA4F8}" srcId="{A87575D1-9CCC-4433-898F-283877E0E7FF}" destId="{358C7DD1-AD4C-4D00-8F48-1B21C920A626}" srcOrd="1" destOrd="0" parTransId="{CE19F191-249E-49AB-AAF3-82183FADC92D}" sibTransId="{6D0641E6-9327-4E60-B4C3-47768EE840E9}"/>
    <dgm:cxn modelId="{889E2E20-6488-4981-9596-BAE51F6E4255}" srcId="{A87575D1-9CCC-4433-898F-283877E0E7FF}" destId="{A71D6A35-8C4E-412C-9EDF-01674497B442}" srcOrd="2" destOrd="0" parTransId="{F7425609-52A1-4754-8DBA-8E90CD21C244}" sibTransId="{896D9CD1-B04F-4910-B846-4189FF7661F0}"/>
    <dgm:cxn modelId="{12565F61-5C64-45F6-A3C1-65A695A26457}" type="presOf" srcId="{2E02803E-C9A3-4650-A0A6-FE93AA769508}" destId="{43A33F54-CC79-4E29-A894-1816F576D360}" srcOrd="0" destOrd="0" presId="urn:microsoft.com/office/officeart/2005/8/layout/hProcess9"/>
    <dgm:cxn modelId="{6F006444-6B7D-455C-BD3D-294FB33E54B3}" srcId="{A87575D1-9CCC-4433-898F-283877E0E7FF}" destId="{628B7FB4-AD83-4AC4-82DB-D9079C6EC565}" srcOrd="0" destOrd="0" parTransId="{0B880E9C-325E-4F40-A160-58B7DC05B42A}" sibTransId="{AE5A4DA7-5A3C-450A-A46B-FA5FC319DC76}"/>
    <dgm:cxn modelId="{8B6B0B4A-CF03-48A5-AA3C-2005234219A0}" type="presOf" srcId="{A87575D1-9CCC-4433-898F-283877E0E7FF}" destId="{8E4D77BA-C37E-4234-8245-1F671F391DEC}" srcOrd="0" destOrd="0" presId="urn:microsoft.com/office/officeart/2005/8/layout/hProcess9"/>
    <dgm:cxn modelId="{715EDF7F-C48C-4DD2-8FB0-33B2D511F34A}" srcId="{A87575D1-9CCC-4433-898F-283877E0E7FF}" destId="{2E02803E-C9A3-4650-A0A6-FE93AA769508}" srcOrd="3" destOrd="0" parTransId="{F317F248-660C-4EAF-9C1F-3C14C0DA64CC}" sibTransId="{E90AB208-AA43-4BE1-A126-F8D13E6E561B}"/>
    <dgm:cxn modelId="{134E3380-C9E2-4CC6-8246-35C14EFBA90D}" type="presOf" srcId="{628B7FB4-AD83-4AC4-82DB-D9079C6EC565}" destId="{83A51606-C820-4F31-BBCE-F0EAA0ABEBF2}" srcOrd="0" destOrd="0" presId="urn:microsoft.com/office/officeart/2005/8/layout/hProcess9"/>
    <dgm:cxn modelId="{635FDEC6-4E5A-4949-A02A-352061831F42}" type="presOf" srcId="{358C7DD1-AD4C-4D00-8F48-1B21C920A626}" destId="{A070D9FA-3AD1-477F-9CBB-31A8FAF0CC56}" srcOrd="0" destOrd="0" presId="urn:microsoft.com/office/officeart/2005/8/layout/hProcess9"/>
    <dgm:cxn modelId="{AD8FA3E4-A1AA-422F-A3B8-76E513EA8F3D}" type="presOf" srcId="{A71D6A35-8C4E-412C-9EDF-01674497B442}" destId="{54D63E36-3BC9-4438-B419-D5FA3D22DC55}" srcOrd="0" destOrd="0" presId="urn:microsoft.com/office/officeart/2005/8/layout/hProcess9"/>
    <dgm:cxn modelId="{B368AF0E-9B87-4C24-AFC5-CE69B59E9216}" type="presParOf" srcId="{8E4D77BA-C37E-4234-8245-1F671F391DEC}" destId="{89AD4A10-A66D-4ED8-B4F3-D7492C545783}" srcOrd="0" destOrd="0" presId="urn:microsoft.com/office/officeart/2005/8/layout/hProcess9"/>
    <dgm:cxn modelId="{2ABA3DFD-B10E-45D4-8F4B-8765C3A7E451}" type="presParOf" srcId="{8E4D77BA-C37E-4234-8245-1F671F391DEC}" destId="{2E8693ED-480F-46CE-854C-75BAC54CBB25}" srcOrd="1" destOrd="0" presId="urn:microsoft.com/office/officeart/2005/8/layout/hProcess9"/>
    <dgm:cxn modelId="{1EC465B3-DBF4-4CF5-ABFE-5743789104F1}" type="presParOf" srcId="{2E8693ED-480F-46CE-854C-75BAC54CBB25}" destId="{83A51606-C820-4F31-BBCE-F0EAA0ABEBF2}" srcOrd="0" destOrd="0" presId="urn:microsoft.com/office/officeart/2005/8/layout/hProcess9"/>
    <dgm:cxn modelId="{3EE6ABCB-262B-43F6-B866-AFFCEB85EF54}" type="presParOf" srcId="{2E8693ED-480F-46CE-854C-75BAC54CBB25}" destId="{420730A7-BBF4-4C08-BFB3-8F51EAF50497}" srcOrd="1" destOrd="0" presId="urn:microsoft.com/office/officeart/2005/8/layout/hProcess9"/>
    <dgm:cxn modelId="{661DD4D0-2CC3-408C-A34A-69766E45A134}" type="presParOf" srcId="{2E8693ED-480F-46CE-854C-75BAC54CBB25}" destId="{A070D9FA-3AD1-477F-9CBB-31A8FAF0CC56}" srcOrd="2" destOrd="0" presId="urn:microsoft.com/office/officeart/2005/8/layout/hProcess9"/>
    <dgm:cxn modelId="{C2BC2ECA-3456-4346-9483-086308E66637}" type="presParOf" srcId="{2E8693ED-480F-46CE-854C-75BAC54CBB25}" destId="{4B6936E7-F039-4C0D-A653-514388E99BA1}" srcOrd="3" destOrd="0" presId="urn:microsoft.com/office/officeart/2005/8/layout/hProcess9"/>
    <dgm:cxn modelId="{54A4C4C3-C062-420D-9117-9DE82B454140}" type="presParOf" srcId="{2E8693ED-480F-46CE-854C-75BAC54CBB25}" destId="{54D63E36-3BC9-4438-B419-D5FA3D22DC55}" srcOrd="4" destOrd="0" presId="urn:microsoft.com/office/officeart/2005/8/layout/hProcess9"/>
    <dgm:cxn modelId="{1BBDB6BF-24D6-4691-9C3A-3DE995910C67}" type="presParOf" srcId="{2E8693ED-480F-46CE-854C-75BAC54CBB25}" destId="{2DFD21CC-74AB-40C7-A85E-AF1D581344A2}" srcOrd="5" destOrd="0" presId="urn:microsoft.com/office/officeart/2005/8/layout/hProcess9"/>
    <dgm:cxn modelId="{189AD0B8-E642-451D-9FC9-E6A283467D7C}" type="presParOf" srcId="{2E8693ED-480F-46CE-854C-75BAC54CBB25}" destId="{43A33F54-CC79-4E29-A894-1816F576D36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D4A10-A66D-4ED8-B4F3-D7492C545783}">
      <dsp:nvSpPr>
        <dsp:cNvPr id="0" name=""/>
        <dsp:cNvSpPr/>
      </dsp:nvSpPr>
      <dsp:spPr>
        <a:xfrm>
          <a:off x="609599" y="0"/>
          <a:ext cx="6908800" cy="415312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51606-C820-4F31-BBCE-F0EAA0ABEBF2}">
      <dsp:nvSpPr>
        <dsp:cNvPr id="0" name=""/>
        <dsp:cNvSpPr/>
      </dsp:nvSpPr>
      <dsp:spPr>
        <a:xfrm>
          <a:off x="4067" y="1245936"/>
          <a:ext cx="1956593" cy="1661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Motivation</a:t>
          </a:r>
        </a:p>
      </dsp:txBody>
      <dsp:txXfrm>
        <a:off x="85162" y="1327031"/>
        <a:ext cx="1794403" cy="1499058"/>
      </dsp:txXfrm>
    </dsp:sp>
    <dsp:sp modelId="{A070D9FA-3AD1-477F-9CBB-31A8FAF0CC56}">
      <dsp:nvSpPr>
        <dsp:cNvPr id="0" name=""/>
        <dsp:cNvSpPr/>
      </dsp:nvSpPr>
      <dsp:spPr>
        <a:xfrm>
          <a:off x="2058491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Methodology</a:t>
          </a:r>
        </a:p>
      </dsp:txBody>
      <dsp:txXfrm>
        <a:off x="2139586" y="1327031"/>
        <a:ext cx="1794403" cy="1499058"/>
      </dsp:txXfrm>
    </dsp:sp>
    <dsp:sp modelId="{54D63E36-3BC9-4438-B419-D5FA3D22DC55}">
      <dsp:nvSpPr>
        <dsp:cNvPr id="0" name=""/>
        <dsp:cNvSpPr/>
      </dsp:nvSpPr>
      <dsp:spPr>
        <a:xfrm>
          <a:off x="4112914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Monte Carlo Coupling</a:t>
          </a:r>
        </a:p>
      </dsp:txBody>
      <dsp:txXfrm>
        <a:off x="4194009" y="1327031"/>
        <a:ext cx="1794403" cy="1499058"/>
      </dsp:txXfrm>
    </dsp:sp>
    <dsp:sp modelId="{43A33F54-CC79-4E29-A894-1816F576D360}">
      <dsp:nvSpPr>
        <dsp:cNvPr id="0" name=""/>
        <dsp:cNvSpPr/>
      </dsp:nvSpPr>
      <dsp:spPr>
        <a:xfrm>
          <a:off x="6167338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Interpreting Results</a:t>
          </a:r>
          <a:endParaRPr lang="en-US" sz="2100" kern="1200" dirty="0"/>
        </a:p>
      </dsp:txBody>
      <dsp:txXfrm>
        <a:off x="6248433" y="1327031"/>
        <a:ext cx="1794403" cy="14990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D4A10-A66D-4ED8-B4F3-D7492C545783}">
      <dsp:nvSpPr>
        <dsp:cNvPr id="0" name=""/>
        <dsp:cNvSpPr/>
      </dsp:nvSpPr>
      <dsp:spPr>
        <a:xfrm>
          <a:off x="609599" y="0"/>
          <a:ext cx="6908800" cy="415312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51606-C820-4F31-BBCE-F0EAA0ABEBF2}">
      <dsp:nvSpPr>
        <dsp:cNvPr id="0" name=""/>
        <dsp:cNvSpPr/>
      </dsp:nvSpPr>
      <dsp:spPr>
        <a:xfrm>
          <a:off x="4067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Motivation</a:t>
          </a:r>
        </a:p>
      </dsp:txBody>
      <dsp:txXfrm>
        <a:off x="85162" y="1327031"/>
        <a:ext cx="1794403" cy="1499058"/>
      </dsp:txXfrm>
    </dsp:sp>
    <dsp:sp modelId="{A070D9FA-3AD1-477F-9CBB-31A8FAF0CC56}">
      <dsp:nvSpPr>
        <dsp:cNvPr id="0" name=""/>
        <dsp:cNvSpPr/>
      </dsp:nvSpPr>
      <dsp:spPr>
        <a:xfrm>
          <a:off x="2058491" y="1245936"/>
          <a:ext cx="1956593" cy="1661248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Methodology</a:t>
          </a:r>
        </a:p>
      </dsp:txBody>
      <dsp:txXfrm>
        <a:off x="2139586" y="1327031"/>
        <a:ext cx="1794403" cy="1499058"/>
      </dsp:txXfrm>
    </dsp:sp>
    <dsp:sp modelId="{54D63E36-3BC9-4438-B419-D5FA3D22DC55}">
      <dsp:nvSpPr>
        <dsp:cNvPr id="0" name=""/>
        <dsp:cNvSpPr/>
      </dsp:nvSpPr>
      <dsp:spPr>
        <a:xfrm>
          <a:off x="4112914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Monte Carlo Coupling</a:t>
          </a:r>
        </a:p>
      </dsp:txBody>
      <dsp:txXfrm>
        <a:off x="4194009" y="1327031"/>
        <a:ext cx="1794403" cy="1499058"/>
      </dsp:txXfrm>
    </dsp:sp>
    <dsp:sp modelId="{43A33F54-CC79-4E29-A894-1816F576D360}">
      <dsp:nvSpPr>
        <dsp:cNvPr id="0" name=""/>
        <dsp:cNvSpPr/>
      </dsp:nvSpPr>
      <dsp:spPr>
        <a:xfrm>
          <a:off x="6167338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Interpreting Results</a:t>
          </a:r>
          <a:endParaRPr lang="en-US" sz="2100" kern="1200" dirty="0"/>
        </a:p>
      </dsp:txBody>
      <dsp:txXfrm>
        <a:off x="6248433" y="1327031"/>
        <a:ext cx="1794403" cy="14990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D4A10-A66D-4ED8-B4F3-D7492C545783}">
      <dsp:nvSpPr>
        <dsp:cNvPr id="0" name=""/>
        <dsp:cNvSpPr/>
      </dsp:nvSpPr>
      <dsp:spPr>
        <a:xfrm>
          <a:off x="609599" y="0"/>
          <a:ext cx="6908800" cy="415312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51606-C820-4F31-BBCE-F0EAA0ABEBF2}">
      <dsp:nvSpPr>
        <dsp:cNvPr id="0" name=""/>
        <dsp:cNvSpPr/>
      </dsp:nvSpPr>
      <dsp:spPr>
        <a:xfrm>
          <a:off x="4067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Motivation</a:t>
          </a:r>
        </a:p>
      </dsp:txBody>
      <dsp:txXfrm>
        <a:off x="85162" y="1327031"/>
        <a:ext cx="1794403" cy="1499058"/>
      </dsp:txXfrm>
    </dsp:sp>
    <dsp:sp modelId="{A070D9FA-3AD1-477F-9CBB-31A8FAF0CC56}">
      <dsp:nvSpPr>
        <dsp:cNvPr id="0" name=""/>
        <dsp:cNvSpPr/>
      </dsp:nvSpPr>
      <dsp:spPr>
        <a:xfrm>
          <a:off x="2058491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Methodology</a:t>
          </a:r>
        </a:p>
      </dsp:txBody>
      <dsp:txXfrm>
        <a:off x="2139586" y="1327031"/>
        <a:ext cx="1794403" cy="1499058"/>
      </dsp:txXfrm>
    </dsp:sp>
    <dsp:sp modelId="{54D63E36-3BC9-4438-B419-D5FA3D22DC55}">
      <dsp:nvSpPr>
        <dsp:cNvPr id="0" name=""/>
        <dsp:cNvSpPr/>
      </dsp:nvSpPr>
      <dsp:spPr>
        <a:xfrm>
          <a:off x="4112914" y="1245936"/>
          <a:ext cx="1956593" cy="1661248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Monte Carlo Coupling</a:t>
          </a:r>
        </a:p>
      </dsp:txBody>
      <dsp:txXfrm>
        <a:off x="4194009" y="1327031"/>
        <a:ext cx="1794403" cy="1499058"/>
      </dsp:txXfrm>
    </dsp:sp>
    <dsp:sp modelId="{43A33F54-CC79-4E29-A894-1816F576D360}">
      <dsp:nvSpPr>
        <dsp:cNvPr id="0" name=""/>
        <dsp:cNvSpPr/>
      </dsp:nvSpPr>
      <dsp:spPr>
        <a:xfrm>
          <a:off x="6167338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Interpreting Results</a:t>
          </a:r>
          <a:endParaRPr lang="en-US" sz="2100" kern="1200" dirty="0"/>
        </a:p>
      </dsp:txBody>
      <dsp:txXfrm>
        <a:off x="6248433" y="1327031"/>
        <a:ext cx="1794403" cy="14990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D4A10-A66D-4ED8-B4F3-D7492C545783}">
      <dsp:nvSpPr>
        <dsp:cNvPr id="0" name=""/>
        <dsp:cNvSpPr/>
      </dsp:nvSpPr>
      <dsp:spPr>
        <a:xfrm>
          <a:off x="609599" y="0"/>
          <a:ext cx="6908800" cy="415312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51606-C820-4F31-BBCE-F0EAA0ABEBF2}">
      <dsp:nvSpPr>
        <dsp:cNvPr id="0" name=""/>
        <dsp:cNvSpPr/>
      </dsp:nvSpPr>
      <dsp:spPr>
        <a:xfrm>
          <a:off x="4067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Motivation</a:t>
          </a:r>
        </a:p>
      </dsp:txBody>
      <dsp:txXfrm>
        <a:off x="85162" y="1327031"/>
        <a:ext cx="1794403" cy="1499058"/>
      </dsp:txXfrm>
    </dsp:sp>
    <dsp:sp modelId="{A070D9FA-3AD1-477F-9CBB-31A8FAF0CC56}">
      <dsp:nvSpPr>
        <dsp:cNvPr id="0" name=""/>
        <dsp:cNvSpPr/>
      </dsp:nvSpPr>
      <dsp:spPr>
        <a:xfrm>
          <a:off x="2058491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Methodology</a:t>
          </a:r>
        </a:p>
      </dsp:txBody>
      <dsp:txXfrm>
        <a:off x="2139586" y="1327031"/>
        <a:ext cx="1794403" cy="1499058"/>
      </dsp:txXfrm>
    </dsp:sp>
    <dsp:sp modelId="{54D63E36-3BC9-4438-B419-D5FA3D22DC55}">
      <dsp:nvSpPr>
        <dsp:cNvPr id="0" name=""/>
        <dsp:cNvSpPr/>
      </dsp:nvSpPr>
      <dsp:spPr>
        <a:xfrm>
          <a:off x="4112914" y="1245936"/>
          <a:ext cx="1956593" cy="1661248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Monte Carlo Coupling</a:t>
          </a:r>
        </a:p>
      </dsp:txBody>
      <dsp:txXfrm>
        <a:off x="4194009" y="1327031"/>
        <a:ext cx="1794403" cy="1499058"/>
      </dsp:txXfrm>
    </dsp:sp>
    <dsp:sp modelId="{43A33F54-CC79-4E29-A894-1816F576D360}">
      <dsp:nvSpPr>
        <dsp:cNvPr id="0" name=""/>
        <dsp:cNvSpPr/>
      </dsp:nvSpPr>
      <dsp:spPr>
        <a:xfrm>
          <a:off x="6167338" y="1245936"/>
          <a:ext cx="1956593" cy="1661248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Interpreting Results</a:t>
          </a:r>
          <a:endParaRPr lang="en-US" sz="2100" kern="1200" dirty="0"/>
        </a:p>
      </dsp:txBody>
      <dsp:txXfrm>
        <a:off x="6248433" y="1327031"/>
        <a:ext cx="1794403" cy="1499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574712-A789-43A7-FBAC-2D24126152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05B31-9C66-2C05-0D4B-0A13359A31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E7811-47B7-3247-BD43-9CD9FA03162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9BCD9-BEF4-D08A-1D2D-ECB2496858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86FA5-5B3F-AEA4-822C-EBF38CC5B5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762EC-5F52-774C-85ED-C0495049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34CDC-939C-42B4-AB35-6498F5FC3D9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B1E5A-81D1-4464-9466-D55578AD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7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5853-F3A5-5BAD-CAED-93ADCB09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A406A-09AB-56B9-B6F9-A95F8A86C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5EA6F-EAEC-FEA5-FFBB-86BC7F656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8CA96-6B8E-DAE3-9E0B-B1F947FF4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135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3B2E4-6E5C-3E2F-70FE-EA87F7BA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405AC-FED2-9772-A864-7A90C2B73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8AB4D-1BF3-D5C4-889E-53EC70F0E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3459C-4828-44B7-83BE-6CEB9459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2823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DE8E1-11BD-DFA4-616E-24673DAA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089BB-D2A8-3946-E58A-D0501F151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24455-3611-BF49-0A01-9564C38D9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DDDC5-42BD-DA30-A003-628EA497F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282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9D4F-2CAD-91FB-2B28-39A11B33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EA3D4-27B7-06B5-BDF2-9E790AB62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54B03-28F4-27E5-00BF-AAFCBDDA5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BA2E-7158-7090-412C-4B592D9FC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529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272F-AC0C-607A-09C1-EED848E9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29A06-BC48-BD5C-8A0B-34C9D4990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FC331-135D-DEBA-352B-6D80657EF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9CD7C-3913-5280-65F1-41647A564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639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BA0E-9CEE-0CC8-A1F3-62EA9EF7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68AE3-E7BD-3015-F2E7-2AC029D7A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E7F60-BCA1-4A9C-446A-8EA11184F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B6D7E-789D-B9D0-1A20-1FAE7522A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9520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590E-AF88-EF37-EA76-1C3657C9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4C90C-8634-2945-EA25-6770E5B1A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0A010-295A-C90B-018F-8D927BD50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448A-5061-70A0-AD87-F5391A7A6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8433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55EC7-5427-289F-4929-86BD0339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7F84E-FF7A-45AB-9143-FA3441EB9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1C61B-C042-577A-080B-288A2EF81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0EB2B-B108-8E97-0CEC-A7E86971E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0688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B0EA-A1C4-D346-2627-BBD7FC08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D9714-4C9F-749A-E2E0-A1ACC0767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A99F1-9C13-FC2F-99B6-A3C7A37D3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6C38B-81E0-4D88-C356-54A6D0C4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6786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E643-9065-D13F-DB78-BACB7582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305C0-99EA-CA5E-0919-12EF9F089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641B1-9EEE-1BFC-EBF4-5B36297BD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900A-E49C-5710-27F5-B15FD21EB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5046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595C-05F9-2C1A-DB47-B48CA29B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22501-0C39-AD8E-3DC2-F931153C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4102F-082A-0E39-A9C1-5556375AC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[0:30] Motivation.</a:t>
            </a:r>
          </a:p>
          <a:p>
            <a:r>
              <a:rPr lang="en-US" dirty="0"/>
              <a:t>You may have had a tool pulled out from under a model. A license doesn't get renewed, a language version falls out of support, an add-in stops passing security review. When that happens the model doesn't just lose a feature — sometimes it can't be opened at all.</a:t>
            </a:r>
          </a:p>
          <a:p>
            <a:r>
              <a:rPr lang="en-US" dirty="0"/>
              <a:t>Excel has been on our machines for decades and is already cleared. Excel 365 added LAMBDA, which changes what you can build in it. Everything today rides on a platform that isn't going anywhere.</a:t>
            </a:r>
          </a:p>
          <a:p>
            <a:r>
              <a:rPr lang="en-US" dirty="0"/>
              <a:t>Don't oversell this. The point is availability and clearance, not that Excel is better than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769AA-9D1A-08D9-4A8A-E03D12930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5019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F30B6-1D21-6788-7A5F-81A8D2D08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BB47-30F3-74F7-EF97-81404D13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376C-4BF2-9728-485A-BABD48D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18E-B2A6-0795-0415-938A3231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FEC8-5E1A-389F-CEB8-2545597C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66E-3D17-A51C-6A23-E5FF033F6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F142-5014-6A49-BA68-F7767A20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69DD-70B0-578A-4060-D0493714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1B48F-7AAC-CF8D-E05C-9302F2E9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AEB-3DFA-E318-8620-D25BFDD9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76F1B-F30E-6571-54DF-9EE72DF0D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C31A-FAFF-F59B-C947-3C0661FC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9646-3657-CB06-E99A-4A5DA1F9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52A0-3E67-2777-2612-DE45CFF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8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01B2-D977-5C19-F4E3-F3652775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7E83-B1FC-CDD7-CE93-D5FE574D6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8198C-262F-A73B-419F-17C8634F2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07737-EFD8-819B-9EA2-9CA32BC1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6624-96DC-6237-2FCF-105CA78B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C644-B491-490F-4868-6E908A68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874-A87D-9998-FDD0-BDB56529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8EEC-DF2F-9670-4C39-FFFFE805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3F85-056D-AEC2-98DA-936AC487C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9FB38-9D26-1131-91CA-9970CDDC4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96DFF-510D-3824-657F-B1E418FC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CF79A-2E68-2C39-C0B8-737220A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EF024-9CD5-0D79-8738-EA455C7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11ED6-0C3C-8B37-4562-A2C4E769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1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CD82-C2DB-2531-0B66-D4ADCBDE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3B0BF-1459-3BF2-19D3-FD327178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C02B6-746F-A6EB-5A55-C90602E9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DCC2C-6B18-2C7F-59E2-874997A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0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D1EC4-B9D2-7B34-DFB2-365F1003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1D714-575C-81C1-B1D1-8284DF6E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A673-00B0-3A5A-ED73-67FDFC75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F888-E805-3843-04A3-D6075729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F4AE-8F5B-019B-0BA7-35DEF8CE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98E3E-3BE2-643E-7930-A715B517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020AD-025A-9F56-B61E-8A9515BE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8990-F041-CE5B-F30B-9DDEC1DD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88D-F2CA-C167-E87E-F5F38ED7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3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725-DC07-93AD-5878-302381FD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DA040-878B-3C92-A5D7-6B71C2884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F927-7BB9-E952-1808-734156A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90D4-B38D-BE5F-676D-33246137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5E6CC-7821-065B-86E5-CCE80C1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8C3A-5069-6C20-029C-446F2CCF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7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F30B6-1D21-6788-7A5F-81A8D2D08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BB47-30F3-74F7-EF97-81404D13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376C-4BF2-9728-485A-BABD48D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18E-B2A6-0795-0415-938A3231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8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FEC8-5E1A-389F-CEB8-2545597C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66E-3D17-A51C-6A23-E5FF033F6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F142-5014-6A49-BA68-F7767A20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69DD-70B0-578A-4060-D0493714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1B48F-7AAC-CF8D-E05C-9302F2E9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37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AEB-3DFA-E318-8620-D25BFDD9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76F1B-F30E-6571-54DF-9EE72DF0D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C31A-FAFF-F59B-C947-3C0661FC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9646-3657-CB06-E99A-4A5DA1F9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52A0-3E67-2777-2612-DE45CFF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71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01B2-D977-5C19-F4E3-F3652775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7E83-B1FC-CDD7-CE93-D5FE574D6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8198C-262F-A73B-419F-17C8634F2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07737-EFD8-819B-9EA2-9CA32BC1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6624-96DC-6237-2FCF-105CA78B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C644-B491-490F-4868-6E908A68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3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874-A87D-9998-FDD0-BDB56529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8EEC-DF2F-9670-4C39-FFFFE805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3F85-056D-AEC2-98DA-936AC487C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9FB38-9D26-1131-91CA-9970CDDC4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96DFF-510D-3824-657F-B1E418FC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CF79A-2E68-2C39-C0B8-737220A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EF024-9CD5-0D79-8738-EA455C7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11ED6-0C3C-8B37-4562-A2C4E769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CD82-C2DB-2531-0B66-D4ADCBDE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3B0BF-1459-3BF2-19D3-FD327178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C02B6-746F-A6EB-5A55-C90602E9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DCC2C-6B18-2C7F-59E2-874997A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D1EC4-B9D2-7B34-DFB2-365F1003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1D714-575C-81C1-B1D1-8284DF6E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A673-00B0-3A5A-ED73-67FDFC75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66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F888-E805-3843-04A3-D6075729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F4AE-8F5B-019B-0BA7-35DEF8CE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98E3E-3BE2-643E-7930-A715B517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020AD-025A-9F56-B61E-8A9515BE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8990-F041-CE5B-F30B-9DDEC1DD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88D-F2CA-C167-E87E-F5F38ED7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14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725-DC07-93AD-5878-302381FD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DA040-878B-3C92-A5D7-6B71C2884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F927-7BB9-E952-1808-734156A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90D4-B38D-BE5F-676D-33246137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5E6CC-7821-065B-86E5-CCE80C1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8C3A-5069-6C20-029C-446F2CCF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4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69" y="1041400"/>
            <a:ext cx="69419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443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69" y="606176"/>
            <a:ext cx="10969375" cy="1397285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653C87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83810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outdoor, sky, mountain, grass&#10;&#10;AI-generated content may be incorrect.">
            <a:extLst>
              <a:ext uri="{FF2B5EF4-FFF2-40B4-BE49-F238E27FC236}">
                <a16:creationId xmlns:a16="http://schemas.microsoft.com/office/drawing/2014/main" id="{DDD5B0AD-8280-0EF2-30D5-09D93B0D4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9941"/>
          <a:stretch>
            <a:fillRect/>
          </a:stretch>
        </p:blipFill>
        <p:spPr>
          <a:xfrm>
            <a:off x="-10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C49AC4-B722-32F6-DF29-80A0787BE70D}"/>
              </a:ext>
            </a:extLst>
          </p:cNvPr>
          <p:cNvSpPr/>
          <p:nvPr userDrawn="1"/>
        </p:nvSpPr>
        <p:spPr>
          <a:xfrm>
            <a:off x="0" y="1"/>
            <a:ext cx="12192001" cy="6866710"/>
          </a:xfrm>
          <a:prstGeom prst="rect">
            <a:avLst/>
          </a:prstGeom>
          <a:gradFill>
            <a:gsLst>
              <a:gs pos="31000">
                <a:schemeClr val="bg2">
                  <a:lumMod val="25000"/>
                  <a:alpha val="80000"/>
                </a:schemeClr>
              </a:gs>
              <a:gs pos="0">
                <a:schemeClr val="bg2">
                  <a:lumMod val="25000"/>
                </a:schemeClr>
              </a:gs>
              <a:gs pos="53000">
                <a:schemeClr val="bg2">
                  <a:lumMod val="25000"/>
                  <a:alpha val="60000"/>
                </a:schemeClr>
              </a:gs>
              <a:gs pos="100000">
                <a:schemeClr val="bg2">
                  <a:lumMod val="25000"/>
                  <a:alpha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pc="300">
              <a:latin typeface="Bahnschrift SemiCondensed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E2AD3-F39E-8630-13A0-1FC7E0F33160}"/>
              </a:ext>
            </a:extLst>
          </p:cNvPr>
          <p:cNvSpPr/>
          <p:nvPr userDrawn="1"/>
        </p:nvSpPr>
        <p:spPr>
          <a:xfrm>
            <a:off x="0" y="729071"/>
            <a:ext cx="12192001" cy="782973"/>
          </a:xfrm>
          <a:prstGeom prst="rect">
            <a:avLst/>
          </a:prstGeom>
          <a:gradFill>
            <a:gsLst>
              <a:gs pos="15000">
                <a:schemeClr val="bg2">
                  <a:lumMod val="25000"/>
                  <a:alpha val="80000"/>
                </a:schemeClr>
              </a:gs>
              <a:gs pos="0">
                <a:schemeClr val="bg2">
                  <a:lumMod val="25000"/>
                </a:schemeClr>
              </a:gs>
              <a:gs pos="43000">
                <a:schemeClr val="bg2">
                  <a:lumMod val="25000"/>
                  <a:alpha val="60000"/>
                </a:schemeClr>
              </a:gs>
              <a:gs pos="100000">
                <a:schemeClr val="bg2">
                  <a:lumMod val="25000"/>
                  <a:alpha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pc="300">
                <a:latin typeface="Bahnschrift SemiCondensed" panose="020B0502040204020203" pitchFamily="34" charset="0"/>
              </a:rPr>
              <a:t>		   2026 CECOP SYMPOSIUM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A0570D-28E8-4595-A2CB-70B234BA01E6}"/>
              </a:ext>
            </a:extLst>
          </p:cNvPr>
          <p:cNvCxnSpPr>
            <a:cxnSpLocks/>
          </p:cNvCxnSpPr>
          <p:nvPr userDrawn="1"/>
        </p:nvCxnSpPr>
        <p:spPr>
          <a:xfrm>
            <a:off x="-5" y="729071"/>
            <a:ext cx="12192001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74000">
                  <a:srgbClr val="C2A1E7"/>
                </a:gs>
                <a:gs pos="83000">
                  <a:srgbClr val="C2A1E7"/>
                </a:gs>
                <a:gs pos="100000">
                  <a:srgbClr val="C2A1E7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00F4CB-556C-FD76-51E2-174C24D3276F}"/>
              </a:ext>
            </a:extLst>
          </p:cNvPr>
          <p:cNvCxnSpPr>
            <a:cxnSpLocks/>
          </p:cNvCxnSpPr>
          <p:nvPr userDrawn="1"/>
        </p:nvCxnSpPr>
        <p:spPr>
          <a:xfrm>
            <a:off x="0" y="1512044"/>
            <a:ext cx="12192001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74000">
                  <a:srgbClr val="C2A1E7"/>
                </a:gs>
                <a:gs pos="83000">
                  <a:srgbClr val="C2A1E7"/>
                </a:gs>
                <a:gs pos="100000">
                  <a:srgbClr val="C2A1E7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A4D9443-517F-60D3-9476-A993783A93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83"/>
          <a:stretch>
            <a:fillRect/>
          </a:stretch>
        </p:blipFill>
        <p:spPr>
          <a:xfrm>
            <a:off x="737730" y="600491"/>
            <a:ext cx="1116469" cy="103686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EE85B32-3506-E1DF-ED86-BD9E5C507609}"/>
              </a:ext>
            </a:extLst>
          </p:cNvPr>
          <p:cNvSpPr/>
          <p:nvPr userDrawn="1"/>
        </p:nvSpPr>
        <p:spPr>
          <a:xfrm>
            <a:off x="737731" y="612481"/>
            <a:ext cx="1116468" cy="1036864"/>
          </a:xfrm>
          <a:prstGeom prst="rect">
            <a:avLst/>
          </a:prstGeom>
          <a:noFill/>
          <a:ln>
            <a:gradFill>
              <a:gsLst>
                <a:gs pos="0">
                  <a:schemeClr val="bg1"/>
                </a:gs>
                <a:gs pos="74000">
                  <a:srgbClr val="C2A1E7"/>
                </a:gs>
                <a:gs pos="83000">
                  <a:srgbClr val="C2A1E7"/>
                </a:gs>
                <a:gs pos="100000">
                  <a:srgbClr val="C2A1E7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606B6154-2C69-E907-40A7-4AB0280B6A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983" y="5919043"/>
            <a:ext cx="2912735" cy="8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196AC30-F01E-0E62-E1CF-7F21E1185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730" y="3756403"/>
            <a:ext cx="6759575" cy="8709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C2A1E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>
                <a:solidFill>
                  <a:srgbClr val="C2A1E7"/>
                </a:solidFill>
              </a:rPr>
              <a:t>Click to add presenter or presenting org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B6E3125-D518-CB81-23A1-A175E8E38F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730" y="4910980"/>
            <a:ext cx="6759575" cy="43497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C2A1E7"/>
                </a:solidFill>
              </a:defRPr>
            </a:lvl1pPr>
          </a:lstStyle>
          <a:p>
            <a:r>
              <a:rPr lang="en-US" sz="2800">
                <a:solidFill>
                  <a:srgbClr val="C2A1E7"/>
                </a:solidFill>
              </a:rPr>
              <a:t>Click to add presentation date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F7DC350-11DC-CE43-11B3-9711B9BF89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188" y="2030413"/>
            <a:ext cx="6759575" cy="144303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>
                <a:latin typeface="Figtree ExtraBold" pitchFamily="2" charset="0"/>
              </a:rPr>
              <a:t>Click to add title of presentation</a:t>
            </a:r>
          </a:p>
        </p:txBody>
      </p:sp>
      <p:pic>
        <p:nvPicPr>
          <p:cNvPr id="4" name="Picture 3" descr="Logo&#10;&#10;AI-generated content may be incorrect.">
            <a:extLst>
              <a:ext uri="{FF2B5EF4-FFF2-40B4-BE49-F238E27FC236}">
                <a16:creationId xmlns:a16="http://schemas.microsoft.com/office/drawing/2014/main" id="{A7C34A17-E09E-81F2-BD46-92E5C51421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92" y="6037288"/>
            <a:ext cx="2132134" cy="5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2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AC3C-A2F3-4508-2817-B155E8A2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034" y="5616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3EB71B-0E20-644D-98EB-4348420301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140BE-57F8-C5F5-1132-D7ABA2D29D21}"/>
              </a:ext>
            </a:extLst>
          </p:cNvPr>
          <p:cNvSpPr/>
          <p:nvPr userDrawn="1"/>
        </p:nvSpPr>
        <p:spPr>
          <a:xfrm>
            <a:off x="0" y="0"/>
            <a:ext cx="12192000" cy="1277655"/>
          </a:xfrm>
          <a:prstGeom prst="rect">
            <a:avLst/>
          </a:prstGeom>
          <a:solidFill>
            <a:srgbClr val="653C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C9C23-350F-2819-7ED2-FB9A07F2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D493-5D93-C6FB-8137-14EFBC39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462D4-7EED-F678-B986-CA5AFD070ABC}"/>
              </a:ext>
            </a:extLst>
          </p:cNvPr>
          <p:cNvSpPr/>
          <p:nvPr userDrawn="1"/>
        </p:nvSpPr>
        <p:spPr>
          <a:xfrm>
            <a:off x="7421" y="6111832"/>
            <a:ext cx="12192000" cy="758255"/>
          </a:xfrm>
          <a:prstGeom prst="rect">
            <a:avLst/>
          </a:prstGeom>
          <a:solidFill>
            <a:srgbClr val="653C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24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Montserrat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F140BE-57F8-C5F5-1132-D7ABA2D29D21}"/>
              </a:ext>
            </a:extLst>
          </p:cNvPr>
          <p:cNvSpPr/>
          <p:nvPr userDrawn="1"/>
        </p:nvSpPr>
        <p:spPr>
          <a:xfrm>
            <a:off x="0" y="0"/>
            <a:ext cx="12192000" cy="12776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AC3C-A2F3-4508-2817-B155E8A2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034" y="5616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3EB71B-0E20-644D-98EB-4348420301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C9C23-350F-2819-7ED2-FB9A07F2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D493-5D93-C6FB-8137-14EFBC39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462D4-7EED-F678-B986-CA5AFD070ABC}"/>
              </a:ext>
            </a:extLst>
          </p:cNvPr>
          <p:cNvSpPr/>
          <p:nvPr userDrawn="1"/>
        </p:nvSpPr>
        <p:spPr>
          <a:xfrm>
            <a:off x="7421" y="6111832"/>
            <a:ext cx="12192000" cy="7582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24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95ED5-62B8-36C2-AB69-88FDA7BD82A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7010400" y="-8873"/>
            <a:ext cx="5181600" cy="1295400"/>
          </a:xfrm>
          <a:prstGeom prst="rect">
            <a:avLst/>
          </a:prstGeom>
        </p:spPr>
      </p:pic>
      <p:pic>
        <p:nvPicPr>
          <p:cNvPr id="10" name="Picture 9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171E5CF7-AE7D-7185-CABF-0AB10F0BDF8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87245" y="6246341"/>
            <a:ext cx="1654629" cy="474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7DA46-1E84-3F7F-FB3B-62E8870797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0350847" y="6293735"/>
            <a:ext cx="1369791" cy="384502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0B4B526-EF33-C752-4091-14E9ECC948CF}"/>
              </a:ext>
            </a:extLst>
          </p:cNvPr>
          <p:cNvSpPr txBox="1">
            <a:spLocks/>
          </p:cNvSpPr>
          <p:nvPr userDrawn="1"/>
        </p:nvSpPr>
        <p:spPr>
          <a:xfrm>
            <a:off x="838200" y="6111831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13328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Montserrat" pitchFamily="2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Clr>
          <a:srgbClr val="C50E3D"/>
        </a:buClr>
        <a:buFont typeface="Wingdings" panose="05000000000000000000" pitchFamily="2" charset="2"/>
        <a:buChar char="«"/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BE351B-1D9E-ED4F-A0EA-931F8B085416}"/>
              </a:ext>
            </a:extLst>
          </p:cNvPr>
          <p:cNvSpPr/>
          <p:nvPr userDrawn="1"/>
        </p:nvSpPr>
        <p:spPr>
          <a:xfrm>
            <a:off x="1524" y="0"/>
            <a:ext cx="12188952" cy="5879592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close-up of a logo  AI-generated content may be incorrect.">
            <a:extLst>
              <a:ext uri="{FF2B5EF4-FFF2-40B4-BE49-F238E27FC236}">
                <a16:creationId xmlns:a16="http://schemas.microsoft.com/office/drawing/2014/main" id="{0E6D0458-8C03-2C2E-6851-612DA12D9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1922" y="6145805"/>
            <a:ext cx="2060447" cy="531400"/>
          </a:xfrm>
          <a:prstGeom prst="rect">
            <a:avLst/>
          </a:prstGeom>
        </p:spPr>
      </p:pic>
      <p:pic>
        <p:nvPicPr>
          <p:cNvPr id="3" name="Picture 2" descr="A blue and black logo  AI-generated content may be incorrect.">
            <a:extLst>
              <a:ext uri="{FF2B5EF4-FFF2-40B4-BE49-F238E27FC236}">
                <a16:creationId xmlns:a16="http://schemas.microsoft.com/office/drawing/2014/main" id="{EE77629E-41B2-22BA-A255-FB02E0872B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8000" y="6241617"/>
            <a:ext cx="1491065" cy="411534"/>
          </a:xfrm>
          <a:prstGeom prst="rect">
            <a:avLst/>
          </a:prstGeom>
        </p:spPr>
      </p:pic>
      <p:pic>
        <p:nvPicPr>
          <p:cNvPr id="7" name="Picture 6" descr="A black and white image of a person  AI-generated content may be incorrect.">
            <a:extLst>
              <a:ext uri="{FF2B5EF4-FFF2-40B4-BE49-F238E27FC236}">
                <a16:creationId xmlns:a16="http://schemas.microsoft.com/office/drawing/2014/main" id="{907FD5D8-27D9-56A5-127C-56F3851DE0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11" y="1197859"/>
            <a:ext cx="12188977" cy="44622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C63FEF-36B9-7DA6-0155-D1C4809EA843}"/>
              </a:ext>
            </a:extLst>
          </p:cNvPr>
          <p:cNvSpPr/>
          <p:nvPr userDrawn="1"/>
        </p:nvSpPr>
        <p:spPr>
          <a:xfrm>
            <a:off x="0" y="842480"/>
            <a:ext cx="6185043" cy="2774023"/>
          </a:xfrm>
          <a:prstGeom prst="rect">
            <a:avLst/>
          </a:prstGeom>
          <a:solidFill>
            <a:srgbClr val="C50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3DDE3A7-859C-9DCE-339F-7BE8FD8828D6}"/>
              </a:ext>
            </a:extLst>
          </p:cNvPr>
          <p:cNvSpPr txBox="1">
            <a:spLocks/>
          </p:cNvSpPr>
          <p:nvPr userDrawn="1"/>
        </p:nvSpPr>
        <p:spPr>
          <a:xfrm>
            <a:off x="330200" y="6038420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41430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6"/>
        </a:buBlip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logo  AI-generated content may be incorrect.">
            <a:extLst>
              <a:ext uri="{FF2B5EF4-FFF2-40B4-BE49-F238E27FC236}">
                <a16:creationId xmlns:a16="http://schemas.microsoft.com/office/drawing/2014/main" id="{0E6D0458-8C03-2C2E-6851-612DA12D93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41922" y="6145805"/>
            <a:ext cx="2060447" cy="531400"/>
          </a:xfrm>
          <a:prstGeom prst="rect">
            <a:avLst/>
          </a:prstGeom>
        </p:spPr>
      </p:pic>
      <p:pic>
        <p:nvPicPr>
          <p:cNvPr id="2" name="Picture 1" descr="A close-up of a person holding a spray object  AI-generated content may be incorrect.">
            <a:extLst>
              <a:ext uri="{FF2B5EF4-FFF2-40B4-BE49-F238E27FC236}">
                <a16:creationId xmlns:a16="http://schemas.microsoft.com/office/drawing/2014/main" id="{CE7CACEA-28E8-9745-D367-2DE90F22E6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t="9630" b="8802"/>
          <a:stretch>
            <a:fillRect/>
          </a:stretch>
        </p:blipFill>
        <p:spPr>
          <a:xfrm>
            <a:off x="1" y="1254072"/>
            <a:ext cx="12199420" cy="4945806"/>
          </a:xfrm>
          <a:prstGeom prst="rect">
            <a:avLst/>
          </a:prstGeom>
        </p:spPr>
      </p:pic>
      <p:pic>
        <p:nvPicPr>
          <p:cNvPr id="3" name="Picture 2" descr="A blue and black logo  AI-generated content may be incorrect.">
            <a:extLst>
              <a:ext uri="{FF2B5EF4-FFF2-40B4-BE49-F238E27FC236}">
                <a16:creationId xmlns:a16="http://schemas.microsoft.com/office/drawing/2014/main" id="{364BE2B4-46A3-64C3-22E8-7A41C70F7AD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28000" y="6241617"/>
            <a:ext cx="1491065" cy="411534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2E40129-09F6-3E5B-0BD7-889595C90618}"/>
              </a:ext>
            </a:extLst>
          </p:cNvPr>
          <p:cNvSpPr txBox="1">
            <a:spLocks/>
          </p:cNvSpPr>
          <p:nvPr userDrawn="1"/>
        </p:nvSpPr>
        <p:spPr>
          <a:xfrm>
            <a:off x="330200" y="6038420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19803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7"/>
        </a:buBlip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22EF28-9D6E-7AB2-9543-67030FD16D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Stephen </a:t>
            </a:r>
            <a:r>
              <a:rPr lang="en-US" dirty="0" err="1"/>
              <a:t>Colodner</a:t>
            </a:r>
            <a:endParaRPr lang="en-US" dirty="0"/>
          </a:p>
          <a:p>
            <a:r>
              <a:rPr lang="en-US" dirty="0"/>
              <a:t>Office of Program Analysis and Evaluation (PA&amp;E, NA-BA-40)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99597-4FE2-FDB0-0C9B-190814A16A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8065" y="5186283"/>
            <a:ext cx="6759575" cy="434976"/>
          </a:xfrm>
        </p:spPr>
        <p:txBody>
          <a:bodyPr/>
          <a:lstStyle/>
          <a:p>
            <a:r>
              <a:rPr lang="en-US" dirty="0"/>
              <a:t>August 12, 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19120-9E53-0CCE-CE1B-C83CAE636D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How Fast Do We Burn Money and</a:t>
            </a:r>
          </a:p>
          <a:p>
            <a:r>
              <a:rPr lang="en-US" b="1" dirty="0">
                <a:latin typeface="Montserrat" panose="00000500000000000000" pitchFamily="2" charset="0"/>
              </a:rPr>
              <a:t>When Do We Stop?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66BEC-915A-5723-26E1-D0C27AD7B785}"/>
              </a:ext>
            </a:extLst>
          </p:cNvPr>
          <p:cNvSpPr txBox="1"/>
          <p:nvPr/>
        </p:nvSpPr>
        <p:spPr>
          <a:xfrm>
            <a:off x="737730" y="2974703"/>
            <a:ext cx="855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Stochastic Phasing and Duration Uncertainty Methodology</a:t>
            </a:r>
          </a:p>
        </p:txBody>
      </p:sp>
    </p:spTree>
    <p:extLst>
      <p:ext uri="{BB962C8B-B14F-4D97-AF65-F5344CB8AC3E}">
        <p14:creationId xmlns:p14="http://schemas.microsoft.com/office/powerpoint/2010/main" val="219814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FEE4-AA81-77B8-2874-91975AE9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62DD-22DC-9C3D-29C5-B5C2F83F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21FB8-9B4A-E369-DB3C-03B9639DC7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932774"/>
              </p:ext>
            </p:extLst>
          </p:nvPr>
        </p:nvGraphicFramePr>
        <p:xfrm>
          <a:off x="1923716" y="1600200"/>
          <a:ext cx="8128000" cy="4153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125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0076-574A-9CAF-3F4C-73EC6E97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9642-7741-6860-C6C1-85A4EA2E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b="1" dirty="0">
                <a:solidFill>
                  <a:srgbClr val="FFFFFF"/>
                </a:solidFill>
              </a:rPr>
              <a:t>Motivation</a:t>
            </a:r>
            <a:endParaRPr sz="2900" b="1" dirty="0">
              <a:solidFill>
                <a:srgbClr val="FFFFFF"/>
              </a:solidFill>
            </a:endParaRPr>
          </a:p>
        </p:txBody>
      </p:sp>
      <p:sp>
        <p:nvSpPr>
          <p:cNvPr id="20" name="Eyebrow Traceability">
            <a:extLst>
              <a:ext uri="{FF2B5EF4-FFF2-40B4-BE49-F238E27FC236}">
                <a16:creationId xmlns:a16="http://schemas.microsoft.com/office/drawing/2014/main" id="{C99405FC-8D8A-ABA5-84E1-514FF77E5393}"/>
              </a:ext>
            </a:extLst>
          </p:cNvPr>
          <p:cNvSpPr txBox="1"/>
          <p:nvPr/>
        </p:nvSpPr>
        <p:spPr>
          <a:xfrm>
            <a:off x="566928" y="1550000"/>
            <a:ext cx="530064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1200" b="1" i="0" spc="150" dirty="0">
                <a:solidFill>
                  <a:srgbClr val="5EEAD4"/>
                </a:solidFill>
                <a:latin typeface="Arial"/>
              </a:rPr>
              <a:t>TRACEABILITY</a:t>
            </a:r>
          </a:p>
        </p:txBody>
      </p:sp>
      <p:sp>
        <p:nvSpPr>
          <p:cNvPr id="21" name="Headline Traceability">
            <a:extLst>
              <a:ext uri="{FF2B5EF4-FFF2-40B4-BE49-F238E27FC236}">
                <a16:creationId xmlns:a16="http://schemas.microsoft.com/office/drawing/2014/main" id="{3C0AC7AA-9349-3B08-5BF9-DE0B17D8C433}"/>
              </a:ext>
            </a:extLst>
          </p:cNvPr>
          <p:cNvSpPr txBox="1"/>
          <p:nvPr/>
        </p:nvSpPr>
        <p:spPr>
          <a:xfrm>
            <a:off x="566928" y="1810000"/>
            <a:ext cx="5300640" cy="7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200" b="1" i="0" dirty="0">
                <a:solidFill>
                  <a:srgbClr val="FFFFFF"/>
                </a:solidFill>
                <a:latin typeface="Arial"/>
              </a:rPr>
              <a:t>Static output is the bane of the estimator</a:t>
            </a:r>
          </a:p>
        </p:txBody>
      </p:sp>
      <p:sp>
        <p:nvSpPr>
          <p:cNvPr id="22" name="Subline Traceability">
            <a:extLst>
              <a:ext uri="{FF2B5EF4-FFF2-40B4-BE49-F238E27FC236}">
                <a16:creationId xmlns:a16="http://schemas.microsoft.com/office/drawing/2014/main" id="{B5A331C8-5FF0-A07A-26E4-BD7C62FA1A9E}"/>
              </a:ext>
            </a:extLst>
          </p:cNvPr>
          <p:cNvSpPr txBox="1"/>
          <p:nvPr/>
        </p:nvSpPr>
        <p:spPr>
          <a:xfrm>
            <a:off x="566928" y="2681400"/>
            <a:ext cx="530064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600" b="0" i="1" dirty="0">
                <a:solidFill>
                  <a:srgbClr val="5FD4C6"/>
                </a:solidFill>
                <a:latin typeface="Arial"/>
              </a:rPr>
              <a:t>When a formula becomes a value, the trail back to the data ends.</a:t>
            </a:r>
          </a:p>
        </p:txBody>
      </p:sp>
      <p:sp>
        <p:nvSpPr>
          <p:cNvPr id="23" name="fx badge">
            <a:extLst>
              <a:ext uri="{FF2B5EF4-FFF2-40B4-BE49-F238E27FC236}">
                <a16:creationId xmlns:a16="http://schemas.microsoft.com/office/drawing/2014/main" id="{D6728D1B-9F1E-9039-0166-851CF99E5686}"/>
              </a:ext>
            </a:extLst>
          </p:cNvPr>
          <p:cNvSpPr txBox="1"/>
          <p:nvPr/>
        </p:nvSpPr>
        <p:spPr>
          <a:xfrm>
            <a:off x="566928" y="3291400"/>
            <a:ext cx="3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0" i="1" dirty="0">
                <a:solidFill>
                  <a:srgbClr val="5FD4C6"/>
                </a:solidFill>
                <a:latin typeface="Consolas"/>
              </a:rPr>
              <a:t>fx</a:t>
            </a:r>
          </a:p>
        </p:txBody>
      </p:sp>
      <p:sp>
        <p:nvSpPr>
          <p:cNvPr id="24" name="formula text">
            <a:extLst>
              <a:ext uri="{FF2B5EF4-FFF2-40B4-BE49-F238E27FC236}">
                <a16:creationId xmlns:a16="http://schemas.microsoft.com/office/drawing/2014/main" id="{97755A97-A057-2FBD-B716-3231B36651D8}"/>
              </a:ext>
            </a:extLst>
          </p:cNvPr>
          <p:cNvSpPr txBox="1"/>
          <p:nvPr/>
        </p:nvSpPr>
        <p:spPr>
          <a:xfrm>
            <a:off x="886928" y="3291400"/>
            <a:ext cx="42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0" i="0" dirty="0">
                <a:solidFill>
                  <a:srgbClr val="DCDCDC"/>
                </a:solidFill>
                <a:latin typeface="Consolas"/>
              </a:rPr>
              <a:t>=AVERAGE(</a:t>
            </a:r>
            <a:r>
              <a:rPr sz="1150" b="1" i="0" dirty="0">
                <a:solidFill>
                  <a:srgbClr val="5FD4C6"/>
                </a:solidFill>
                <a:latin typeface="Consolas"/>
              </a:rPr>
              <a:t>Cost_Data</a:t>
            </a:r>
            <a:r>
              <a:rPr sz="1150" b="0" i="0" dirty="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25" name="arrow down">
            <a:extLst>
              <a:ext uri="{FF2B5EF4-FFF2-40B4-BE49-F238E27FC236}">
                <a16:creationId xmlns:a16="http://schemas.microsoft.com/office/drawing/2014/main" id="{4135F19F-9DB1-583D-DFF1-7EEFF4716D9B}"/>
              </a:ext>
            </a:extLst>
          </p:cNvPr>
          <p:cNvSpPr txBox="1"/>
          <p:nvPr/>
        </p:nvSpPr>
        <p:spPr>
          <a:xfrm>
            <a:off x="566928" y="3551400"/>
            <a:ext cx="3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8A8A8A"/>
                </a:solidFill>
                <a:latin typeface="Arial"/>
              </a:rPr>
              <a:t>↓</a:t>
            </a:r>
          </a:p>
        </p:txBody>
      </p:sp>
      <p:sp>
        <p:nvSpPr>
          <p:cNvPr id="26" name="static value">
            <a:extLst>
              <a:ext uri="{FF2B5EF4-FFF2-40B4-BE49-F238E27FC236}">
                <a16:creationId xmlns:a16="http://schemas.microsoft.com/office/drawing/2014/main" id="{0DA9F1F7-EB4D-70BB-6004-E36DEC567A78}"/>
              </a:ext>
            </a:extLst>
          </p:cNvPr>
          <p:cNvSpPr txBox="1"/>
          <p:nvPr/>
        </p:nvSpPr>
        <p:spPr>
          <a:xfrm>
            <a:off x="566928" y="3761400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FFFFFF"/>
                </a:solidFill>
                <a:latin typeface="Consolas"/>
              </a:rPr>
              <a:t>1,247,003</a:t>
            </a:r>
          </a:p>
        </p:txBody>
      </p:sp>
      <p:sp>
        <p:nvSpPr>
          <p:cNvPr id="27" name="value annotation">
            <a:extLst>
              <a:ext uri="{FF2B5EF4-FFF2-40B4-BE49-F238E27FC236}">
                <a16:creationId xmlns:a16="http://schemas.microsoft.com/office/drawing/2014/main" id="{BEEE7F37-9737-036E-C16A-EB5BEF06B8AD}"/>
              </a:ext>
            </a:extLst>
          </p:cNvPr>
          <p:cNvSpPr txBox="1"/>
          <p:nvPr/>
        </p:nvSpPr>
        <p:spPr>
          <a:xfrm>
            <a:off x="2166928" y="3761400"/>
            <a:ext cx="37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0" i="1" dirty="0">
                <a:solidFill>
                  <a:srgbClr val="8A8A8A"/>
                </a:solidFill>
                <a:latin typeface="Consolas"/>
              </a:rPr>
              <a:t>— the trail back to Cost_Data ends here</a:t>
            </a:r>
          </a:p>
        </p:txBody>
      </p:sp>
      <p:sp>
        <p:nvSpPr>
          <p:cNvPr id="30" name="Eyebrow Availability">
            <a:extLst>
              <a:ext uri="{FF2B5EF4-FFF2-40B4-BE49-F238E27FC236}">
                <a16:creationId xmlns:a16="http://schemas.microsoft.com/office/drawing/2014/main" id="{CC091727-0955-6283-2EA5-46DB4DF654D6}"/>
              </a:ext>
            </a:extLst>
          </p:cNvPr>
          <p:cNvSpPr txBox="1"/>
          <p:nvPr/>
        </p:nvSpPr>
        <p:spPr>
          <a:xfrm>
            <a:off x="6324432" y="1550000"/>
            <a:ext cx="530064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1200" b="1" i="0" spc="150" dirty="0">
                <a:solidFill>
                  <a:srgbClr val="5EEAD4"/>
                </a:solidFill>
                <a:latin typeface="Arial"/>
              </a:rPr>
              <a:t>AVAILABILITY</a:t>
            </a:r>
          </a:p>
        </p:txBody>
      </p:sp>
      <p:sp>
        <p:nvSpPr>
          <p:cNvPr id="31" name="Headline Availability">
            <a:extLst>
              <a:ext uri="{FF2B5EF4-FFF2-40B4-BE49-F238E27FC236}">
                <a16:creationId xmlns:a16="http://schemas.microsoft.com/office/drawing/2014/main" id="{F1B1FBE1-4B44-5693-0F97-688ED4C34077}"/>
              </a:ext>
            </a:extLst>
          </p:cNvPr>
          <p:cNvSpPr txBox="1"/>
          <p:nvPr/>
        </p:nvSpPr>
        <p:spPr>
          <a:xfrm>
            <a:off x="6324432" y="1810000"/>
            <a:ext cx="5300640" cy="5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n-US" sz="2200" b="1" i="0" dirty="0">
                <a:solidFill>
                  <a:srgbClr val="FFFFFF"/>
                </a:solidFill>
                <a:latin typeface="Arial"/>
              </a:rPr>
              <a:t>Tool Use Limitations/Handoff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Bar License lapses">
            <a:extLst>
              <a:ext uri="{FF2B5EF4-FFF2-40B4-BE49-F238E27FC236}">
                <a16:creationId xmlns:a16="http://schemas.microsoft.com/office/drawing/2014/main" id="{F30FB727-F725-0E40-18B0-551180D66449}"/>
              </a:ext>
            </a:extLst>
          </p:cNvPr>
          <p:cNvSpPr/>
          <p:nvPr/>
        </p:nvSpPr>
        <p:spPr>
          <a:xfrm>
            <a:off x="6324432" y="2460000"/>
            <a:ext cx="80000" cy="400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w License lapses">
            <a:extLst>
              <a:ext uri="{FF2B5EF4-FFF2-40B4-BE49-F238E27FC236}">
                <a16:creationId xmlns:a16="http://schemas.microsoft.com/office/drawing/2014/main" id="{5D550DA7-9D59-321B-8768-A614B02CB704}"/>
              </a:ext>
            </a:extLst>
          </p:cNvPr>
          <p:cNvSpPr txBox="1"/>
          <p:nvPr/>
        </p:nvSpPr>
        <p:spPr>
          <a:xfrm>
            <a:off x="6544432" y="2450000"/>
            <a:ext cx="508064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License lapses</a:t>
            </a:r>
          </a:p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C9CDD2"/>
                </a:solidFill>
                <a:latin typeface="Arial"/>
              </a:rPr>
              <a:t>A renewal slips and the seat goes dark.</a:t>
            </a:r>
          </a:p>
        </p:txBody>
      </p:sp>
      <p:sp>
        <p:nvSpPr>
          <p:cNvPr id="42" name="Bar Version sunsets">
            <a:extLst>
              <a:ext uri="{FF2B5EF4-FFF2-40B4-BE49-F238E27FC236}">
                <a16:creationId xmlns:a16="http://schemas.microsoft.com/office/drawing/2014/main" id="{800E19C1-4164-B136-7123-98C8D706E32B}"/>
              </a:ext>
            </a:extLst>
          </p:cNvPr>
          <p:cNvSpPr/>
          <p:nvPr/>
        </p:nvSpPr>
        <p:spPr>
          <a:xfrm>
            <a:off x="6324432" y="3060000"/>
            <a:ext cx="80000" cy="400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w Version sunsets">
            <a:extLst>
              <a:ext uri="{FF2B5EF4-FFF2-40B4-BE49-F238E27FC236}">
                <a16:creationId xmlns:a16="http://schemas.microsoft.com/office/drawing/2014/main" id="{DED9A34E-CDD2-437D-C464-EB63B7D5C104}"/>
              </a:ext>
            </a:extLst>
          </p:cNvPr>
          <p:cNvSpPr txBox="1"/>
          <p:nvPr/>
        </p:nvSpPr>
        <p:spPr>
          <a:xfrm>
            <a:off x="6544432" y="3050000"/>
            <a:ext cx="508064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Version sunsets</a:t>
            </a:r>
          </a:p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C9CDD2"/>
                </a:solidFill>
                <a:latin typeface="Arial"/>
              </a:rPr>
              <a:t>A language or package drops out of support.</a:t>
            </a:r>
          </a:p>
        </p:txBody>
      </p:sp>
      <p:sp>
        <p:nvSpPr>
          <p:cNvPr id="44" name="Bar Review tightens">
            <a:extLst>
              <a:ext uri="{FF2B5EF4-FFF2-40B4-BE49-F238E27FC236}">
                <a16:creationId xmlns:a16="http://schemas.microsoft.com/office/drawing/2014/main" id="{0218C6BD-9234-AD88-D216-8FE0C7AD94C1}"/>
              </a:ext>
            </a:extLst>
          </p:cNvPr>
          <p:cNvSpPr/>
          <p:nvPr/>
        </p:nvSpPr>
        <p:spPr>
          <a:xfrm>
            <a:off x="6324432" y="3660000"/>
            <a:ext cx="80000" cy="400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w Review tightens">
            <a:extLst>
              <a:ext uri="{FF2B5EF4-FFF2-40B4-BE49-F238E27FC236}">
                <a16:creationId xmlns:a16="http://schemas.microsoft.com/office/drawing/2014/main" id="{AEBAEA84-E688-A618-DA4E-9D39F3CA2F4D}"/>
              </a:ext>
            </a:extLst>
          </p:cNvPr>
          <p:cNvSpPr txBox="1"/>
          <p:nvPr/>
        </p:nvSpPr>
        <p:spPr>
          <a:xfrm>
            <a:off x="6544432" y="3650000"/>
            <a:ext cx="508064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Review tightens</a:t>
            </a:r>
          </a:p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C9CDD2"/>
                </a:solidFill>
                <a:latin typeface="Arial"/>
              </a:rPr>
              <a:t>An add-in stops clearing the security baseline.</a:t>
            </a: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E7FDF4CD-5308-44D0-5BAE-A9B808456D59}"/>
              </a:ext>
            </a:extLst>
          </p:cNvPr>
          <p:cNvSpPr/>
          <p:nvPr/>
        </p:nvSpPr>
        <p:spPr>
          <a:xfrm>
            <a:off x="566928" y="4430000"/>
            <a:ext cx="11058144" cy="1400000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yebrow Result">
            <a:extLst>
              <a:ext uri="{FF2B5EF4-FFF2-40B4-BE49-F238E27FC236}">
                <a16:creationId xmlns:a16="http://schemas.microsoft.com/office/drawing/2014/main" id="{9BF5DCB7-6C0B-97D0-8D64-DA3CD274DCD7}"/>
              </a:ext>
            </a:extLst>
          </p:cNvPr>
          <p:cNvSpPr txBox="1"/>
          <p:nvPr/>
        </p:nvSpPr>
        <p:spPr>
          <a:xfrm>
            <a:off x="796928" y="4580000"/>
            <a:ext cx="530064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1200" b="1" i="0" spc="150" dirty="0">
                <a:solidFill>
                  <a:srgbClr val="5EEAD4"/>
                </a:solidFill>
                <a:latin typeface="Arial"/>
              </a:rPr>
              <a:t>THE RESULT</a:t>
            </a:r>
          </a:p>
        </p:txBody>
      </p:sp>
      <p:sp>
        <p:nvSpPr>
          <p:cNvPr id="48" name="Result Headline">
            <a:extLst>
              <a:ext uri="{FF2B5EF4-FFF2-40B4-BE49-F238E27FC236}">
                <a16:creationId xmlns:a16="http://schemas.microsoft.com/office/drawing/2014/main" id="{43563A9D-1052-DAE1-FDC4-4A0885908196}"/>
              </a:ext>
            </a:extLst>
          </p:cNvPr>
          <p:cNvSpPr txBox="1"/>
          <p:nvPr/>
        </p:nvSpPr>
        <p:spPr>
          <a:xfrm>
            <a:off x="796928" y="4810000"/>
            <a:ext cx="10598144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rgbClr val="FFFFFF"/>
                </a:solidFill>
                <a:latin typeface="Arial"/>
              </a:rPr>
              <a:t>Traceable Analysis in Vanilla Excel</a:t>
            </a:r>
          </a:p>
        </p:txBody>
      </p:sp>
      <p:sp>
        <p:nvSpPr>
          <p:cNvPr id="49" name="Clause Traceability">
            <a:extLst>
              <a:ext uri="{FF2B5EF4-FFF2-40B4-BE49-F238E27FC236}">
                <a16:creationId xmlns:a16="http://schemas.microsoft.com/office/drawing/2014/main" id="{3E671A36-252C-4C52-2C4E-D5F642EE30C3}"/>
              </a:ext>
            </a:extLst>
          </p:cNvPr>
          <p:cNvSpPr txBox="1"/>
          <p:nvPr/>
        </p:nvSpPr>
        <p:spPr>
          <a:xfrm>
            <a:off x="796928" y="5250000"/>
            <a:ext cx="5199072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 dirty="0">
                <a:solidFill>
                  <a:srgbClr val="5EEAD4"/>
                </a:solidFill>
                <a:latin typeface="Arial"/>
              </a:rPr>
              <a:t>Traceability — </a:t>
            </a:r>
            <a:r>
              <a:rPr sz="1350" b="0" i="0" dirty="0">
                <a:solidFill>
                  <a:srgbClr val="CBD5E1"/>
                </a:solidFill>
                <a:latin typeface="Arial"/>
              </a:rPr>
              <a:t>every formula is a visible, clickable trail back to the source.</a:t>
            </a:r>
          </a:p>
        </p:txBody>
      </p:sp>
      <p:sp>
        <p:nvSpPr>
          <p:cNvPr id="50" name="Clause Availability">
            <a:extLst>
              <a:ext uri="{FF2B5EF4-FFF2-40B4-BE49-F238E27FC236}">
                <a16:creationId xmlns:a16="http://schemas.microsoft.com/office/drawing/2014/main" id="{57B96010-F620-0D10-1642-2BB10063443D}"/>
              </a:ext>
            </a:extLst>
          </p:cNvPr>
          <p:cNvSpPr txBox="1"/>
          <p:nvPr/>
        </p:nvSpPr>
        <p:spPr>
          <a:xfrm>
            <a:off x="6196000" y="5250000"/>
            <a:ext cx="5199072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 dirty="0">
                <a:solidFill>
                  <a:srgbClr val="5EEAD4"/>
                </a:solidFill>
                <a:latin typeface="Arial"/>
              </a:rPr>
              <a:t>Availability — </a:t>
            </a:r>
            <a:r>
              <a:rPr sz="1350" b="0" i="0" dirty="0">
                <a:solidFill>
                  <a:srgbClr val="CBD5E1"/>
                </a:solidFill>
                <a:latin typeface="Arial"/>
              </a:rPr>
              <a:t>already deployed, already cleared, on every estimator’s machine.</a:t>
            </a:r>
          </a:p>
        </p:txBody>
      </p:sp>
    </p:spTree>
    <p:extLst>
      <p:ext uri="{BB962C8B-B14F-4D97-AF65-F5344CB8AC3E}">
        <p14:creationId xmlns:p14="http://schemas.microsoft.com/office/powerpoint/2010/main" val="113299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604B-7E9E-CFC5-B858-0A4070B3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03EA-9278-CB3D-C4FE-967A72DF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b="1" dirty="0">
                <a:solidFill>
                  <a:srgbClr val="FFFFFF"/>
                </a:solidFill>
              </a:rPr>
              <a:t>The Questions Phasing Must Answer</a:t>
            </a:r>
            <a:endParaRPr sz="2900" b="1" dirty="0">
              <a:solidFill>
                <a:srgbClr val="FFFFFF"/>
              </a:solidFill>
            </a:endParaRP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ECA89FA0-F5B1-AF12-4F1C-5908DE1E28FB}"/>
              </a:ext>
            </a:extLst>
          </p:cNvPr>
          <p:cNvSpPr/>
          <p:nvPr/>
        </p:nvSpPr>
        <p:spPr>
          <a:xfrm>
            <a:off x="566928" y="1864895"/>
            <a:ext cx="11058144" cy="3772600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budget authority is needed in each fiscal year?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much year-of-execution escalation exposure do we carry?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expenditure-to-date consistent with plan, or a warning sign?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schedule slips, what happens to the outyear profile?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87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7D78-94FC-35A8-35A7-885C749D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DCEF-B164-AF58-B83D-A2250833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b="1" dirty="0">
                <a:solidFill>
                  <a:srgbClr val="FFFFFF"/>
                </a:solidFill>
              </a:rPr>
              <a:t>Current Practic</a:t>
            </a:r>
            <a:r>
              <a:rPr lang="en-US" sz="2900" dirty="0">
                <a:solidFill>
                  <a:srgbClr val="FFFFFF"/>
                </a:solidFill>
              </a:rPr>
              <a:t>e and Blind Spots</a:t>
            </a:r>
            <a:endParaRPr sz="2900" b="1" dirty="0">
              <a:solidFill>
                <a:srgbClr val="FFFFFF"/>
              </a:solidFill>
            </a:endParaRP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4A75F9AD-CE5B-F9EA-047C-E2ABB73EC0B1}"/>
              </a:ext>
            </a:extLst>
          </p:cNvPr>
          <p:cNvSpPr/>
          <p:nvPr/>
        </p:nvSpPr>
        <p:spPr>
          <a:xfrm>
            <a:off x="348916" y="1864894"/>
            <a:ext cx="11276156" cy="4066673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Common approaches: fixed percentage spreads, analogy to one “representative” project, hand-built profiles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share one assumption: the phasing shape is known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Historical data says otherwise — shape varies project to project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34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9A23-7419-FF48-0FB2-EE1AE710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DB8A-CEBB-DBC0-6C99-B1654244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b="1" dirty="0">
                <a:solidFill>
                  <a:srgbClr val="FFFFFF"/>
                </a:solidFill>
              </a:rPr>
              <a:t>Why This Is A Problem in Early Estimates</a:t>
            </a:r>
            <a:endParaRPr sz="2900" b="1" dirty="0">
              <a:solidFill>
                <a:srgbClr val="FFFFFF"/>
              </a:solidFill>
            </a:endParaRP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37FC1CF8-7A59-E121-E268-B881FDC0D3B1}"/>
              </a:ext>
            </a:extLst>
          </p:cNvPr>
          <p:cNvSpPr/>
          <p:nvPr/>
        </p:nvSpPr>
        <p:spPr>
          <a:xfrm>
            <a:off x="348916" y="1864894"/>
            <a:ext cx="11276156" cy="4066673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Three Concrete Failure Modes: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Budget formulation: deterministic profile → point annual requests → no basis for reserves phasing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Escalation: back-loaded reality vs. front-loaded plan = under-escalated estimate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Execution review: "behind plan" may be within normal shape variation — or not; no way to tell without a distribution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0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2E5C4-9467-B26D-773C-30FF5213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C669-88DE-5ECC-29CB-71877491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Coupling Problem</a:t>
            </a: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2AA63D9D-480A-1DCF-1F72-842FF15A8035}"/>
              </a:ext>
            </a:extLst>
          </p:cNvPr>
          <p:cNvSpPr/>
          <p:nvPr/>
        </p:nvSpPr>
        <p:spPr>
          <a:xfrm>
            <a:off x="348916" y="1515980"/>
            <a:ext cx="11276156" cy="4415588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Duration is uncertain (we already model this)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Phasing shape is uncertain (we usually don't)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Annual spend depends on both at once: a P50 cumulative point means different FY dollars in a 4-year execution vs. a 6-year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These uncertainties compound in the outyears — exactly where budget decisions live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200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5FA4-8D83-5F81-F4FF-B5A338B7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81DD-EC87-DB9D-392A-036FAF08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 (Preview)</a:t>
            </a: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DC03B471-AFE6-0AFE-901D-366BAA312844}"/>
              </a:ext>
            </a:extLst>
          </p:cNvPr>
          <p:cNvSpPr/>
          <p:nvPr/>
        </p:nvSpPr>
        <p:spPr>
          <a:xfrm>
            <a:off x="348916" y="1515980"/>
            <a:ext cx="11276156" cy="4415588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Fit each completed project's normalized spend curve to a 2-parameter family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the fitted parameters as a population → sample new plausible curves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Monte Carlo: draw duration + draw curve + draw cost → simulated FY-by-FY expenditure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Entire phasing model = 5 numbers per stratum (2 means, 2 SDs, 1 correlation)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49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9E8C-1073-70F8-B1BD-7D51579F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4ED2-A808-0032-3CD6-7022063F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315CFAA-506D-C066-50A2-1F85DA2B6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340578"/>
              </p:ext>
            </p:extLst>
          </p:nvPr>
        </p:nvGraphicFramePr>
        <p:xfrm>
          <a:off x="1923716" y="1600200"/>
          <a:ext cx="8128000" cy="4153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436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2EC2-FCA6-AD2E-A89F-5BBDDFD8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4CED-FAD9-22E8-9307-793A775E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Normalization</a:t>
            </a:r>
          </a:p>
        </p:txBody>
      </p:sp>
      <p:sp>
        <p:nvSpPr>
          <p:cNvPr id="46" name="Resolution Card">
            <a:extLst>
              <a:ext uri="{FF2B5EF4-FFF2-40B4-BE49-F238E27FC236}">
                <a16:creationId xmlns:a16="http://schemas.microsoft.com/office/drawing/2014/main" id="{8595AEB8-1E3C-C848-CF7E-05AD6D2AACEC}"/>
              </a:ext>
            </a:extLst>
          </p:cNvPr>
          <p:cNvSpPr/>
          <p:nvPr/>
        </p:nvSpPr>
        <p:spPr>
          <a:xfrm>
            <a:off x="348916" y="1515980"/>
            <a:ext cx="11276156" cy="4415588"/>
          </a:xfrm>
          <a:prstGeom prst="roundRect">
            <a:avLst>
              <a:gd name="adj" fmla="val 6000"/>
            </a:avLst>
          </a:prstGeom>
          <a:solidFill>
            <a:srgbClr val="42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Fit each completed project's normalized spend curve to a 2-parameter family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the fitted parameters as a population → sample new plausible curves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Monte Carlo: draw duration + draw curve + draw cost → simulated FY-by-FY expenditure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Entire phasing model = 5 numbers per stratum (2 means, 2 SDs, 1 correlation)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881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A6599-84E7-CEAA-A3F1-459B6888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9C52-5516-4AAC-FA9C-D3CEAC10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B2E00F8-1821-C2E2-457A-4DA8AAC1BC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4631814"/>
              </p:ext>
            </p:extLst>
          </p:nvPr>
        </p:nvGraphicFramePr>
        <p:xfrm>
          <a:off x="1923716" y="1600200"/>
          <a:ext cx="8128000" cy="4153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8179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E33F-AE72-CACF-B184-3B1DD63E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406-ADC5-1BAA-1D08-F1A09A3FA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30F3321-5B5C-2912-54B8-074898B33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934927"/>
              </p:ext>
            </p:extLst>
          </p:nvPr>
        </p:nvGraphicFramePr>
        <p:xfrm>
          <a:off x="1923716" y="1600200"/>
          <a:ext cx="8128000" cy="4153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649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B7AE63A09C47459AA4B25F0F3DCE93" ma:contentTypeVersion="6" ma:contentTypeDescription="Create a new document." ma:contentTypeScope="" ma:versionID="05578cdae0f4a68a492f916aaeda4260">
  <xsd:schema xmlns:xsd="http://www.w3.org/2001/XMLSchema" xmlns:xs="http://www.w3.org/2001/XMLSchema" xmlns:p="http://schemas.microsoft.com/office/2006/metadata/properties" xmlns:ns2="f6d72316-a743-4cd1-bf2d-d950ac85e3d7" xmlns:ns3="f188a965-3786-47e8-8359-d9a2fd67cd45" targetNamespace="http://schemas.microsoft.com/office/2006/metadata/properties" ma:root="true" ma:fieldsID="157e77c60646fb8aaddc5d6979227384" ns2:_="" ns3:_="">
    <xsd:import namespace="f6d72316-a743-4cd1-bf2d-d950ac85e3d7"/>
    <xsd:import namespace="f188a965-3786-47e8-8359-d9a2fd67c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72316-a743-4cd1-bf2d-d950ac85e3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8a965-3786-47e8-8359-d9a2fd67cd4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BEE2B8-ED5C-4B5D-8FC7-A251AE9BE165}">
  <ds:schemaRefs>
    <ds:schemaRef ds:uri="http://purl.org/dc/dcmitype/"/>
    <ds:schemaRef ds:uri="f188a965-3786-47e8-8359-d9a2fd67cd45"/>
    <ds:schemaRef ds:uri="f6d72316-a743-4cd1-bf2d-d950ac85e3d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670FC75-EBF8-4E09-A1BA-D503265DAF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d72316-a743-4cd1-bf2d-d950ac85e3d7"/>
    <ds:schemaRef ds:uri="f188a965-3786-47e8-8359-d9a2fd67cd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80D5D3-E0CD-44B0-8E37-C3630286E9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1784</Words>
  <Application>Microsoft Office PowerPoint</Application>
  <PresentationFormat>Widescreen</PresentationFormat>
  <Paragraphs>120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Bahnschrift SemiCondensed</vt:lpstr>
      <vt:lpstr>Consolas</vt:lpstr>
      <vt:lpstr>Figtree ExtraBold</vt:lpstr>
      <vt:lpstr>Montserrat</vt:lpstr>
      <vt:lpstr>Wingdings</vt:lpstr>
      <vt:lpstr>Office Theme</vt:lpstr>
      <vt:lpstr>1_Office Theme</vt:lpstr>
      <vt:lpstr>2_Office Theme</vt:lpstr>
      <vt:lpstr>3_Office Theme</vt:lpstr>
      <vt:lpstr>PowerPoint Presentation</vt:lpstr>
      <vt:lpstr>Roadmap</vt:lpstr>
      <vt:lpstr>Motivation</vt:lpstr>
      <vt:lpstr>The Questions Phasing Must Answer</vt:lpstr>
      <vt:lpstr>Current Practice and Blind Spots</vt:lpstr>
      <vt:lpstr>Why This Is A Problem in Early Estimates</vt:lpstr>
      <vt:lpstr>The Coupling Problem</vt:lpstr>
      <vt:lpstr>Proposed Solution (Preview)</vt:lpstr>
      <vt:lpstr>Roadmap</vt:lpstr>
      <vt:lpstr>Data and Normalization</vt:lpstr>
      <vt:lpstr>Roadmap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Valerie Levine</dc:creator>
  <cp:lastModifiedBy>Colodner, Stephen</cp:lastModifiedBy>
  <cp:revision>24</cp:revision>
  <cp:lastPrinted>2025-09-12T16:13:46Z</cp:lastPrinted>
  <dcterms:created xsi:type="dcterms:W3CDTF">2025-09-10T18:06:41Z</dcterms:created>
  <dcterms:modified xsi:type="dcterms:W3CDTF">2026-07-29T21:35:02Z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0x01010014B7AE63A09C47459AA4B25F0F3DCE93</vt:lpwstr>
  </property>
  <property fmtid="{D5CDD505-2E9C-101B-9397-08002B2CF9AE}" pid="3" name="MediaServiceImageTags">
    <vt:lpwstr/>
  </property>
</Properties>
</file>