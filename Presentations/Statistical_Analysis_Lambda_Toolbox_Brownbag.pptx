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 id="2147483672" r:id="rId6"/>
    <p:sldMasterId id="2147483684" r:id="rId7"/>
  </p:sldMasterIdLst>
  <p:notesMasterIdLst>
    <p:notesMasterId r:id="rId32"/>
  </p:notesMasterIdLst>
  <p:handoutMasterIdLst>
    <p:handoutMasterId r:id="rId33"/>
  </p:handoutMasterIdLst>
  <p:sldIdLst>
    <p:sldId id="280" r:id="rId8"/>
    <p:sldId id="257" r:id="rId9"/>
    <p:sldId id="258" r:id="rId10"/>
    <p:sldId id="259" r:id="rId11"/>
    <p:sldId id="281" r:id="rId12"/>
    <p:sldId id="265" r:id="rId13"/>
    <p:sldId id="266" r:id="rId14"/>
    <p:sldId id="267" r:id="rId15"/>
    <p:sldId id="268" r:id="rId16"/>
    <p:sldId id="269" r:id="rId17"/>
    <p:sldId id="270" r:id="rId18"/>
    <p:sldId id="272" r:id="rId19"/>
    <p:sldId id="282" r:id="rId20"/>
    <p:sldId id="283" r:id="rId21"/>
    <p:sldId id="274" r:id="rId22"/>
    <p:sldId id="260" r:id="rId23"/>
    <p:sldId id="261" r:id="rId24"/>
    <p:sldId id="262" r:id="rId25"/>
    <p:sldId id="263" r:id="rId26"/>
    <p:sldId id="264" r:id="rId27"/>
    <p:sldId id="273" r:id="rId28"/>
    <p:sldId id="276" r:id="rId29"/>
    <p:sldId id="277" r:id="rId30"/>
    <p:sldId id="27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42"/>
    <a:srgbClr val="C50E3D"/>
    <a:srgbClr val="081F3F"/>
    <a:srgbClr val="ED1846"/>
    <a:srgbClr val="252849"/>
    <a:srgbClr val="081E40"/>
    <a:srgbClr val="002164"/>
    <a:srgbClr val="004E7F"/>
    <a:srgbClr val="C32E4C"/>
    <a:srgbClr val="DB0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13"/>
    <p:restoredTop sz="88257" autoAdjust="0"/>
  </p:normalViewPr>
  <p:slideViewPr>
    <p:cSldViewPr snapToGrid="0">
      <p:cViewPr varScale="1">
        <p:scale>
          <a:sx n="97" d="100"/>
          <a:sy n="97" d="100"/>
        </p:scale>
        <p:origin x="1098" y="9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40" d="100"/>
          <a:sy n="40" d="100"/>
        </p:scale>
        <p:origin x="243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resid</c:v>
                </c:pt>
              </c:strCache>
            </c:strRef>
          </c:tx>
          <c:spPr>
            <a:ln w="47625">
              <a:noFill/>
            </a:ln>
          </c:spPr>
          <c:marker>
            <c:symbol val="circle"/>
            <c:size val="4"/>
            <c:spPr>
              <a:solidFill>
                <a:srgbClr val="0D9488"/>
              </a:solidFill>
              <a:ln>
                <a:noFill/>
              </a:ln>
            </c:spPr>
          </c:marker>
          <c:xVal>
            <c:numRef>
              <c:f>Sheet1!$A$2:$A$237</c:f>
              <c:numCache>
                <c:formatCode>General</c:formatCode>
                <c:ptCount val="236"/>
                <c:pt idx="0">
                  <c:v>63.24</c:v>
                </c:pt>
                <c:pt idx="1">
                  <c:v>60.43</c:v>
                </c:pt>
                <c:pt idx="2">
                  <c:v>55.96</c:v>
                </c:pt>
                <c:pt idx="3">
                  <c:v>73.239999999999995</c:v>
                </c:pt>
                <c:pt idx="4">
                  <c:v>72.599999999999994</c:v>
                </c:pt>
                <c:pt idx="5">
                  <c:v>74.239999999999995</c:v>
                </c:pt>
                <c:pt idx="6">
                  <c:v>62.34</c:v>
                </c:pt>
                <c:pt idx="7">
                  <c:v>57.49</c:v>
                </c:pt>
                <c:pt idx="8">
                  <c:v>77.989999999999995</c:v>
                </c:pt>
                <c:pt idx="9">
                  <c:v>75.28</c:v>
                </c:pt>
                <c:pt idx="10">
                  <c:v>70.66</c:v>
                </c:pt>
                <c:pt idx="11">
                  <c:v>70.67</c:v>
                </c:pt>
                <c:pt idx="12">
                  <c:v>85.7</c:v>
                </c:pt>
                <c:pt idx="13">
                  <c:v>84.03</c:v>
                </c:pt>
                <c:pt idx="14">
                  <c:v>79.989999999999995</c:v>
                </c:pt>
                <c:pt idx="15">
                  <c:v>76.069999999999993</c:v>
                </c:pt>
                <c:pt idx="16">
                  <c:v>71.67</c:v>
                </c:pt>
                <c:pt idx="17">
                  <c:v>69.239999999999995</c:v>
                </c:pt>
                <c:pt idx="18">
                  <c:v>64.680000000000007</c:v>
                </c:pt>
                <c:pt idx="19">
                  <c:v>78.19</c:v>
                </c:pt>
                <c:pt idx="20">
                  <c:v>72.2</c:v>
                </c:pt>
                <c:pt idx="21">
                  <c:v>81.510000000000005</c:v>
                </c:pt>
                <c:pt idx="22">
                  <c:v>76.48</c:v>
                </c:pt>
                <c:pt idx="23">
                  <c:v>81.8</c:v>
                </c:pt>
                <c:pt idx="24">
                  <c:v>71.239999999999995</c:v>
                </c:pt>
                <c:pt idx="25">
                  <c:v>72.94</c:v>
                </c:pt>
                <c:pt idx="26">
                  <c:v>61.77</c:v>
                </c:pt>
                <c:pt idx="27">
                  <c:v>59.71</c:v>
                </c:pt>
                <c:pt idx="28">
                  <c:v>60.28</c:v>
                </c:pt>
                <c:pt idx="29">
                  <c:v>60.86</c:v>
                </c:pt>
                <c:pt idx="30">
                  <c:v>72.41</c:v>
                </c:pt>
                <c:pt idx="31">
                  <c:v>68.239999999999995</c:v>
                </c:pt>
                <c:pt idx="32">
                  <c:v>57.08</c:v>
                </c:pt>
                <c:pt idx="33">
                  <c:v>75.040000000000006</c:v>
                </c:pt>
                <c:pt idx="34">
                  <c:v>72.72</c:v>
                </c:pt>
                <c:pt idx="35">
                  <c:v>72.099999999999994</c:v>
                </c:pt>
                <c:pt idx="36">
                  <c:v>73.59</c:v>
                </c:pt>
                <c:pt idx="37">
                  <c:v>74.61</c:v>
                </c:pt>
                <c:pt idx="38">
                  <c:v>58.94</c:v>
                </c:pt>
                <c:pt idx="39">
                  <c:v>61.47</c:v>
                </c:pt>
                <c:pt idx="40">
                  <c:v>52.83</c:v>
                </c:pt>
                <c:pt idx="41">
                  <c:v>70.3</c:v>
                </c:pt>
                <c:pt idx="42">
                  <c:v>67.45</c:v>
                </c:pt>
                <c:pt idx="43">
                  <c:v>67.97</c:v>
                </c:pt>
                <c:pt idx="44">
                  <c:v>57.21</c:v>
                </c:pt>
                <c:pt idx="45">
                  <c:v>83.69</c:v>
                </c:pt>
                <c:pt idx="46">
                  <c:v>81.99</c:v>
                </c:pt>
                <c:pt idx="47">
                  <c:v>51.83</c:v>
                </c:pt>
                <c:pt idx="48">
                  <c:v>59.76</c:v>
                </c:pt>
                <c:pt idx="49">
                  <c:v>77.06</c:v>
                </c:pt>
                <c:pt idx="50">
                  <c:v>72.12</c:v>
                </c:pt>
                <c:pt idx="51">
                  <c:v>70.709999999999994</c:v>
                </c:pt>
                <c:pt idx="52">
                  <c:v>73.680000000000007</c:v>
                </c:pt>
                <c:pt idx="53">
                  <c:v>68.959999999999994</c:v>
                </c:pt>
                <c:pt idx="54">
                  <c:v>65.77</c:v>
                </c:pt>
                <c:pt idx="55">
                  <c:v>63.53</c:v>
                </c:pt>
                <c:pt idx="56">
                  <c:v>75.78</c:v>
                </c:pt>
                <c:pt idx="57">
                  <c:v>72.45</c:v>
                </c:pt>
                <c:pt idx="58">
                  <c:v>78.27</c:v>
                </c:pt>
                <c:pt idx="59">
                  <c:v>76.7</c:v>
                </c:pt>
                <c:pt idx="60">
                  <c:v>76.11</c:v>
                </c:pt>
                <c:pt idx="61">
                  <c:v>60.27</c:v>
                </c:pt>
                <c:pt idx="62">
                  <c:v>56.67</c:v>
                </c:pt>
                <c:pt idx="63">
                  <c:v>70.900000000000006</c:v>
                </c:pt>
                <c:pt idx="64">
                  <c:v>68.790000000000006</c:v>
                </c:pt>
                <c:pt idx="65">
                  <c:v>71.34</c:v>
                </c:pt>
                <c:pt idx="66">
                  <c:v>71.34</c:v>
                </c:pt>
                <c:pt idx="67">
                  <c:v>71.64</c:v>
                </c:pt>
                <c:pt idx="68">
                  <c:v>73.22</c:v>
                </c:pt>
                <c:pt idx="69">
                  <c:v>57.63</c:v>
                </c:pt>
                <c:pt idx="70">
                  <c:v>50.04</c:v>
                </c:pt>
                <c:pt idx="71">
                  <c:v>75.510000000000005</c:v>
                </c:pt>
                <c:pt idx="72">
                  <c:v>60.7</c:v>
                </c:pt>
                <c:pt idx="73">
                  <c:v>74.739999999999995</c:v>
                </c:pt>
                <c:pt idx="74">
                  <c:v>72.59</c:v>
                </c:pt>
                <c:pt idx="75">
                  <c:v>82.03</c:v>
                </c:pt>
                <c:pt idx="76">
                  <c:v>77.900000000000006</c:v>
                </c:pt>
                <c:pt idx="77">
                  <c:v>80.66</c:v>
                </c:pt>
                <c:pt idx="78">
                  <c:v>63.09</c:v>
                </c:pt>
                <c:pt idx="79">
                  <c:v>73.58</c:v>
                </c:pt>
                <c:pt idx="80">
                  <c:v>71.63</c:v>
                </c:pt>
                <c:pt idx="81">
                  <c:v>77.599999999999994</c:v>
                </c:pt>
                <c:pt idx="82">
                  <c:v>81.22</c:v>
                </c:pt>
                <c:pt idx="83">
                  <c:v>65.63</c:v>
                </c:pt>
                <c:pt idx="84">
                  <c:v>61.57</c:v>
                </c:pt>
                <c:pt idx="85">
                  <c:v>80.59</c:v>
                </c:pt>
                <c:pt idx="86">
                  <c:v>76.989999999999995</c:v>
                </c:pt>
                <c:pt idx="87">
                  <c:v>68.900000000000006</c:v>
                </c:pt>
                <c:pt idx="88">
                  <c:v>69.64</c:v>
                </c:pt>
                <c:pt idx="89">
                  <c:v>57.87</c:v>
                </c:pt>
                <c:pt idx="90">
                  <c:v>59.39</c:v>
                </c:pt>
                <c:pt idx="91">
                  <c:v>67.680000000000007</c:v>
                </c:pt>
                <c:pt idx="92">
                  <c:v>66.05</c:v>
                </c:pt>
                <c:pt idx="93">
                  <c:v>70.47</c:v>
                </c:pt>
                <c:pt idx="94">
                  <c:v>68.05</c:v>
                </c:pt>
                <c:pt idx="95">
                  <c:v>67.069999999999993</c:v>
                </c:pt>
                <c:pt idx="96">
                  <c:v>60.14</c:v>
                </c:pt>
                <c:pt idx="97">
                  <c:v>68.84</c:v>
                </c:pt>
                <c:pt idx="98">
                  <c:v>64.64</c:v>
                </c:pt>
                <c:pt idx="99">
                  <c:v>69.47</c:v>
                </c:pt>
                <c:pt idx="100">
                  <c:v>81.62</c:v>
                </c:pt>
                <c:pt idx="101">
                  <c:v>82.19</c:v>
                </c:pt>
                <c:pt idx="102">
                  <c:v>77.02</c:v>
                </c:pt>
                <c:pt idx="103">
                  <c:v>79.83</c:v>
                </c:pt>
                <c:pt idx="104">
                  <c:v>78.78</c:v>
                </c:pt>
                <c:pt idx="105">
                  <c:v>73</c:v>
                </c:pt>
                <c:pt idx="106">
                  <c:v>71.760000000000005</c:v>
                </c:pt>
                <c:pt idx="107">
                  <c:v>74.45</c:v>
                </c:pt>
                <c:pt idx="108">
                  <c:v>74.77</c:v>
                </c:pt>
                <c:pt idx="109">
                  <c:v>77.11</c:v>
                </c:pt>
                <c:pt idx="110">
                  <c:v>71.11</c:v>
                </c:pt>
                <c:pt idx="111">
                  <c:v>65.099999999999994</c:v>
                </c:pt>
                <c:pt idx="112">
                  <c:v>58.27</c:v>
                </c:pt>
                <c:pt idx="113">
                  <c:v>73.77</c:v>
                </c:pt>
                <c:pt idx="114">
                  <c:v>70.02</c:v>
                </c:pt>
                <c:pt idx="115">
                  <c:v>75.89</c:v>
                </c:pt>
                <c:pt idx="116">
                  <c:v>74.94</c:v>
                </c:pt>
                <c:pt idx="117">
                  <c:v>72.13</c:v>
                </c:pt>
                <c:pt idx="118">
                  <c:v>74.400000000000006</c:v>
                </c:pt>
                <c:pt idx="119">
                  <c:v>67.81</c:v>
                </c:pt>
                <c:pt idx="120">
                  <c:v>51.93</c:v>
                </c:pt>
                <c:pt idx="121">
                  <c:v>60.69</c:v>
                </c:pt>
                <c:pt idx="122">
                  <c:v>77.09</c:v>
                </c:pt>
                <c:pt idx="123">
                  <c:v>79.099999999999994</c:v>
                </c:pt>
                <c:pt idx="124">
                  <c:v>76.290000000000006</c:v>
                </c:pt>
                <c:pt idx="125">
                  <c:v>85.84</c:v>
                </c:pt>
                <c:pt idx="126">
                  <c:v>78.599999999999994</c:v>
                </c:pt>
                <c:pt idx="127">
                  <c:v>63.76</c:v>
                </c:pt>
                <c:pt idx="128">
                  <c:v>61.46</c:v>
                </c:pt>
                <c:pt idx="129">
                  <c:v>50.63</c:v>
                </c:pt>
                <c:pt idx="130">
                  <c:v>73.87</c:v>
                </c:pt>
                <c:pt idx="131">
                  <c:v>72.16</c:v>
                </c:pt>
                <c:pt idx="132">
                  <c:v>70.66</c:v>
                </c:pt>
                <c:pt idx="133">
                  <c:v>70.959999999999994</c:v>
                </c:pt>
                <c:pt idx="134">
                  <c:v>69.25</c:v>
                </c:pt>
                <c:pt idx="135">
                  <c:v>58.83</c:v>
                </c:pt>
                <c:pt idx="136">
                  <c:v>78.349999999999994</c:v>
                </c:pt>
                <c:pt idx="137">
                  <c:v>77.53</c:v>
                </c:pt>
                <c:pt idx="138">
                  <c:v>64.459999999999994</c:v>
                </c:pt>
                <c:pt idx="139">
                  <c:v>61.63</c:v>
                </c:pt>
                <c:pt idx="140">
                  <c:v>72.33</c:v>
                </c:pt>
                <c:pt idx="141">
                  <c:v>69.739999999999995</c:v>
                </c:pt>
                <c:pt idx="142">
                  <c:v>75.489999999999995</c:v>
                </c:pt>
                <c:pt idx="143">
                  <c:v>71.67</c:v>
                </c:pt>
                <c:pt idx="144">
                  <c:v>75.510000000000005</c:v>
                </c:pt>
                <c:pt idx="145">
                  <c:v>65.87</c:v>
                </c:pt>
                <c:pt idx="146">
                  <c:v>76.55</c:v>
                </c:pt>
                <c:pt idx="147">
                  <c:v>72.56</c:v>
                </c:pt>
                <c:pt idx="148">
                  <c:v>69.03</c:v>
                </c:pt>
                <c:pt idx="149">
                  <c:v>59.05</c:v>
                </c:pt>
                <c:pt idx="150">
                  <c:v>51.93</c:v>
                </c:pt>
                <c:pt idx="151">
                  <c:v>68.14</c:v>
                </c:pt>
                <c:pt idx="152">
                  <c:v>62.54</c:v>
                </c:pt>
                <c:pt idx="153">
                  <c:v>67.08</c:v>
                </c:pt>
                <c:pt idx="154">
                  <c:v>66.709999999999994</c:v>
                </c:pt>
                <c:pt idx="155">
                  <c:v>67.48</c:v>
                </c:pt>
                <c:pt idx="156">
                  <c:v>70.77</c:v>
                </c:pt>
                <c:pt idx="157">
                  <c:v>68.5</c:v>
                </c:pt>
                <c:pt idx="158">
                  <c:v>58.39</c:v>
                </c:pt>
                <c:pt idx="159">
                  <c:v>57.21</c:v>
                </c:pt>
                <c:pt idx="160">
                  <c:v>63.11</c:v>
                </c:pt>
                <c:pt idx="161">
                  <c:v>60.72</c:v>
                </c:pt>
                <c:pt idx="162">
                  <c:v>73.349999999999994</c:v>
                </c:pt>
                <c:pt idx="163">
                  <c:v>73.5</c:v>
                </c:pt>
                <c:pt idx="164">
                  <c:v>64.28</c:v>
                </c:pt>
                <c:pt idx="165">
                  <c:v>61.81</c:v>
                </c:pt>
                <c:pt idx="166">
                  <c:v>72.459999999999994</c:v>
                </c:pt>
                <c:pt idx="167">
                  <c:v>70.77</c:v>
                </c:pt>
                <c:pt idx="168">
                  <c:v>73.88</c:v>
                </c:pt>
                <c:pt idx="169">
                  <c:v>71.69</c:v>
                </c:pt>
                <c:pt idx="170">
                  <c:v>67.81</c:v>
                </c:pt>
                <c:pt idx="171">
                  <c:v>67.819999999999993</c:v>
                </c:pt>
                <c:pt idx="172">
                  <c:v>76.3</c:v>
                </c:pt>
                <c:pt idx="173">
                  <c:v>76.010000000000005</c:v>
                </c:pt>
                <c:pt idx="174">
                  <c:v>78.12</c:v>
                </c:pt>
                <c:pt idx="175">
                  <c:v>78.88</c:v>
                </c:pt>
                <c:pt idx="176">
                  <c:v>75.41</c:v>
                </c:pt>
                <c:pt idx="177">
                  <c:v>73.61</c:v>
                </c:pt>
                <c:pt idx="178">
                  <c:v>74.540000000000006</c:v>
                </c:pt>
                <c:pt idx="179">
                  <c:v>70.8</c:v>
                </c:pt>
                <c:pt idx="180">
                  <c:v>69.19</c:v>
                </c:pt>
                <c:pt idx="181">
                  <c:v>60.78</c:v>
                </c:pt>
                <c:pt idx="182">
                  <c:v>74.17</c:v>
                </c:pt>
                <c:pt idx="183">
                  <c:v>69.12</c:v>
                </c:pt>
                <c:pt idx="184">
                  <c:v>67.459999999999994</c:v>
                </c:pt>
                <c:pt idx="185">
                  <c:v>65.75</c:v>
                </c:pt>
                <c:pt idx="186">
                  <c:v>67.22</c:v>
                </c:pt>
                <c:pt idx="187">
                  <c:v>60.25</c:v>
                </c:pt>
                <c:pt idx="188">
                  <c:v>74.28</c:v>
                </c:pt>
                <c:pt idx="189">
                  <c:v>73.58</c:v>
                </c:pt>
                <c:pt idx="190">
                  <c:v>70.03</c:v>
                </c:pt>
                <c:pt idx="191">
                  <c:v>60.04</c:v>
                </c:pt>
                <c:pt idx="192">
                  <c:v>62.42</c:v>
                </c:pt>
                <c:pt idx="193">
                  <c:v>66.150000000000006</c:v>
                </c:pt>
                <c:pt idx="194">
                  <c:v>62.55</c:v>
                </c:pt>
                <c:pt idx="195">
                  <c:v>57.15</c:v>
                </c:pt>
                <c:pt idx="196">
                  <c:v>51</c:v>
                </c:pt>
                <c:pt idx="197">
                  <c:v>79.34</c:v>
                </c:pt>
                <c:pt idx="198">
                  <c:v>78.790000000000006</c:v>
                </c:pt>
                <c:pt idx="199">
                  <c:v>71.56</c:v>
                </c:pt>
                <c:pt idx="200">
                  <c:v>70.28</c:v>
                </c:pt>
                <c:pt idx="201">
                  <c:v>70.81</c:v>
                </c:pt>
                <c:pt idx="202">
                  <c:v>58.37</c:v>
                </c:pt>
                <c:pt idx="203">
                  <c:v>46.22</c:v>
                </c:pt>
                <c:pt idx="204">
                  <c:v>80.12</c:v>
                </c:pt>
                <c:pt idx="205">
                  <c:v>69.010000000000005</c:v>
                </c:pt>
                <c:pt idx="206">
                  <c:v>69.41</c:v>
                </c:pt>
                <c:pt idx="207">
                  <c:v>67.680000000000007</c:v>
                </c:pt>
                <c:pt idx="208">
                  <c:v>71.34</c:v>
                </c:pt>
                <c:pt idx="209">
                  <c:v>68.08</c:v>
                </c:pt>
                <c:pt idx="210">
                  <c:v>68.680000000000007</c:v>
                </c:pt>
                <c:pt idx="211">
                  <c:v>68.37</c:v>
                </c:pt>
                <c:pt idx="212">
                  <c:v>77.2</c:v>
                </c:pt>
                <c:pt idx="213">
                  <c:v>73.760000000000005</c:v>
                </c:pt>
                <c:pt idx="214">
                  <c:v>72.3</c:v>
                </c:pt>
                <c:pt idx="215">
                  <c:v>71.16</c:v>
                </c:pt>
                <c:pt idx="216">
                  <c:v>77.33</c:v>
                </c:pt>
                <c:pt idx="217">
                  <c:v>75.58</c:v>
                </c:pt>
                <c:pt idx="218">
                  <c:v>75.53</c:v>
                </c:pt>
                <c:pt idx="219">
                  <c:v>69.97</c:v>
                </c:pt>
                <c:pt idx="220">
                  <c:v>68.569999999999993</c:v>
                </c:pt>
                <c:pt idx="221">
                  <c:v>60.8</c:v>
                </c:pt>
                <c:pt idx="222">
                  <c:v>60.8</c:v>
                </c:pt>
                <c:pt idx="223">
                  <c:v>55.78</c:v>
                </c:pt>
                <c:pt idx="224">
                  <c:v>75.19</c:v>
                </c:pt>
                <c:pt idx="225">
                  <c:v>71.63</c:v>
                </c:pt>
                <c:pt idx="226">
                  <c:v>76.89</c:v>
                </c:pt>
                <c:pt idx="227">
                  <c:v>76.38</c:v>
                </c:pt>
                <c:pt idx="228">
                  <c:v>71.010000000000005</c:v>
                </c:pt>
                <c:pt idx="229">
                  <c:v>69.59</c:v>
                </c:pt>
                <c:pt idx="230">
                  <c:v>67.75</c:v>
                </c:pt>
                <c:pt idx="231">
                  <c:v>62.33</c:v>
                </c:pt>
                <c:pt idx="232">
                  <c:v>63.85</c:v>
                </c:pt>
                <c:pt idx="233">
                  <c:v>53.11</c:v>
                </c:pt>
                <c:pt idx="234">
                  <c:v>49.39</c:v>
                </c:pt>
                <c:pt idx="235">
                  <c:v>49.34</c:v>
                </c:pt>
              </c:numCache>
            </c:numRef>
          </c:xVal>
          <c:yVal>
            <c:numRef>
              <c:f>Sheet1!$B$2:$B$237</c:f>
              <c:numCache>
                <c:formatCode>General</c:formatCode>
                <c:ptCount val="236"/>
                <c:pt idx="0">
                  <c:v>-3.34</c:v>
                </c:pt>
                <c:pt idx="1">
                  <c:v>-2.93</c:v>
                </c:pt>
                <c:pt idx="2">
                  <c:v>-1.1599999999999999</c:v>
                </c:pt>
                <c:pt idx="3">
                  <c:v>2.86</c:v>
                </c:pt>
                <c:pt idx="4">
                  <c:v>0.7</c:v>
                </c:pt>
                <c:pt idx="5">
                  <c:v>0.46</c:v>
                </c:pt>
                <c:pt idx="6">
                  <c:v>-10.64</c:v>
                </c:pt>
                <c:pt idx="7">
                  <c:v>-9.2899999999999991</c:v>
                </c:pt>
                <c:pt idx="8">
                  <c:v>-2.59</c:v>
                </c:pt>
                <c:pt idx="9">
                  <c:v>-0.68</c:v>
                </c:pt>
                <c:pt idx="10">
                  <c:v>2.84</c:v>
                </c:pt>
                <c:pt idx="11">
                  <c:v>1.33</c:v>
                </c:pt>
                <c:pt idx="12">
                  <c:v>-4.4000000000000004</c:v>
                </c:pt>
                <c:pt idx="13">
                  <c:v>-4.13</c:v>
                </c:pt>
                <c:pt idx="14">
                  <c:v>4.01</c:v>
                </c:pt>
                <c:pt idx="15">
                  <c:v>2.5299999999999998</c:v>
                </c:pt>
                <c:pt idx="16">
                  <c:v>6.33</c:v>
                </c:pt>
                <c:pt idx="17">
                  <c:v>-1.44</c:v>
                </c:pt>
                <c:pt idx="18">
                  <c:v>4.42</c:v>
                </c:pt>
                <c:pt idx="19">
                  <c:v>-6.49</c:v>
                </c:pt>
                <c:pt idx="20">
                  <c:v>-3.3</c:v>
                </c:pt>
                <c:pt idx="21">
                  <c:v>7.49</c:v>
                </c:pt>
                <c:pt idx="22">
                  <c:v>3.02</c:v>
                </c:pt>
                <c:pt idx="23">
                  <c:v>-4.2</c:v>
                </c:pt>
                <c:pt idx="24">
                  <c:v>-1.64</c:v>
                </c:pt>
                <c:pt idx="25">
                  <c:v>-4.74</c:v>
                </c:pt>
                <c:pt idx="26">
                  <c:v>-3.37</c:v>
                </c:pt>
                <c:pt idx="27">
                  <c:v>-4.1100000000000003</c:v>
                </c:pt>
                <c:pt idx="28">
                  <c:v>6.72</c:v>
                </c:pt>
                <c:pt idx="29">
                  <c:v>0.84</c:v>
                </c:pt>
                <c:pt idx="30">
                  <c:v>3.69</c:v>
                </c:pt>
                <c:pt idx="31">
                  <c:v>-4.04</c:v>
                </c:pt>
                <c:pt idx="32">
                  <c:v>-2.2799999999999998</c:v>
                </c:pt>
                <c:pt idx="33">
                  <c:v>-0.24</c:v>
                </c:pt>
                <c:pt idx="34">
                  <c:v>0.57999999999999996</c:v>
                </c:pt>
                <c:pt idx="35">
                  <c:v>2.9</c:v>
                </c:pt>
                <c:pt idx="36">
                  <c:v>-0.69</c:v>
                </c:pt>
                <c:pt idx="37">
                  <c:v>-3.01</c:v>
                </c:pt>
                <c:pt idx="38">
                  <c:v>-2.04</c:v>
                </c:pt>
                <c:pt idx="39">
                  <c:v>-4.07</c:v>
                </c:pt>
                <c:pt idx="40">
                  <c:v>-0.23</c:v>
                </c:pt>
                <c:pt idx="41">
                  <c:v>2.1</c:v>
                </c:pt>
                <c:pt idx="42">
                  <c:v>0.85</c:v>
                </c:pt>
                <c:pt idx="43">
                  <c:v>-2.97</c:v>
                </c:pt>
                <c:pt idx="44">
                  <c:v>-2.41</c:v>
                </c:pt>
                <c:pt idx="45">
                  <c:v>-2.09</c:v>
                </c:pt>
                <c:pt idx="46">
                  <c:v>-0.99</c:v>
                </c:pt>
                <c:pt idx="47">
                  <c:v>-2.63</c:v>
                </c:pt>
                <c:pt idx="48">
                  <c:v>-2.76</c:v>
                </c:pt>
                <c:pt idx="49">
                  <c:v>2.2400000000000002</c:v>
                </c:pt>
                <c:pt idx="50">
                  <c:v>3.08</c:v>
                </c:pt>
                <c:pt idx="51">
                  <c:v>2.79</c:v>
                </c:pt>
                <c:pt idx="52">
                  <c:v>0.62</c:v>
                </c:pt>
                <c:pt idx="53">
                  <c:v>4.1399999999999997</c:v>
                </c:pt>
                <c:pt idx="54">
                  <c:v>-2.87</c:v>
                </c:pt>
                <c:pt idx="55">
                  <c:v>-0.53</c:v>
                </c:pt>
                <c:pt idx="56">
                  <c:v>3.22</c:v>
                </c:pt>
                <c:pt idx="57">
                  <c:v>5.25</c:v>
                </c:pt>
                <c:pt idx="58">
                  <c:v>-1.17</c:v>
                </c:pt>
                <c:pt idx="59">
                  <c:v>4.3</c:v>
                </c:pt>
                <c:pt idx="60">
                  <c:v>2.69</c:v>
                </c:pt>
                <c:pt idx="61">
                  <c:v>2.73</c:v>
                </c:pt>
                <c:pt idx="62">
                  <c:v>3.13</c:v>
                </c:pt>
                <c:pt idx="63">
                  <c:v>2.4</c:v>
                </c:pt>
                <c:pt idx="64">
                  <c:v>2.41</c:v>
                </c:pt>
                <c:pt idx="65">
                  <c:v>3.76</c:v>
                </c:pt>
                <c:pt idx="66">
                  <c:v>2.2599999999999998</c:v>
                </c:pt>
                <c:pt idx="67">
                  <c:v>0.36</c:v>
                </c:pt>
                <c:pt idx="68">
                  <c:v>-3.32</c:v>
                </c:pt>
                <c:pt idx="69">
                  <c:v>3.77</c:v>
                </c:pt>
                <c:pt idx="70">
                  <c:v>8.4600000000000009</c:v>
                </c:pt>
                <c:pt idx="71">
                  <c:v>-1.31</c:v>
                </c:pt>
                <c:pt idx="72">
                  <c:v>2.6</c:v>
                </c:pt>
                <c:pt idx="73">
                  <c:v>-5.14</c:v>
                </c:pt>
                <c:pt idx="74">
                  <c:v>-4.09</c:v>
                </c:pt>
                <c:pt idx="75">
                  <c:v>0.17</c:v>
                </c:pt>
                <c:pt idx="76">
                  <c:v>11.1</c:v>
                </c:pt>
                <c:pt idx="77">
                  <c:v>-1.86</c:v>
                </c:pt>
                <c:pt idx="78">
                  <c:v>-1.49</c:v>
                </c:pt>
                <c:pt idx="79">
                  <c:v>0.32</c:v>
                </c:pt>
                <c:pt idx="80">
                  <c:v>0.67</c:v>
                </c:pt>
                <c:pt idx="81">
                  <c:v>8.4</c:v>
                </c:pt>
                <c:pt idx="82">
                  <c:v>-2.02</c:v>
                </c:pt>
                <c:pt idx="83">
                  <c:v>-3.73</c:v>
                </c:pt>
                <c:pt idx="84">
                  <c:v>-2.17</c:v>
                </c:pt>
                <c:pt idx="85">
                  <c:v>3.41</c:v>
                </c:pt>
                <c:pt idx="86">
                  <c:v>2.31</c:v>
                </c:pt>
                <c:pt idx="87">
                  <c:v>2.5</c:v>
                </c:pt>
                <c:pt idx="88">
                  <c:v>0.06</c:v>
                </c:pt>
                <c:pt idx="89">
                  <c:v>-0.56999999999999995</c:v>
                </c:pt>
                <c:pt idx="90">
                  <c:v>-2.69</c:v>
                </c:pt>
                <c:pt idx="91">
                  <c:v>-1.58</c:v>
                </c:pt>
                <c:pt idx="92">
                  <c:v>-0.75</c:v>
                </c:pt>
                <c:pt idx="93">
                  <c:v>3.43</c:v>
                </c:pt>
                <c:pt idx="94">
                  <c:v>4.1500000000000004</c:v>
                </c:pt>
                <c:pt idx="95">
                  <c:v>0.23</c:v>
                </c:pt>
                <c:pt idx="96">
                  <c:v>4.26</c:v>
                </c:pt>
                <c:pt idx="97">
                  <c:v>-0.94</c:v>
                </c:pt>
                <c:pt idx="98">
                  <c:v>2.06</c:v>
                </c:pt>
                <c:pt idx="99">
                  <c:v>6.53</c:v>
                </c:pt>
                <c:pt idx="100">
                  <c:v>-0.42</c:v>
                </c:pt>
                <c:pt idx="101">
                  <c:v>-0.39</c:v>
                </c:pt>
                <c:pt idx="102">
                  <c:v>2.98</c:v>
                </c:pt>
                <c:pt idx="103">
                  <c:v>2.4700000000000002</c:v>
                </c:pt>
                <c:pt idx="104">
                  <c:v>2.42</c:v>
                </c:pt>
                <c:pt idx="105">
                  <c:v>2.8</c:v>
                </c:pt>
                <c:pt idx="106">
                  <c:v>2.44</c:v>
                </c:pt>
                <c:pt idx="107">
                  <c:v>-0.75</c:v>
                </c:pt>
                <c:pt idx="108">
                  <c:v>-2.37</c:v>
                </c:pt>
                <c:pt idx="109">
                  <c:v>-7.61</c:v>
                </c:pt>
                <c:pt idx="110">
                  <c:v>-6.11</c:v>
                </c:pt>
                <c:pt idx="111">
                  <c:v>-2.2000000000000002</c:v>
                </c:pt>
                <c:pt idx="112">
                  <c:v>-1.47</c:v>
                </c:pt>
                <c:pt idx="113">
                  <c:v>-7.97</c:v>
                </c:pt>
                <c:pt idx="114">
                  <c:v>-5.0199999999999996</c:v>
                </c:pt>
                <c:pt idx="115">
                  <c:v>-1.49</c:v>
                </c:pt>
                <c:pt idx="116">
                  <c:v>3.06</c:v>
                </c:pt>
                <c:pt idx="117">
                  <c:v>-1.1299999999999999</c:v>
                </c:pt>
                <c:pt idx="118">
                  <c:v>0.1</c:v>
                </c:pt>
                <c:pt idx="119">
                  <c:v>5.19</c:v>
                </c:pt>
                <c:pt idx="120">
                  <c:v>-2.5299999999999998</c:v>
                </c:pt>
                <c:pt idx="121">
                  <c:v>-2.59</c:v>
                </c:pt>
                <c:pt idx="122">
                  <c:v>-3.69</c:v>
                </c:pt>
                <c:pt idx="123">
                  <c:v>-7.1</c:v>
                </c:pt>
                <c:pt idx="124">
                  <c:v>-4.6900000000000004</c:v>
                </c:pt>
                <c:pt idx="125">
                  <c:v>-5.84</c:v>
                </c:pt>
                <c:pt idx="126">
                  <c:v>-0.6</c:v>
                </c:pt>
                <c:pt idx="127">
                  <c:v>-0.96</c:v>
                </c:pt>
                <c:pt idx="128">
                  <c:v>-2.16</c:v>
                </c:pt>
                <c:pt idx="129">
                  <c:v>-0.63</c:v>
                </c:pt>
                <c:pt idx="130">
                  <c:v>0.93</c:v>
                </c:pt>
                <c:pt idx="131">
                  <c:v>1.54</c:v>
                </c:pt>
                <c:pt idx="132">
                  <c:v>1.74</c:v>
                </c:pt>
                <c:pt idx="133">
                  <c:v>4.9400000000000004</c:v>
                </c:pt>
                <c:pt idx="134">
                  <c:v>8.75</c:v>
                </c:pt>
                <c:pt idx="135">
                  <c:v>-2.83</c:v>
                </c:pt>
                <c:pt idx="136">
                  <c:v>3.05</c:v>
                </c:pt>
                <c:pt idx="137">
                  <c:v>2.0699999999999998</c:v>
                </c:pt>
                <c:pt idx="138">
                  <c:v>-1.96</c:v>
                </c:pt>
                <c:pt idx="139">
                  <c:v>4.37</c:v>
                </c:pt>
                <c:pt idx="140">
                  <c:v>0.37</c:v>
                </c:pt>
                <c:pt idx="141">
                  <c:v>1.76</c:v>
                </c:pt>
                <c:pt idx="142">
                  <c:v>0.21</c:v>
                </c:pt>
                <c:pt idx="143">
                  <c:v>3.33</c:v>
                </c:pt>
                <c:pt idx="144">
                  <c:v>-9.2100000000000009</c:v>
                </c:pt>
                <c:pt idx="145">
                  <c:v>-1.87</c:v>
                </c:pt>
                <c:pt idx="146">
                  <c:v>-1.1499999999999999</c:v>
                </c:pt>
                <c:pt idx="147">
                  <c:v>1.34</c:v>
                </c:pt>
                <c:pt idx="148">
                  <c:v>1.97</c:v>
                </c:pt>
                <c:pt idx="149">
                  <c:v>-2.35</c:v>
                </c:pt>
                <c:pt idx="150">
                  <c:v>0.17</c:v>
                </c:pt>
                <c:pt idx="151">
                  <c:v>-1.74</c:v>
                </c:pt>
                <c:pt idx="152">
                  <c:v>1.96</c:v>
                </c:pt>
                <c:pt idx="153">
                  <c:v>-1.28</c:v>
                </c:pt>
                <c:pt idx="154">
                  <c:v>1.29</c:v>
                </c:pt>
                <c:pt idx="155">
                  <c:v>-3.18</c:v>
                </c:pt>
                <c:pt idx="156">
                  <c:v>3.13</c:v>
                </c:pt>
                <c:pt idx="157">
                  <c:v>2.7</c:v>
                </c:pt>
                <c:pt idx="158">
                  <c:v>10.61</c:v>
                </c:pt>
                <c:pt idx="159">
                  <c:v>-4.51</c:v>
                </c:pt>
                <c:pt idx="160">
                  <c:v>-13.91</c:v>
                </c:pt>
                <c:pt idx="161">
                  <c:v>3.88</c:v>
                </c:pt>
                <c:pt idx="162">
                  <c:v>4.1500000000000004</c:v>
                </c:pt>
                <c:pt idx="163">
                  <c:v>2.7</c:v>
                </c:pt>
                <c:pt idx="164">
                  <c:v>-1.88</c:v>
                </c:pt>
                <c:pt idx="165">
                  <c:v>6.19</c:v>
                </c:pt>
                <c:pt idx="166">
                  <c:v>1.44</c:v>
                </c:pt>
                <c:pt idx="167">
                  <c:v>1.73</c:v>
                </c:pt>
                <c:pt idx="168">
                  <c:v>1.02</c:v>
                </c:pt>
                <c:pt idx="169">
                  <c:v>1.1100000000000001</c:v>
                </c:pt>
                <c:pt idx="170">
                  <c:v>0.09</c:v>
                </c:pt>
                <c:pt idx="171">
                  <c:v>-0.62</c:v>
                </c:pt>
                <c:pt idx="172">
                  <c:v>0.4</c:v>
                </c:pt>
                <c:pt idx="173">
                  <c:v>-1.1100000000000001</c:v>
                </c:pt>
                <c:pt idx="174">
                  <c:v>4.88</c:v>
                </c:pt>
                <c:pt idx="175">
                  <c:v>-1.18</c:v>
                </c:pt>
                <c:pt idx="176">
                  <c:v>-0.81</c:v>
                </c:pt>
                <c:pt idx="177">
                  <c:v>-1.1100000000000001</c:v>
                </c:pt>
                <c:pt idx="178">
                  <c:v>-1.54</c:v>
                </c:pt>
                <c:pt idx="179">
                  <c:v>-3.5</c:v>
                </c:pt>
                <c:pt idx="180">
                  <c:v>-3.49</c:v>
                </c:pt>
                <c:pt idx="181">
                  <c:v>-1.18</c:v>
                </c:pt>
                <c:pt idx="182">
                  <c:v>-0.56999999999999995</c:v>
                </c:pt>
                <c:pt idx="183">
                  <c:v>2.88</c:v>
                </c:pt>
                <c:pt idx="184">
                  <c:v>-0.16</c:v>
                </c:pt>
                <c:pt idx="185">
                  <c:v>-0.65</c:v>
                </c:pt>
                <c:pt idx="186">
                  <c:v>-1.62</c:v>
                </c:pt>
                <c:pt idx="187">
                  <c:v>4.75</c:v>
                </c:pt>
                <c:pt idx="188">
                  <c:v>-0.18</c:v>
                </c:pt>
                <c:pt idx="189">
                  <c:v>-0.68</c:v>
                </c:pt>
                <c:pt idx="190">
                  <c:v>2.17</c:v>
                </c:pt>
                <c:pt idx="191">
                  <c:v>-11.94</c:v>
                </c:pt>
                <c:pt idx="192">
                  <c:v>-17.12</c:v>
                </c:pt>
                <c:pt idx="193">
                  <c:v>1.85</c:v>
                </c:pt>
                <c:pt idx="194">
                  <c:v>3.65</c:v>
                </c:pt>
                <c:pt idx="195">
                  <c:v>-0.65</c:v>
                </c:pt>
                <c:pt idx="196">
                  <c:v>3.9</c:v>
                </c:pt>
                <c:pt idx="197">
                  <c:v>2.56</c:v>
                </c:pt>
                <c:pt idx="198">
                  <c:v>0.61</c:v>
                </c:pt>
                <c:pt idx="199">
                  <c:v>2.94</c:v>
                </c:pt>
                <c:pt idx="200">
                  <c:v>-1.18</c:v>
                </c:pt>
                <c:pt idx="201">
                  <c:v>-0.81</c:v>
                </c:pt>
                <c:pt idx="202">
                  <c:v>-1.87</c:v>
                </c:pt>
                <c:pt idx="203">
                  <c:v>-0.22</c:v>
                </c:pt>
                <c:pt idx="204">
                  <c:v>1.78</c:v>
                </c:pt>
                <c:pt idx="205">
                  <c:v>3.99</c:v>
                </c:pt>
                <c:pt idx="206">
                  <c:v>-1.31</c:v>
                </c:pt>
                <c:pt idx="207">
                  <c:v>-1.78</c:v>
                </c:pt>
                <c:pt idx="208">
                  <c:v>2.56</c:v>
                </c:pt>
                <c:pt idx="209">
                  <c:v>3.62</c:v>
                </c:pt>
                <c:pt idx="210">
                  <c:v>-1.48</c:v>
                </c:pt>
                <c:pt idx="211">
                  <c:v>-10.07</c:v>
                </c:pt>
                <c:pt idx="212">
                  <c:v>-4.3</c:v>
                </c:pt>
                <c:pt idx="213">
                  <c:v>-1.56</c:v>
                </c:pt>
                <c:pt idx="214">
                  <c:v>5.7</c:v>
                </c:pt>
                <c:pt idx="215">
                  <c:v>-1.66</c:v>
                </c:pt>
                <c:pt idx="216">
                  <c:v>-2.5299999999999998</c:v>
                </c:pt>
                <c:pt idx="217">
                  <c:v>-1.58</c:v>
                </c:pt>
                <c:pt idx="218">
                  <c:v>-0.73</c:v>
                </c:pt>
                <c:pt idx="219">
                  <c:v>2.4300000000000002</c:v>
                </c:pt>
                <c:pt idx="220">
                  <c:v>-3.17</c:v>
                </c:pt>
                <c:pt idx="221">
                  <c:v>2.9</c:v>
                </c:pt>
                <c:pt idx="222">
                  <c:v>-0.8</c:v>
                </c:pt>
                <c:pt idx="223">
                  <c:v>-2.58</c:v>
                </c:pt>
                <c:pt idx="224">
                  <c:v>-0.19</c:v>
                </c:pt>
                <c:pt idx="225">
                  <c:v>-4.2300000000000004</c:v>
                </c:pt>
                <c:pt idx="226">
                  <c:v>-0.39</c:v>
                </c:pt>
                <c:pt idx="227">
                  <c:v>-0.68</c:v>
                </c:pt>
                <c:pt idx="228">
                  <c:v>-1.91</c:v>
                </c:pt>
                <c:pt idx="229">
                  <c:v>-1.99</c:v>
                </c:pt>
                <c:pt idx="230">
                  <c:v>3.65</c:v>
                </c:pt>
                <c:pt idx="231">
                  <c:v>7.57</c:v>
                </c:pt>
                <c:pt idx="232">
                  <c:v>-0.85</c:v>
                </c:pt>
                <c:pt idx="233">
                  <c:v>4.8899999999999997</c:v>
                </c:pt>
                <c:pt idx="234">
                  <c:v>0.61</c:v>
                </c:pt>
                <c:pt idx="235">
                  <c:v>-4.54</c:v>
                </c:pt>
              </c:numCache>
            </c:numRef>
          </c:yVal>
          <c:smooth val="0"/>
          <c:extLst>
            <c:ext xmlns:c16="http://schemas.microsoft.com/office/drawing/2014/chart" uri="{C3380CC4-5D6E-409C-BE32-E72D297353CC}">
              <c16:uniqueId val="{00000000-0F8A-418C-8AC2-0B80D8C75737}"/>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numFmt formatCode="General" sourceLinked="1"/>
        <c:majorTickMark val="out"/>
        <c:minorTickMark val="none"/>
        <c:tickLblPos val="nextTo"/>
        <c:txPr>
          <a:bodyPr/>
          <a:lstStyle/>
          <a:p>
            <a:pPr>
              <a:defRPr sz="900">
                <a:solidFill>
                  <a:srgbClr val="9AA8B5"/>
                </a:solidFill>
                <a:latin typeface="Arial"/>
              </a:defRPr>
            </a:pPr>
            <a:endParaRPr lang="en-US"/>
          </a:p>
        </c:txPr>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txPr>
          <a:bodyPr/>
          <a:lstStyle/>
          <a:p>
            <a:pPr>
              <a:defRPr sz="900">
                <a:solidFill>
                  <a:srgbClr val="9AA8B5"/>
                </a:solidFill>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574712-A789-43A7-FBAC-2D24126152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505B31-9C66-2C05-0D4B-0A13359A31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1E7811-47B7-3247-BD43-9CD9FA031622}" type="datetimeFigureOut">
              <a:rPr lang="en-US" smtClean="0"/>
              <a:t>6/7/2026</a:t>
            </a:fld>
            <a:endParaRPr lang="en-US"/>
          </a:p>
        </p:txBody>
      </p:sp>
      <p:sp>
        <p:nvSpPr>
          <p:cNvPr id="4" name="Footer Placeholder 3">
            <a:extLst>
              <a:ext uri="{FF2B5EF4-FFF2-40B4-BE49-F238E27FC236}">
                <a16:creationId xmlns:a16="http://schemas.microsoft.com/office/drawing/2014/main" id="{4CA9BCD9-BEF4-D08A-1D2D-ECB2496858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DD86FA5-5B3F-AEA4-822C-EBF38CC5B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D762EC-5F52-774C-85ED-C049504962BA}" type="slidenum">
              <a:rPr lang="en-US" smtClean="0"/>
              <a:t>‹#›</a:t>
            </a:fld>
            <a:endParaRPr lang="en-US"/>
          </a:p>
        </p:txBody>
      </p:sp>
    </p:spTree>
    <p:extLst>
      <p:ext uri="{BB962C8B-B14F-4D97-AF65-F5344CB8AC3E}">
        <p14:creationId xmlns:p14="http://schemas.microsoft.com/office/powerpoint/2010/main" val="1483130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34CDC-939C-42B4-AB35-6498F5FC3D90}" type="datetimeFigureOut">
              <a:rPr lang="en-US" smtClean="0"/>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B1E5A-81D1-4464-9466-D55578ADC663}" type="slidenum">
              <a:rPr lang="en-US" smtClean="0"/>
              <a:t>‹#›</a:t>
            </a:fld>
            <a:endParaRPr lang="en-US"/>
          </a:p>
        </p:txBody>
      </p:sp>
    </p:spTree>
    <p:extLst>
      <p:ext uri="{BB962C8B-B14F-4D97-AF65-F5344CB8AC3E}">
        <p14:creationId xmlns:p14="http://schemas.microsoft.com/office/powerpoint/2010/main" val="2880477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You may have experienced something like this: a</a:t>
            </a:r>
            <a:r>
              <a:rPr dirty="0"/>
              <a:t> tool get pulled out from under a model. A license doesn't get renewed, a language version falls out of support, an add-in stops passing the security review. When that happens, the model doesn't just lose a feature — sometimes it can't be opened at all. Excel is the one thing on our machines that has been here for decades and is already cleared. </a:t>
            </a:r>
            <a:r>
              <a:rPr lang="en-US" dirty="0"/>
              <a:t>With Excel 365, they added support for LAMBDA functions, which greatly increases its capability</a:t>
            </a:r>
            <a:r>
              <a:rPr dirty="0"/>
              <a:t>. Everything I'll show you rides on a platform that isn't going anywhere.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things worth your time today. First, a complete regression workflow — from data filtering and collinearity checks through model selection and prediction with uncertainty. The tool is the vehicle, but the workflow is the point; these are the same steps </a:t>
            </a:r>
            <a:r>
              <a:rPr lang="en-US" dirty="0"/>
              <a:t>a good data analyst should</a:t>
            </a:r>
            <a:r>
              <a:rPr dirty="0"/>
              <a:t> follow in any environment. Second, three general-purpose Excel techniques — structured references, dynamic arrays, and LAMBDA. Even if nothing else sticks, those are immediately useful in any workbook you already have.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I’ll</a:t>
            </a:r>
            <a:r>
              <a:rPr dirty="0"/>
              <a:t> be honest about where each approach fits. </a:t>
            </a:r>
            <a:r>
              <a:rPr lang="en-US" dirty="0"/>
              <a:t>Why do this when we have access to python or R or Excel’s Analysis </a:t>
            </a:r>
            <a:r>
              <a:rPr lang="en-US" dirty="0" err="1"/>
              <a:t>Toolpak</a:t>
            </a:r>
            <a:r>
              <a:rPr lang="en-US" dirty="0"/>
              <a:t> with or without VBA? For</a:t>
            </a:r>
            <a:r>
              <a:rPr dirty="0"/>
              <a:t> raw modeling power, code </a:t>
            </a:r>
            <a:r>
              <a:rPr lang="en-US" dirty="0"/>
              <a:t>is the gold standard</a:t>
            </a:r>
            <a:r>
              <a:rPr dirty="0"/>
              <a:t>. R, Python, VBA — if you need a random forest or a hierarchical model, write code</a:t>
            </a:r>
            <a:r>
              <a:rPr lang="en-US" dirty="0"/>
              <a:t> or use a third party tool that does everything for you</a:t>
            </a:r>
            <a:r>
              <a:rPr dirty="0"/>
              <a:t>. </a:t>
            </a:r>
            <a:r>
              <a:rPr lang="en-US" dirty="0"/>
              <a:t>The trick is when you inherit a model or have to open your own model 6 months later and follow the logic</a:t>
            </a:r>
            <a:r>
              <a:rPr dirty="0"/>
              <a:t>. Traceability is the column I'd highlight: with code, the analysis reads a file or an export, and the result lives somewhere outside the data</a:t>
            </a:r>
            <a:r>
              <a:rPr lang="en-US" dirty="0"/>
              <a:t>.</a:t>
            </a:r>
            <a:r>
              <a:rPr dirty="0"/>
              <a:t> Here, every formula points straight at the source table. Change a number and everything updates; a reviewer can click any cell and follow it to the raw data. That's the part code makes hard.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First stop: look before you model. This panel scores every predictor on six things at once. Two correlations — Pearson measures a straight-line relationship, Spearman measures any consistent monotonic one. When they disagree, the relationship is real but nonlinear, which is a flag to consider a transform. Skewness and kurtosis describe the shape; several of these predictors are heavily right-skewed, which is your cue that logs might help. And VIF and tolerance measure overlap among predictors. Adult mortality comes in around minus-point-seven — the strongest single driver. We haven't fit anything yet; we're deciding what deserves to be in the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the fit. A cost estimating relationship is one thing you're predicting and several drivers. The library returns the full regression in one shot: each coefficient with its standard error, t-stat, p-value, and confidence interval. A coefficient without a confidence interval is an opinion; here you can see which drivers carry real signal. And this switch turns the intercept on or off — watch the whole table re-fit when I flip it. Nothing re-runs; it's all live formulas.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saw in the summary panel that a couple of predictors overlap heavily — high VIF. When two drivers move together the model can't separate their effects, and the coefficients get unstable. Here I just turn the offender off — one toggle. The VIFs settle, the coefficients update, every downstream number adjusts. Anyone reviewing the workbook can see exactly which predictors are in and which are out.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R-squared tells you how well the model fits data it already saw — and it always looks good, that's its job. PRESS R-squared is different: it's how well the model predicts each point when that point is held out. It's an honesty check. Here, in-sample R-squared is 0.827 and held-out PRESS R-squared is 0.822 — barely moves. The model generalizes. If those two numbers were far apart, </a:t>
            </a:r>
            <a:r>
              <a:rPr lang="en-US" dirty="0"/>
              <a:t>the fit is too sensitive to the data, meaning it’s probably overfitted</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Residuals against fitted values — what's left after the model. What I want is a shapeless cloud centered on zero: no funnel, no curve. The Q-Q correlation of 0.994 means the residuals are very close to normal, which is what lets the prediction intervals mean what they claim. Cook's distance flags any single observation pulling the fit around. These are the same diagnostics you'd run anywhere, sitting right next to the model.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piece I care about most for our work. I type in a new case and the library returns a prediction and, just as importantly, the uncertainty around it. It's a prediction interval for an actual new case — wider than a confidence interval on the mean, because it includes the real-world scatter. The key output is the standard error of prediction — the spread of plausible actuals. It grows as the new case moves further from the data, penalizing extrapolation automatically. [Load a realistic </a:t>
            </a:r>
            <a:r>
              <a:rPr dirty="0" err="1"/>
              <a:t>x_new</a:t>
            </a:r>
            <a:r>
              <a:rPr dirty="0"/>
              <a:t> before presenting.]</a:t>
            </a:r>
            <a:r>
              <a:rPr lang="en-US" dirty="0"/>
              <a:t> Here I’ve loaded the dataset mean, and you can see that the prediction standard error is the standard error of the estimate. That’s a global minimum. If we’re anywhere but the mean, the leverage term increases and we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refinement for cost specifically. Costs can't go below zero and have a long right tail. A normal band around an estimate can run negative, which is nonsense for dollars. The fix: fit on the log of cost. These functions don't care what's in the column, so that's a one-line change. Exponentiate the result and your distribution is lognormal — always positive, realistic tail. The skewness column from the summary panel is exactly what tells you when you need this.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the workbook is organized, and this is why it's portable. The LAMBDA functions — all sixty of them — are scoped to the workbook, not to any particular sheet. The named ranges like All_Xs, y, and the filter are scoped to the worksheet. That means: right-click the Regression tab, Move or Copy into your own workbook, check Create a Copy, and every LAMBDA comes with it. Then you just point the named ranges at your own data table. All_Xs gets your predictor columns as a structured reference. y gets your target column. fil gets your complete-case filter or just TRUE. The full analysis — coefficients, VIF, PRESS, prediction intervals, everything — recomputes on your data. Let me show you. [LIVE: pull the sheet into a second workbook, assign All_Xs and y, run a quick analysis.]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why build a regression workflow in formulas? Four properties make it a legitimate analytical choice. Transparency: every calculation is a visible</a:t>
            </a:r>
            <a:r>
              <a:rPr lang="en-US" dirty="0"/>
              <a:t>, legible</a:t>
            </a:r>
            <a:r>
              <a:rPr dirty="0"/>
              <a:t> formula, nothing compiled or hidden. Traceability: the formulas reference the source table by name, so a reviewer can follow any number back to the data. Liveness: change an input and the whole model updates instantly — no re-running. </a:t>
            </a:r>
            <a:r>
              <a:rPr lang="en-US" dirty="0"/>
              <a:t>This lets you explore the impact of the underlying data, and review multiple models quickly to determine what relationships are significant, and whether a parametric estimate is useful. Lastly, we improve</a:t>
            </a:r>
            <a:r>
              <a:rPr dirty="0"/>
              <a:t> uncertainty</a:t>
            </a:r>
            <a:r>
              <a:rPr lang="en-US" dirty="0"/>
              <a:t> modeling</a:t>
            </a:r>
            <a:r>
              <a:rPr dirty="0"/>
              <a:t>: the workflow is built around prediction intervals and the standard error of prediction, not just </a:t>
            </a:r>
            <a:r>
              <a:rPr lang="en-US" dirty="0"/>
              <a:t>the standard error of the </a:t>
            </a:r>
            <a:r>
              <a:rPr dirty="0"/>
              <a:t>estimate.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Excel features do the heavy lifting, and these are worth knowing regardless of whether you use this particular library. First, structured references — instead of pointing at K2 through K3000, you point at a table column by name. That's what makes the analysis traceable: the formula literally says 'the BMI column.' Second, dynamic arrays — one formula can return an entire table of results that grows and shrinks on its own. You write it once and Excel fills out the rest.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how roughly sixty named functions exist with zero macros. LET names the intermediate steps inside a formula so it reads like a recipe. LAMBDA takes that recipe, gives it arguments, and saves it as a named function — so it behaves like SUM or AVERAGE. Every function in this library is just a LAMBDA, and they compose.</a:t>
            </a:r>
            <a:r>
              <a:rPr lang="en-US" dirty="0"/>
              <a:t> These LAMBDA functions can then be saved as Named Objects in the Name Manager.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we go further: do the numbers check out? The library reproduces the entire Analysis </a:t>
            </a:r>
            <a:r>
              <a:rPr dirty="0" err="1"/>
              <a:t>ToolPak</a:t>
            </a:r>
            <a:r>
              <a:rPr dirty="0"/>
              <a:t> regression output — the regression statistics block, the full ANOVA table, and the coefficient table with standard errors, t-stats, p-values, and confidence intervals. </a:t>
            </a:r>
            <a:r>
              <a:rPr lang="en-US" dirty="0"/>
              <a:t>It also goes further than that, providing inputs for the </a:t>
            </a:r>
            <a:r>
              <a:rPr dirty="0"/>
              <a:t>I ran the same model three ways — this library, the </a:t>
            </a:r>
            <a:r>
              <a:rPr dirty="0" err="1"/>
              <a:t>ToolPak</a:t>
            </a:r>
            <a:r>
              <a:rPr dirty="0"/>
              <a:t>, and </a:t>
            </a:r>
            <a:r>
              <a:rPr dirty="0" err="1"/>
              <a:t>statsmodels</a:t>
            </a:r>
            <a:r>
              <a:rPr dirty="0"/>
              <a:t> in Python — and they match to ten decimal places. That's floating-point noise</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Everything I'm about to show lives on one sheet. Five regions: a predictor summary panel on the left, the regression output in the center, prediction and uncertainty on the right, model-selection diagnostics below, and the full per-observation residual table across the bottom. Two switches drive all of it: a column of true/false toggles to pick which predictors are in the model, and an intercept switch. Flip anything and the whole sheet recomputes. No re-running, no scripts.</a:t>
            </a:r>
            <a:br>
              <a:rPr lang="en-US" dirty="0"/>
            </a:br>
            <a:r>
              <a:rPr lang="en-US" dirty="0"/>
              <a:t>I’m moving now to the workbook so we can look at some sample data. I’ll show you how I set it up and then we can jump right into some analysis. Because I’m hosting the tool publicly on </a:t>
            </a:r>
            <a:r>
              <a:rPr lang="en-US" dirty="0" err="1"/>
              <a:t>github</a:t>
            </a:r>
            <a:r>
              <a:rPr lang="en-US" dirty="0"/>
              <a:t> and I’m going to be presenting this at ICEAA, I’ve chosen a publicly available dataset that’s hopefully interesting. It’s annualized WHO life expectancy data by country.</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Honest constraints. It's bounded by Excel's scale — thousands of rows, not millions. No automatic categorical encoding; you build indicators first. The arithmetic is hardened against different predictor scales, but that doesn't fix true collinearity — that's the judgment the VIF panel supports. Charts can't read live spilling results, so plots use fixed ranges. And it needs current 365. None of these are dealbreakers for the kind of cost work we do, but you should know them.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leverage and prediction calculation routes through a single matrix-inversion helper. That's deliberate — one place to harden the arithmetic. Right now it's a direct inversion. The staged improvement scales each column first, fixing precision when drivers live on different scales. Because everything inherits, hardening one function improves every diagnostic at once. It's a numerical fix, not a statistical one — precision changes, answers don't.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standard error of prediction is the regression's scatter inflated by a leverage term that grows as the new case moves away from the data center. At the center, the interval is as tight as the model allows. Beyond the data it widens fast — that's the extrapolation penalty. The interval uses a t-distribution on residual df, so it's exact for the linear model.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Same model, three engines, every output compared. Coefficients, standard errors, ANOVA, R-squared, PRESS — they agree to about ten decimal places, which is floating-point nois</a:t>
            </a:r>
            <a:r>
              <a:rPr lang="en-US" dirty="0"/>
              <a:t>e</a:t>
            </a:r>
            <a:r>
              <a:rPr dirty="0"/>
              <a:t>. You can verify it against whatever tool you already trust.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874818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784209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40398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00667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22701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54850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1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10837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7867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006880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58037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964671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134636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71576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4347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43066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626314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42754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1041400"/>
            <a:ext cx="6941905" cy="2387600"/>
          </a:xfrm>
          <a:prstGeom prst="rect">
            <a:avLst/>
          </a:prstGeom>
        </p:spPr>
        <p:txBody>
          <a:bodyPr anchor="b"/>
          <a:lstStyle>
            <a:lvl1pPr algn="l">
              <a:defRPr sz="6000" b="1">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3469443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606176"/>
            <a:ext cx="10969375" cy="1397285"/>
          </a:xfrm>
          <a:prstGeom prst="rect">
            <a:avLst/>
          </a:prstGeom>
        </p:spPr>
        <p:txBody>
          <a:bodyPr anchor="b"/>
          <a:lstStyle>
            <a:lvl1pPr algn="l">
              <a:defRPr sz="6000" b="1">
                <a:solidFill>
                  <a:srgbClr val="021E42"/>
                </a:solidFill>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2868381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3.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2.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20.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8.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8F30497-342B-5A83-27A3-3C260E649042}"/>
              </a:ext>
            </a:extLst>
          </p:cNvPr>
          <p:cNvPicPr>
            <a:picLocks noChangeAspect="1"/>
          </p:cNvPicPr>
          <p:nvPr userDrawn="1"/>
        </p:nvPicPr>
        <p:blipFill>
          <a:blip r:embed="rId11"/>
          <a:srcRect/>
          <a:stretch/>
        </p:blipFill>
        <p:spPr>
          <a:xfrm>
            <a:off x="7010400" y="-8873"/>
            <a:ext cx="5181600" cy="1295400"/>
          </a:xfrm>
          <a:prstGeom prst="rect">
            <a:avLst/>
          </a:prstGeom>
        </p:spPr>
      </p:pic>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pic>
        <p:nvPicPr>
          <p:cNvPr id="10" name="Picture 9" descr="A black and white sign with white text  AI-generated content may be incorrect.">
            <a:extLst>
              <a:ext uri="{FF2B5EF4-FFF2-40B4-BE49-F238E27FC236}">
                <a16:creationId xmlns:a16="http://schemas.microsoft.com/office/drawing/2014/main" id="{171E5CF7-AE7D-7185-CABF-0AB10F0BDF8B}"/>
              </a:ext>
            </a:extLst>
          </p:cNvPr>
          <p:cNvPicPr>
            <a:picLocks noChangeAspect="1"/>
          </p:cNvPicPr>
          <p:nvPr userDrawn="1"/>
        </p:nvPicPr>
        <p:blipFill>
          <a:blip r:embed="rId12"/>
          <a:stretch>
            <a:fillRect/>
          </a:stretch>
        </p:blipFill>
        <p:spPr>
          <a:xfrm>
            <a:off x="8387245" y="6246341"/>
            <a:ext cx="1654629" cy="474152"/>
          </a:xfrm>
          <a:prstGeom prst="rect">
            <a:avLst/>
          </a:prstGeom>
        </p:spPr>
      </p:pic>
      <p:pic>
        <p:nvPicPr>
          <p:cNvPr id="11" name="Picture 10">
            <a:extLst>
              <a:ext uri="{FF2B5EF4-FFF2-40B4-BE49-F238E27FC236}">
                <a16:creationId xmlns:a16="http://schemas.microsoft.com/office/drawing/2014/main" id="{3507DA46-1E84-3F7F-FB3B-62E88707977D}"/>
              </a:ext>
            </a:extLst>
          </p:cNvPr>
          <p:cNvPicPr>
            <a:picLocks noChangeAspect="1"/>
          </p:cNvPicPr>
          <p:nvPr userDrawn="1"/>
        </p:nvPicPr>
        <p:blipFill>
          <a:blip r:embed="rId13"/>
          <a:srcRect/>
          <a:stretch/>
        </p:blipFill>
        <p:spPr>
          <a:xfrm>
            <a:off x="10350847" y="6293735"/>
            <a:ext cx="1369791" cy="384502"/>
          </a:xfrm>
          <a:prstGeom prst="rect">
            <a:avLst/>
          </a:prstGeom>
        </p:spPr>
      </p:pic>
      <p:sp>
        <p:nvSpPr>
          <p:cNvPr id="4" name="Title Placeholder 1">
            <a:extLst>
              <a:ext uri="{FF2B5EF4-FFF2-40B4-BE49-F238E27FC236}">
                <a16:creationId xmlns:a16="http://schemas.microsoft.com/office/drawing/2014/main" id="{31F921DB-3352-EB00-5894-82833B8BDDA6}"/>
              </a:ext>
            </a:extLst>
          </p:cNvPr>
          <p:cNvSpPr txBox="1">
            <a:spLocks/>
          </p:cNvSpPr>
          <p:nvPr userDrawn="1"/>
        </p:nvSpPr>
        <p:spPr>
          <a:xfrm>
            <a:off x="838200" y="6111831"/>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02483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8895ED5-62B8-36C2-AB69-88FDA7BD82A7}"/>
              </a:ext>
            </a:extLst>
          </p:cNvPr>
          <p:cNvPicPr>
            <a:picLocks noChangeAspect="1"/>
          </p:cNvPicPr>
          <p:nvPr userDrawn="1"/>
        </p:nvPicPr>
        <p:blipFill>
          <a:blip r:embed="rId11"/>
          <a:srcRect/>
          <a:stretch/>
        </p:blipFill>
        <p:spPr>
          <a:xfrm>
            <a:off x="7010400" y="-8873"/>
            <a:ext cx="5181600" cy="1295400"/>
          </a:xfrm>
          <a:prstGeom prst="rect">
            <a:avLst/>
          </a:prstGeom>
        </p:spPr>
      </p:pic>
      <p:pic>
        <p:nvPicPr>
          <p:cNvPr id="10" name="Picture 9" descr="A black and white sign with white text  AI-generated content may be incorrect.">
            <a:extLst>
              <a:ext uri="{FF2B5EF4-FFF2-40B4-BE49-F238E27FC236}">
                <a16:creationId xmlns:a16="http://schemas.microsoft.com/office/drawing/2014/main" id="{171E5CF7-AE7D-7185-CABF-0AB10F0BDF8B}"/>
              </a:ext>
            </a:extLst>
          </p:cNvPr>
          <p:cNvPicPr>
            <a:picLocks noChangeAspect="1"/>
          </p:cNvPicPr>
          <p:nvPr userDrawn="1"/>
        </p:nvPicPr>
        <p:blipFill>
          <a:blip r:embed="rId12"/>
          <a:stretch>
            <a:fillRect/>
          </a:stretch>
        </p:blipFill>
        <p:spPr>
          <a:xfrm>
            <a:off x="8387245" y="6246341"/>
            <a:ext cx="1654629" cy="474152"/>
          </a:xfrm>
          <a:prstGeom prst="rect">
            <a:avLst/>
          </a:prstGeom>
        </p:spPr>
      </p:pic>
      <p:pic>
        <p:nvPicPr>
          <p:cNvPr id="11" name="Picture 10">
            <a:extLst>
              <a:ext uri="{FF2B5EF4-FFF2-40B4-BE49-F238E27FC236}">
                <a16:creationId xmlns:a16="http://schemas.microsoft.com/office/drawing/2014/main" id="{3507DA46-1E84-3F7F-FB3B-62E88707977D}"/>
              </a:ext>
            </a:extLst>
          </p:cNvPr>
          <p:cNvPicPr>
            <a:picLocks noChangeAspect="1"/>
          </p:cNvPicPr>
          <p:nvPr userDrawn="1"/>
        </p:nvPicPr>
        <p:blipFill>
          <a:blip r:embed="rId13"/>
          <a:srcRect/>
          <a:stretch/>
        </p:blipFill>
        <p:spPr>
          <a:xfrm>
            <a:off x="10350847" y="6293735"/>
            <a:ext cx="1369791" cy="384502"/>
          </a:xfrm>
          <a:prstGeom prst="rect">
            <a:avLst/>
          </a:prstGeom>
        </p:spPr>
      </p:pic>
      <p:sp>
        <p:nvSpPr>
          <p:cNvPr id="5" name="Title Placeholder 1">
            <a:extLst>
              <a:ext uri="{FF2B5EF4-FFF2-40B4-BE49-F238E27FC236}">
                <a16:creationId xmlns:a16="http://schemas.microsoft.com/office/drawing/2014/main" id="{20B4B526-EF33-C752-4091-14E9ECC948CF}"/>
              </a:ext>
            </a:extLst>
          </p:cNvPr>
          <p:cNvSpPr txBox="1">
            <a:spLocks/>
          </p:cNvSpPr>
          <p:nvPr userDrawn="1"/>
        </p:nvSpPr>
        <p:spPr>
          <a:xfrm>
            <a:off x="838200" y="6111831"/>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332844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Clr>
          <a:srgbClr val="C50E3D"/>
        </a:buClr>
        <a:buFont typeface="Wingdings" panose="05000000000000000000" pitchFamily="2" charset="2"/>
        <a:buChar char="«"/>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BE351B-1D9E-ED4F-A0EA-931F8B085416}"/>
              </a:ext>
            </a:extLst>
          </p:cNvPr>
          <p:cNvSpPr/>
          <p:nvPr userDrawn="1"/>
        </p:nvSpPr>
        <p:spPr>
          <a:xfrm>
            <a:off x="1524" y="0"/>
            <a:ext cx="12188952" cy="5879592"/>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3" name="Picture 2" descr="A blue and black logo  AI-generated content may be incorrect.">
            <a:extLst>
              <a:ext uri="{FF2B5EF4-FFF2-40B4-BE49-F238E27FC236}">
                <a16:creationId xmlns:a16="http://schemas.microsoft.com/office/drawing/2014/main" id="{EE77629E-41B2-22BA-A255-FB02E0872B64}"/>
              </a:ext>
            </a:extLst>
          </p:cNvPr>
          <p:cNvPicPr>
            <a:picLocks noChangeAspect="1"/>
          </p:cNvPicPr>
          <p:nvPr userDrawn="1"/>
        </p:nvPicPr>
        <p:blipFill>
          <a:blip r:embed="rId4"/>
          <a:stretch>
            <a:fillRect/>
          </a:stretch>
        </p:blipFill>
        <p:spPr>
          <a:xfrm>
            <a:off x="10028000" y="6241617"/>
            <a:ext cx="1491065" cy="411534"/>
          </a:xfrm>
          <a:prstGeom prst="rect">
            <a:avLst/>
          </a:prstGeom>
        </p:spPr>
      </p:pic>
      <p:pic>
        <p:nvPicPr>
          <p:cNvPr id="7" name="Picture 6" descr="A black and white image of a person  AI-generated content may be incorrect.">
            <a:extLst>
              <a:ext uri="{FF2B5EF4-FFF2-40B4-BE49-F238E27FC236}">
                <a16:creationId xmlns:a16="http://schemas.microsoft.com/office/drawing/2014/main" id="{907FD5D8-27D9-56A5-127C-56F3851DE004}"/>
              </a:ext>
            </a:extLst>
          </p:cNvPr>
          <p:cNvPicPr>
            <a:picLocks noChangeAspect="1"/>
          </p:cNvPicPr>
          <p:nvPr userDrawn="1"/>
        </p:nvPicPr>
        <p:blipFill>
          <a:blip r:embed="rId5"/>
          <a:stretch>
            <a:fillRect/>
          </a:stretch>
        </p:blipFill>
        <p:spPr>
          <a:xfrm>
            <a:off x="1511" y="1197859"/>
            <a:ext cx="12188977" cy="4462281"/>
          </a:xfrm>
          <a:prstGeom prst="rect">
            <a:avLst/>
          </a:prstGeom>
        </p:spPr>
      </p:pic>
      <p:sp>
        <p:nvSpPr>
          <p:cNvPr id="5" name="Rectangle 4">
            <a:extLst>
              <a:ext uri="{FF2B5EF4-FFF2-40B4-BE49-F238E27FC236}">
                <a16:creationId xmlns:a16="http://schemas.microsoft.com/office/drawing/2014/main" id="{C5C63FEF-36B9-7DA6-0155-D1C4809EA843}"/>
              </a:ext>
            </a:extLst>
          </p:cNvPr>
          <p:cNvSpPr/>
          <p:nvPr userDrawn="1"/>
        </p:nvSpPr>
        <p:spPr>
          <a:xfrm>
            <a:off x="0" y="842480"/>
            <a:ext cx="6185043" cy="2774023"/>
          </a:xfrm>
          <a:prstGeom prst="rect">
            <a:avLst/>
          </a:prstGeom>
          <a:solidFill>
            <a:srgbClr val="C50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1">
            <a:extLst>
              <a:ext uri="{FF2B5EF4-FFF2-40B4-BE49-F238E27FC236}">
                <a16:creationId xmlns:a16="http://schemas.microsoft.com/office/drawing/2014/main" id="{F3DDE3A7-859C-9DCE-339F-7BE8FD8828D6}"/>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4143028485"/>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2" name="Picture 1" descr="A close-up of a person holding a spray object  AI-generated content may be incorrect.">
            <a:extLst>
              <a:ext uri="{FF2B5EF4-FFF2-40B4-BE49-F238E27FC236}">
                <a16:creationId xmlns:a16="http://schemas.microsoft.com/office/drawing/2014/main" id="{CE7CACEA-28E8-9745-D367-2DE90F22E6E9}"/>
              </a:ext>
            </a:extLst>
          </p:cNvPr>
          <p:cNvPicPr>
            <a:picLocks noChangeAspect="1"/>
          </p:cNvPicPr>
          <p:nvPr userDrawn="1"/>
        </p:nvPicPr>
        <p:blipFill>
          <a:blip r:embed="rId4">
            <a:extLst>
              <a:ext uri="{28A0092B-C50C-407E-A947-70E740481C1C}">
                <a14:useLocalDpi xmlns:a14="http://schemas.microsoft.com/office/drawing/2010/main" val="0"/>
              </a:ext>
            </a:extLst>
          </a:blip>
          <a:srcRect l="1865" t="9630" b="8802"/>
          <a:stretch>
            <a:fillRect/>
          </a:stretch>
        </p:blipFill>
        <p:spPr>
          <a:xfrm>
            <a:off x="1" y="1254072"/>
            <a:ext cx="12199420" cy="4945806"/>
          </a:xfrm>
          <a:prstGeom prst="rect">
            <a:avLst/>
          </a:prstGeom>
        </p:spPr>
      </p:pic>
      <p:pic>
        <p:nvPicPr>
          <p:cNvPr id="3" name="Picture 2" descr="A blue and black logo  AI-generated content may be incorrect.">
            <a:extLst>
              <a:ext uri="{FF2B5EF4-FFF2-40B4-BE49-F238E27FC236}">
                <a16:creationId xmlns:a16="http://schemas.microsoft.com/office/drawing/2014/main" id="{364BE2B4-46A3-64C3-22E8-7A41C70F7ADA}"/>
              </a:ext>
            </a:extLst>
          </p:cNvPr>
          <p:cNvPicPr>
            <a:picLocks noChangeAspect="1"/>
          </p:cNvPicPr>
          <p:nvPr userDrawn="1"/>
        </p:nvPicPr>
        <p:blipFill>
          <a:blip r:embed="rId5"/>
          <a:stretch>
            <a:fillRect/>
          </a:stretch>
        </p:blipFill>
        <p:spPr>
          <a:xfrm>
            <a:off x="10028000" y="6241617"/>
            <a:ext cx="1491065" cy="411534"/>
          </a:xfrm>
          <a:prstGeom prst="rect">
            <a:avLst/>
          </a:prstGeom>
        </p:spPr>
      </p:pic>
      <p:sp>
        <p:nvSpPr>
          <p:cNvPr id="6" name="Title Placeholder 1">
            <a:extLst>
              <a:ext uri="{FF2B5EF4-FFF2-40B4-BE49-F238E27FC236}">
                <a16:creationId xmlns:a16="http://schemas.microsoft.com/office/drawing/2014/main" id="{12E40129-09F6-3E5B-0BD7-889595C90618}"/>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98036161"/>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10F6E-FBC9-B4A8-8633-B7D248DE80A2}"/>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9984568F-0F6C-2882-FADC-515B18ABD8A3}"/>
              </a:ext>
            </a:extLst>
          </p:cNvPr>
          <p:cNvSpPr>
            <a:spLocks noGrp="1"/>
          </p:cNvSpPr>
          <p:nvPr>
            <p:ph type="ctrTitle"/>
          </p:nvPr>
        </p:nvSpPr>
        <p:spPr/>
        <p:txBody>
          <a:bodyPr/>
          <a:lstStyle/>
          <a:p>
            <a:r>
              <a:rPr lang="en-US" b="1" dirty="0"/>
              <a:t>Statistical Analysis LAMBDA Library</a:t>
            </a:r>
          </a:p>
        </p:txBody>
      </p:sp>
      <p:sp>
        <p:nvSpPr>
          <p:cNvPr id="3" name="TextBox 2">
            <a:extLst>
              <a:ext uri="{FF2B5EF4-FFF2-40B4-BE49-F238E27FC236}">
                <a16:creationId xmlns:a16="http://schemas.microsoft.com/office/drawing/2014/main" id="{DA25C260-959A-7DC6-19F1-4BCD8147A97F}"/>
              </a:ext>
            </a:extLst>
          </p:cNvPr>
          <p:cNvSpPr txBox="1"/>
          <p:nvPr/>
        </p:nvSpPr>
        <p:spPr>
          <a:xfrm>
            <a:off x="113122" y="5231876"/>
            <a:ext cx="8088198"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Stephen Colodner</a:t>
            </a:r>
          </a:p>
          <a:p>
            <a:r>
              <a:rPr lang="en-US" dirty="0">
                <a:latin typeface="Arial" panose="020B0604020202020204" pitchFamily="34" charset="0"/>
                <a:cs typeface="Arial" panose="020B0604020202020204" pitchFamily="34" charset="0"/>
              </a:rPr>
              <a:t>Office of Cost Estimating and Program Evaluation (NA-1.3)</a:t>
            </a:r>
          </a:p>
          <a:p>
            <a:r>
              <a:rPr lang="en-US" dirty="0">
                <a:latin typeface="Arial" panose="020B0604020202020204" pitchFamily="34" charset="0"/>
                <a:cs typeface="Arial" panose="020B0604020202020204" pitchFamily="34" charset="0"/>
              </a:rPr>
              <a:t>June 8, 2026</a:t>
            </a:r>
          </a:p>
          <a:p>
            <a:endParaRPr lang="en-US" dirty="0">
              <a:latin typeface="Montserrat" pitchFamily="2" charset="0"/>
            </a:endParaRPr>
          </a:p>
        </p:txBody>
      </p:sp>
      <p:sp>
        <p:nvSpPr>
          <p:cNvPr id="4" name="Rounded Rectangle 3"/>
          <p:cNvSpPr/>
          <p:nvPr/>
        </p:nvSpPr>
        <p:spPr>
          <a:xfrm>
            <a:off x="538339" y="2012888"/>
            <a:ext cx="4872645"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1491" y="2095184"/>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1491" y="2149155"/>
            <a:ext cx="457200" cy="184666"/>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7" name="TextBox 6"/>
          <p:cNvSpPr txBox="1"/>
          <p:nvPr/>
        </p:nvSpPr>
        <p:spPr>
          <a:xfrm>
            <a:off x="1178419" y="2153001"/>
            <a:ext cx="4128870" cy="180819"/>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=Coefficients(</a:t>
            </a:r>
            <a:r>
              <a:rPr sz="1150" b="1" i="0">
                <a:solidFill>
                  <a:srgbClr val="0D9488"/>
                </a:solidFill>
                <a:latin typeface="Consolas"/>
              </a:rPr>
              <a:t>x_s, y, </a:t>
            </a:r>
            <a:r>
              <a:rPr sz="1150" b="0" i="0">
                <a:solidFill>
                  <a:srgbClr val="42566B"/>
                </a:solidFill>
                <a:latin typeface="Consolas"/>
              </a:rPr>
              <a:t>Allow_Intercept, Full_Data)</a:t>
            </a:r>
          </a:p>
        </p:txBody>
      </p:sp>
    </p:spTree>
    <p:extLst>
      <p:ext uri="{BB962C8B-B14F-4D97-AF65-F5344CB8AC3E}">
        <p14:creationId xmlns:p14="http://schemas.microsoft.com/office/powerpoint/2010/main" val="330530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Motivation</a:t>
            </a:r>
            <a:endParaRPr sz="2900" b="1" dirty="0">
              <a:solidFill>
                <a:srgbClr val="FFFFFF"/>
              </a:solidFill>
            </a:endParaRPr>
          </a:p>
        </p:txBody>
      </p:sp>
      <p:sp>
        <p:nvSpPr>
          <p:cNvPr id="3" name="TextBox 2"/>
          <p:cNvSpPr txBox="1"/>
          <p:nvPr/>
        </p:nvSpPr>
        <p:spPr>
          <a:xfrm>
            <a:off x="566928" y="1481328"/>
            <a:ext cx="8229600" cy="461665"/>
          </a:xfrm>
          <a:prstGeom prst="rect">
            <a:avLst/>
          </a:prstGeom>
          <a:noFill/>
        </p:spPr>
        <p:txBody>
          <a:bodyPr wrap="square" lIns="0" tIns="0" rIns="0" bIns="0" anchor="t">
            <a:spAutoFit/>
          </a:bodyPr>
          <a:lstStyle/>
          <a:p>
            <a:pPr algn="l">
              <a:lnSpc>
                <a:spcPct val="100000"/>
              </a:lnSpc>
            </a:pPr>
            <a:r>
              <a:rPr lang="en-US" sz="3000" b="1" i="0" dirty="0">
                <a:solidFill>
                  <a:srgbClr val="14233A"/>
                </a:solidFill>
                <a:latin typeface="Arial"/>
              </a:rPr>
              <a:t>Excel 365 is already deployed</a:t>
            </a:r>
            <a:endParaRPr sz="3000" b="1" i="0" dirty="0">
              <a:solidFill>
                <a:srgbClr val="14233A"/>
              </a:solidFill>
              <a:latin typeface="Arial"/>
            </a:endParaRPr>
          </a:p>
        </p:txBody>
      </p:sp>
      <p:sp>
        <p:nvSpPr>
          <p:cNvPr id="4" name="TextBox 3"/>
          <p:cNvSpPr txBox="1"/>
          <p:nvPr/>
        </p:nvSpPr>
        <p:spPr>
          <a:xfrm>
            <a:off x="566928" y="2395728"/>
            <a:ext cx="6766560" cy="457200"/>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 model that can't be opened is worth nothing in a review.</a:t>
            </a:r>
          </a:p>
        </p:txBody>
      </p:sp>
      <p:sp>
        <p:nvSpPr>
          <p:cNvPr id="5" name="Rectangle 4"/>
          <p:cNvSpPr/>
          <p:nvPr/>
        </p:nvSpPr>
        <p:spPr>
          <a:xfrm>
            <a:off x="566928" y="3108960"/>
            <a:ext cx="109728" cy="56692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3063240"/>
            <a:ext cx="2926080" cy="64008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License lapses</a:t>
            </a:r>
          </a:p>
        </p:txBody>
      </p:sp>
      <p:sp>
        <p:nvSpPr>
          <p:cNvPr id="7" name="TextBox 6"/>
          <p:cNvSpPr txBox="1"/>
          <p:nvPr/>
        </p:nvSpPr>
        <p:spPr>
          <a:xfrm>
            <a:off x="3767328" y="3063240"/>
            <a:ext cx="3383280" cy="640080"/>
          </a:xfrm>
          <a:prstGeom prst="rect">
            <a:avLst/>
          </a:prstGeom>
          <a:noFill/>
        </p:spPr>
        <p:txBody>
          <a:bodyPr wrap="square" lIns="0" tIns="0" rIns="0" bIns="0" anchor="ctr">
            <a:spAutoFit/>
          </a:bodyPr>
          <a:lstStyle/>
          <a:p>
            <a:pPr algn="l">
              <a:lnSpc>
                <a:spcPct val="100000"/>
              </a:lnSpc>
            </a:pPr>
            <a:r>
              <a:rPr sz="1350" b="0" i="0">
                <a:solidFill>
                  <a:srgbClr val="6B7C8C"/>
                </a:solidFill>
                <a:latin typeface="Arial"/>
              </a:rPr>
              <a:t>A renewal slips and the seat goes dark.</a:t>
            </a:r>
          </a:p>
        </p:txBody>
      </p:sp>
      <p:sp>
        <p:nvSpPr>
          <p:cNvPr id="8" name="Rectangle 7"/>
          <p:cNvSpPr/>
          <p:nvPr/>
        </p:nvSpPr>
        <p:spPr>
          <a:xfrm>
            <a:off x="566928" y="3858768"/>
            <a:ext cx="109728" cy="56692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3813048"/>
            <a:ext cx="2926080" cy="64008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Version sunsets</a:t>
            </a:r>
          </a:p>
        </p:txBody>
      </p:sp>
      <p:sp>
        <p:nvSpPr>
          <p:cNvPr id="10" name="TextBox 9"/>
          <p:cNvSpPr txBox="1"/>
          <p:nvPr/>
        </p:nvSpPr>
        <p:spPr>
          <a:xfrm>
            <a:off x="3767328" y="3813048"/>
            <a:ext cx="3383280" cy="640080"/>
          </a:xfrm>
          <a:prstGeom prst="rect">
            <a:avLst/>
          </a:prstGeom>
          <a:noFill/>
        </p:spPr>
        <p:txBody>
          <a:bodyPr wrap="square" lIns="0" tIns="0" rIns="0" bIns="0" anchor="ctr">
            <a:spAutoFit/>
          </a:bodyPr>
          <a:lstStyle/>
          <a:p>
            <a:pPr algn="l">
              <a:lnSpc>
                <a:spcPct val="100000"/>
              </a:lnSpc>
            </a:pPr>
            <a:r>
              <a:rPr sz="1350" b="0" i="0">
                <a:solidFill>
                  <a:srgbClr val="6B7C8C"/>
                </a:solidFill>
                <a:latin typeface="Arial"/>
              </a:rPr>
              <a:t>A language or package drops out of support.</a:t>
            </a:r>
          </a:p>
        </p:txBody>
      </p:sp>
      <p:sp>
        <p:nvSpPr>
          <p:cNvPr id="11" name="Rectangle 10"/>
          <p:cNvSpPr/>
          <p:nvPr/>
        </p:nvSpPr>
        <p:spPr>
          <a:xfrm>
            <a:off x="566928" y="4608576"/>
            <a:ext cx="109728" cy="56692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4562856"/>
            <a:ext cx="2926080" cy="64008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Review tightens</a:t>
            </a:r>
          </a:p>
        </p:txBody>
      </p:sp>
      <p:sp>
        <p:nvSpPr>
          <p:cNvPr id="13" name="TextBox 12"/>
          <p:cNvSpPr txBox="1"/>
          <p:nvPr/>
        </p:nvSpPr>
        <p:spPr>
          <a:xfrm>
            <a:off x="3767328" y="4562856"/>
            <a:ext cx="3383280" cy="640080"/>
          </a:xfrm>
          <a:prstGeom prst="rect">
            <a:avLst/>
          </a:prstGeom>
          <a:noFill/>
        </p:spPr>
        <p:txBody>
          <a:bodyPr wrap="square" lIns="0" tIns="0" rIns="0" bIns="0" anchor="ctr">
            <a:spAutoFit/>
          </a:bodyPr>
          <a:lstStyle/>
          <a:p>
            <a:pPr algn="l">
              <a:lnSpc>
                <a:spcPct val="100000"/>
              </a:lnSpc>
            </a:pPr>
            <a:r>
              <a:rPr sz="1350" b="0" i="0">
                <a:solidFill>
                  <a:srgbClr val="6B7C8C"/>
                </a:solidFill>
                <a:latin typeface="Arial"/>
              </a:rPr>
              <a:t>An add-in stops clearing the security baseline.</a:t>
            </a:r>
          </a:p>
        </p:txBody>
      </p:sp>
      <p:sp>
        <p:nvSpPr>
          <p:cNvPr id="14" name="Rounded Rectangle 13"/>
          <p:cNvSpPr/>
          <p:nvPr/>
        </p:nvSpPr>
        <p:spPr>
          <a:xfrm>
            <a:off x="8183879" y="2971800"/>
            <a:ext cx="3456432" cy="2514600"/>
          </a:xfrm>
          <a:prstGeom prst="roundRect">
            <a:avLst>
              <a:gd name="adj" fmla="val 6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3200400"/>
            <a:ext cx="2926080" cy="365760"/>
          </a:xfrm>
          <a:prstGeom prst="rect">
            <a:avLst/>
          </a:prstGeom>
          <a:noFill/>
        </p:spPr>
        <p:txBody>
          <a:bodyPr wrap="square" lIns="0" tIns="0" rIns="0" bIns="0" anchor="t">
            <a:spAutoFit/>
          </a:bodyPr>
          <a:lstStyle/>
          <a:p>
            <a:pPr algn="l">
              <a:lnSpc>
                <a:spcPct val="100000"/>
              </a:lnSpc>
            </a:pPr>
            <a:r>
              <a:rPr sz="1200" b="1" i="0">
                <a:solidFill>
                  <a:srgbClr val="5EEAD4"/>
                </a:solidFill>
                <a:latin typeface="Arial"/>
              </a:rPr>
              <a:t>THE CONSTANT</a:t>
            </a:r>
          </a:p>
        </p:txBody>
      </p:sp>
      <p:sp>
        <p:nvSpPr>
          <p:cNvPr id="16" name="TextBox 15"/>
          <p:cNvSpPr txBox="1"/>
          <p:nvPr/>
        </p:nvSpPr>
        <p:spPr>
          <a:xfrm>
            <a:off x="8458200" y="3584448"/>
            <a:ext cx="2926080" cy="646331"/>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Arial"/>
              </a:rPr>
              <a:t>Excel</a:t>
            </a:r>
          </a:p>
        </p:txBody>
      </p:sp>
      <p:sp>
        <p:nvSpPr>
          <p:cNvPr id="17" name="TextBox 16"/>
          <p:cNvSpPr txBox="1"/>
          <p:nvPr/>
        </p:nvSpPr>
        <p:spPr>
          <a:xfrm>
            <a:off x="8458200" y="4434840"/>
            <a:ext cx="2971800" cy="914400"/>
          </a:xfrm>
          <a:prstGeom prst="rect">
            <a:avLst/>
          </a:prstGeom>
          <a:noFill/>
        </p:spPr>
        <p:txBody>
          <a:bodyPr wrap="square" lIns="0" tIns="0" rIns="0" bIns="0" anchor="t">
            <a:spAutoFit/>
          </a:bodyPr>
          <a:lstStyle/>
          <a:p>
            <a:pPr algn="l">
              <a:lnSpc>
                <a:spcPct val="105000"/>
              </a:lnSpc>
            </a:pPr>
            <a:r>
              <a:rPr sz="1350" b="0" i="0">
                <a:solidFill>
                  <a:srgbClr val="CBD5E1"/>
                </a:solidFill>
                <a:latin typeface="Arial"/>
              </a:rPr>
              <a:t>Already deployed. Already cleared. Already on every machine in this room.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Content</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0A7A70"/>
                </a:solidFill>
                <a:latin typeface="Arial"/>
              </a:rPr>
              <a:t>Better analysis, put together faster — whether or not you ever use this tool.</a:t>
            </a:r>
          </a:p>
        </p:txBody>
      </p:sp>
      <p:sp>
        <p:nvSpPr>
          <p:cNvPr id="4" name="Rounded Rectangle 3"/>
          <p:cNvSpPr/>
          <p:nvPr/>
        </p:nvSpPr>
        <p:spPr>
          <a:xfrm>
            <a:off x="566928" y="2057400"/>
            <a:ext cx="5029200" cy="3611880"/>
          </a:xfrm>
          <a:prstGeom prst="roundRect">
            <a:avLst>
              <a:gd name="adj" fmla="val 5000"/>
            </a:avLst>
          </a:prstGeom>
          <a:solidFill>
            <a:srgbClr val="ECFDF5"/>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57400"/>
            <a:ext cx="128016" cy="36118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2286000"/>
            <a:ext cx="1828800" cy="868680"/>
          </a:xfrm>
          <a:prstGeom prst="rect">
            <a:avLst/>
          </a:prstGeom>
          <a:noFill/>
        </p:spPr>
        <p:txBody>
          <a:bodyPr wrap="square" lIns="0" tIns="0" rIns="0" bIns="0" anchor="t">
            <a:spAutoFit/>
          </a:bodyPr>
          <a:lstStyle/>
          <a:p>
            <a:pPr algn="l">
              <a:lnSpc>
                <a:spcPct val="100000"/>
              </a:lnSpc>
            </a:pPr>
            <a:r>
              <a:rPr sz="4400" b="1" i="0">
                <a:solidFill>
                  <a:srgbClr val="5EEAD4"/>
                </a:solidFill>
                <a:latin typeface="Arial"/>
              </a:rPr>
              <a:t>01</a:t>
            </a:r>
          </a:p>
        </p:txBody>
      </p:sp>
      <p:sp>
        <p:nvSpPr>
          <p:cNvPr id="7" name="TextBox 6"/>
          <p:cNvSpPr txBox="1"/>
          <p:nvPr/>
        </p:nvSpPr>
        <p:spPr>
          <a:xfrm>
            <a:off x="978408" y="3246120"/>
            <a:ext cx="4297680" cy="548640"/>
          </a:xfrm>
          <a:prstGeom prst="rect">
            <a:avLst/>
          </a:prstGeom>
          <a:noFill/>
        </p:spPr>
        <p:txBody>
          <a:bodyPr wrap="square" lIns="0" tIns="0" rIns="0" bIns="0" anchor="t">
            <a:spAutoFit/>
          </a:bodyPr>
          <a:lstStyle/>
          <a:p>
            <a:pPr algn="l">
              <a:lnSpc>
                <a:spcPct val="100000"/>
              </a:lnSpc>
            </a:pPr>
            <a:r>
              <a:rPr sz="2200" b="1" i="0">
                <a:solidFill>
                  <a:srgbClr val="14233A"/>
                </a:solidFill>
                <a:latin typeface="Arial"/>
              </a:rPr>
              <a:t>A regression workflow</a:t>
            </a:r>
          </a:p>
        </p:txBody>
      </p:sp>
      <p:sp>
        <p:nvSpPr>
          <p:cNvPr id="8" name="TextBox 7"/>
          <p:cNvSpPr txBox="1"/>
          <p:nvPr/>
        </p:nvSpPr>
        <p:spPr>
          <a:xfrm>
            <a:off x="978408" y="3886200"/>
            <a:ext cx="4297680" cy="1554480"/>
          </a:xfrm>
          <a:prstGeom prst="rect">
            <a:avLst/>
          </a:prstGeom>
          <a:noFill/>
        </p:spPr>
        <p:txBody>
          <a:bodyPr wrap="square" lIns="0" tIns="0" rIns="0" bIns="0" anchor="t">
            <a:spAutoFit/>
          </a:bodyPr>
          <a:lstStyle/>
          <a:p>
            <a:pPr algn="l">
              <a:lnSpc>
                <a:spcPct val="108000"/>
              </a:lnSpc>
            </a:pPr>
            <a:r>
              <a:rPr sz="1450" b="0" i="0">
                <a:solidFill>
                  <a:srgbClr val="42566B"/>
                </a:solidFill>
                <a:latin typeface="Arial"/>
              </a:rPr>
              <a:t>From filtering and diagnostics through prediction with honest uncertainty — using nothing but Excel formulas. The goal is a defensible analysis, assembled faster.</a:t>
            </a:r>
          </a:p>
        </p:txBody>
      </p:sp>
      <p:sp>
        <p:nvSpPr>
          <p:cNvPr id="9" name="Rounded Rectangle 8"/>
          <p:cNvSpPr/>
          <p:nvPr/>
        </p:nvSpPr>
        <p:spPr>
          <a:xfrm>
            <a:off x="6007608" y="2057400"/>
            <a:ext cx="5029200" cy="361188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07608" y="2057400"/>
            <a:ext cx="128016" cy="36118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286000"/>
            <a:ext cx="1828800" cy="868680"/>
          </a:xfrm>
          <a:prstGeom prst="rect">
            <a:avLst/>
          </a:prstGeom>
          <a:noFill/>
        </p:spPr>
        <p:txBody>
          <a:bodyPr wrap="square" lIns="0" tIns="0" rIns="0" bIns="0" anchor="t">
            <a:spAutoFit/>
          </a:bodyPr>
          <a:lstStyle/>
          <a:p>
            <a:pPr algn="l">
              <a:lnSpc>
                <a:spcPct val="100000"/>
              </a:lnSpc>
            </a:pPr>
            <a:r>
              <a:rPr sz="4400" b="1" i="0">
                <a:solidFill>
                  <a:srgbClr val="D4B36A"/>
                </a:solidFill>
                <a:latin typeface="Arial"/>
              </a:rPr>
              <a:t>02</a:t>
            </a:r>
          </a:p>
        </p:txBody>
      </p:sp>
      <p:sp>
        <p:nvSpPr>
          <p:cNvPr id="12" name="TextBox 11"/>
          <p:cNvSpPr txBox="1"/>
          <p:nvPr/>
        </p:nvSpPr>
        <p:spPr>
          <a:xfrm>
            <a:off x="6419088" y="3246120"/>
            <a:ext cx="4297680" cy="548640"/>
          </a:xfrm>
          <a:prstGeom prst="rect">
            <a:avLst/>
          </a:prstGeom>
          <a:noFill/>
        </p:spPr>
        <p:txBody>
          <a:bodyPr wrap="square" lIns="0" tIns="0" rIns="0" bIns="0" anchor="t">
            <a:spAutoFit/>
          </a:bodyPr>
          <a:lstStyle/>
          <a:p>
            <a:pPr algn="l">
              <a:lnSpc>
                <a:spcPct val="100000"/>
              </a:lnSpc>
            </a:pPr>
            <a:r>
              <a:rPr sz="2200" b="1" i="0">
                <a:solidFill>
                  <a:srgbClr val="14233A"/>
                </a:solidFill>
                <a:latin typeface="Arial"/>
              </a:rPr>
              <a:t>Three Excel techniques</a:t>
            </a:r>
          </a:p>
        </p:txBody>
      </p:sp>
      <p:sp>
        <p:nvSpPr>
          <p:cNvPr id="13" name="TextBox 12"/>
          <p:cNvSpPr txBox="1"/>
          <p:nvPr/>
        </p:nvSpPr>
        <p:spPr>
          <a:xfrm>
            <a:off x="6419088" y="3886200"/>
            <a:ext cx="4297680" cy="1554480"/>
          </a:xfrm>
          <a:prstGeom prst="rect">
            <a:avLst/>
          </a:prstGeom>
          <a:noFill/>
        </p:spPr>
        <p:txBody>
          <a:bodyPr wrap="square" lIns="0" tIns="0" rIns="0" bIns="0" anchor="t">
            <a:spAutoFit/>
          </a:bodyPr>
          <a:lstStyle/>
          <a:p>
            <a:pPr algn="l">
              <a:lnSpc>
                <a:spcPct val="108000"/>
              </a:lnSpc>
            </a:pPr>
            <a:r>
              <a:rPr sz="1450" b="0" i="0">
                <a:solidFill>
                  <a:srgbClr val="42566B"/>
                </a:solidFill>
                <a:latin typeface="Arial"/>
              </a:rPr>
              <a:t>Structured references, dynamic arrays, and LAMBDA — general-purpose skills that improve any quantitative work in Excel.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Tradeoffs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Every approach has strengths. Here's the honest comparison.</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021E42"/>
                    </a:solidFill>
                  </a:tcPr>
                </a:tc>
                <a:tc>
                  <a:txBody>
                    <a:bodyPr/>
                    <a:lstStyle/>
                    <a:p>
                      <a:pPr algn="ctr"/>
                      <a:r>
                        <a:rPr sz="1200" b="1">
                          <a:solidFill>
                            <a:srgbClr val="FFFFFF"/>
                          </a:solidFill>
                          <a:latin typeface="Arial"/>
                        </a:rPr>
                        <a:t>Deployable
here</a:t>
                      </a:r>
                    </a:p>
                  </a:txBody>
                  <a:tcPr anchor="ctr">
                    <a:solidFill>
                      <a:srgbClr val="021E42"/>
                    </a:solidFill>
                  </a:tcPr>
                </a:tc>
                <a:tc>
                  <a:txBody>
                    <a:bodyPr/>
                    <a:lstStyle/>
                    <a:p>
                      <a:pPr algn="ctr"/>
                      <a:r>
                        <a:rPr sz="1200" b="1">
                          <a:solidFill>
                            <a:srgbClr val="FFFFFF"/>
                          </a:solidFill>
                          <a:latin typeface="Arial"/>
                        </a:rPr>
                        <a:t>Power</a:t>
                      </a:r>
                    </a:p>
                  </a:txBody>
                  <a:tcPr anchor="ctr">
                    <a:solidFill>
                      <a:srgbClr val="021E42"/>
                    </a:solidFill>
                  </a:tcPr>
                </a:tc>
                <a:tc>
                  <a:txBody>
                    <a:bodyPr/>
                    <a:lstStyle/>
                    <a:p>
                      <a:pPr algn="ctr"/>
                      <a:r>
                        <a:rPr sz="1200" b="1">
                          <a:solidFill>
                            <a:srgbClr val="FFFFFF"/>
                          </a:solidFill>
                          <a:latin typeface="Arial"/>
                        </a:rPr>
                        <a:t>Dynamic</a:t>
                      </a:r>
                    </a:p>
                  </a:txBody>
                  <a:tcPr anchor="ctr">
                    <a:solidFill>
                      <a:srgbClr val="021E42"/>
                    </a:solidFill>
                  </a:tcPr>
                </a:tc>
                <a:tc>
                  <a:txBody>
                    <a:bodyPr/>
                    <a:lstStyle/>
                    <a:p>
                      <a:pPr algn="ctr"/>
                      <a:r>
                        <a:rPr sz="1200" b="1">
                          <a:solidFill>
                            <a:srgbClr val="FFFFFF"/>
                          </a:solidFill>
                          <a:latin typeface="Arial"/>
                        </a:rPr>
                        <a:t>Traceability</a:t>
                      </a:r>
                    </a:p>
                  </a:txBody>
                  <a:tcPr anchor="ctr">
                    <a:solidFill>
                      <a:srgbClr val="021E42"/>
                    </a:solidFill>
                  </a:tcPr>
                </a:tc>
                <a:tc>
                  <a:txBody>
                    <a:bodyPr/>
                    <a:lstStyle/>
                    <a:p>
                      <a:pPr algn="ctr"/>
                      <a:r>
                        <a:rPr sz="1200" b="1">
                          <a:solidFill>
                            <a:srgbClr val="FFFFFF"/>
                          </a:solidFill>
                          <a:latin typeface="Arial"/>
                        </a:rPr>
                        <a:t>Handoff</a:t>
                      </a:r>
                    </a:p>
                  </a:txBody>
                  <a:tcPr anchor="ctr">
                    <a:solidFill>
                      <a:srgbClr val="021E42"/>
                    </a:solidFill>
                  </a:tcPr>
                </a:tc>
                <a:extLst>
                  <a:ext uri="{0D108BD9-81ED-4DB2-BD59-A6C34878D82A}">
                    <a16:rowId xmlns:a16="http://schemas.microsoft.com/office/drawing/2014/main" val="10000"/>
                  </a:ext>
                </a:extLst>
              </a:tr>
              <a:tr h="685800">
                <a:tc>
                  <a:txBody>
                    <a:bodyPr/>
                    <a:lstStyle/>
                    <a:p>
                      <a:r>
                        <a:rPr sz="1400" b="0">
                          <a:solidFill>
                            <a:srgbClr val="42566B"/>
                          </a:solidFill>
                          <a:latin typeface="Arial"/>
                        </a:rPr>
                        <a:t>Analysis ToolPak</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a:solidFill>
                            <a:srgbClr val="9AA8B5"/>
                          </a:solidFill>
                          <a:latin typeface="Arial"/>
                        </a:rPr>
                        <a:t>—</a:t>
                      </a:r>
                    </a:p>
                  </a:txBody>
                  <a:tcPr anchor="ctr">
                    <a:solidFill>
                      <a:srgbClr val="FFFFFF"/>
                    </a:solidFill>
                  </a:tcPr>
                </a:tc>
                <a:tc>
                  <a:txBody>
                    <a:bodyPr/>
                    <a:lstStyle/>
                    <a:p>
                      <a:pPr algn="ctr"/>
                      <a:r>
                        <a:rPr sz="2000">
                          <a:solidFill>
                            <a:srgbClr val="9AA8B5"/>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extLst>
                  <a:ext uri="{0D108BD9-81ED-4DB2-BD59-A6C34878D82A}">
                    <a16:rowId xmlns:a16="http://schemas.microsoft.com/office/drawing/2014/main" val="10001"/>
                  </a:ext>
                </a:extLst>
              </a:tr>
              <a:tr h="685800">
                <a:tc>
                  <a:txBody>
                    <a:bodyPr/>
                    <a:lstStyle/>
                    <a:p>
                      <a:r>
                        <a:rPr sz="1400" b="0" dirty="0">
                          <a:solidFill>
                            <a:srgbClr val="42566B"/>
                          </a:solidFill>
                          <a:latin typeface="Arial"/>
                        </a:rPr>
                        <a:t>Code  (R / Python / VBA)</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0D9488"/>
                          </a:solidFill>
                          <a:latin typeface="Arial"/>
                        </a:rPr>
                        <a:t>●</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9AA8B5"/>
                          </a:solidFill>
                          <a:latin typeface="Arial"/>
                        </a:rPr>
                        <a:t>—</a:t>
                      </a:r>
                    </a:p>
                  </a:txBody>
                  <a:tcPr anchor="ctr">
                    <a:solidFill>
                      <a:srgbClr val="F0F5FA"/>
                    </a:solidFill>
                  </a:tcPr>
                </a:tc>
                <a:extLst>
                  <a:ext uri="{0D108BD9-81ED-4DB2-BD59-A6C34878D82A}">
                    <a16:rowId xmlns:a16="http://schemas.microsoft.com/office/drawing/2014/main" val="10002"/>
                  </a:ext>
                </a:extLst>
              </a:tr>
              <a:tr h="685800">
                <a:tc>
                  <a:txBody>
                    <a:bodyPr/>
                    <a:lstStyle/>
                    <a:p>
                      <a:r>
                        <a:rPr sz="1400" b="1">
                          <a:solidFill>
                            <a:srgbClr val="14233A"/>
                          </a:solidFill>
                          <a:latin typeface="Arial"/>
                        </a:rPr>
                        <a:t>This library</a:t>
                      </a:r>
                    </a:p>
                  </a:txBody>
                  <a:tcPr anchor="ctr">
                    <a:solidFill>
                      <a:srgbClr val="FFFFFF"/>
                    </a:solidFill>
                  </a:tcPr>
                </a:tc>
                <a:tc>
                  <a:txBody>
                    <a:bodyPr/>
                    <a:lstStyle/>
                    <a:p>
                      <a:pPr algn="ctr"/>
                      <a:r>
                        <a:rPr sz="2000" dirty="0">
                          <a:solidFill>
                            <a:srgbClr val="0D9488"/>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dirty="0">
                          <a:solidFill>
                            <a:srgbClr val="0D9488"/>
                          </a:solidFill>
                          <a:latin typeface="Arial"/>
                        </a:rPr>
                        <a:t>●</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0D9488"/>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A8B5"/>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limited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Live Demo</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0A7A70"/>
                </a:solidFill>
                <a:latin typeface="Arial"/>
              </a:rPr>
              <a:t>Lambda_Library.xlsx  →  Regression sheet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Look before you model</a:t>
            </a:r>
          </a:p>
        </p:txBody>
      </p:sp>
      <p:sp>
        <p:nvSpPr>
          <p:cNvPr id="3" name="Rounded Rectangle 2"/>
          <p:cNvSpPr/>
          <p:nvPr/>
        </p:nvSpPr>
        <p:spPr>
          <a:xfrm>
            <a:off x="566928"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sp>
        <p:nvSpPr>
          <p:cNvPr id="15" name="Rectangle 14"/>
          <p:cNvSpPr/>
          <p:nvPr/>
        </p:nvSpPr>
        <p:spPr>
          <a:xfrm>
            <a:off x="566928" y="2048256"/>
            <a:ext cx="91440" cy="7498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011680"/>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Pearson R</a:t>
            </a:r>
          </a:p>
        </p:txBody>
      </p:sp>
      <p:sp>
        <p:nvSpPr>
          <p:cNvPr id="17" name="TextBox 16"/>
          <p:cNvSpPr txBox="1"/>
          <p:nvPr/>
        </p:nvSpPr>
        <p:spPr>
          <a:xfrm>
            <a:off x="3081528" y="2011680"/>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straight-line strength vs. target</a:t>
            </a:r>
          </a:p>
        </p:txBody>
      </p:sp>
      <p:sp>
        <p:nvSpPr>
          <p:cNvPr id="18" name="Rectangle 17"/>
          <p:cNvSpPr/>
          <p:nvPr/>
        </p:nvSpPr>
        <p:spPr>
          <a:xfrm>
            <a:off x="6099048" y="2048256"/>
            <a:ext cx="91440" cy="7498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11680"/>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Spearman R</a:t>
            </a:r>
          </a:p>
        </p:txBody>
      </p:sp>
      <p:sp>
        <p:nvSpPr>
          <p:cNvPr id="20" name="TextBox 19"/>
          <p:cNvSpPr txBox="1"/>
          <p:nvPr/>
        </p:nvSpPr>
        <p:spPr>
          <a:xfrm>
            <a:off x="8613648" y="2011680"/>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any consistent up/down relationship</a:t>
            </a:r>
          </a:p>
        </p:txBody>
      </p:sp>
      <p:sp>
        <p:nvSpPr>
          <p:cNvPr id="21" name="Rectangle 20"/>
          <p:cNvSpPr/>
          <p:nvPr/>
        </p:nvSpPr>
        <p:spPr>
          <a:xfrm>
            <a:off x="566928" y="3072384"/>
            <a:ext cx="91440" cy="74980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035808"/>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Skewness</a:t>
            </a:r>
          </a:p>
        </p:txBody>
      </p:sp>
      <p:sp>
        <p:nvSpPr>
          <p:cNvPr id="23" name="TextBox 22"/>
          <p:cNvSpPr txBox="1"/>
          <p:nvPr/>
        </p:nvSpPr>
        <p:spPr>
          <a:xfrm>
            <a:off x="3081528" y="3035808"/>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shape — the cue to log-transform</a:t>
            </a:r>
          </a:p>
        </p:txBody>
      </p:sp>
      <p:sp>
        <p:nvSpPr>
          <p:cNvPr id="24" name="Rectangle 23"/>
          <p:cNvSpPr/>
          <p:nvPr/>
        </p:nvSpPr>
        <p:spPr>
          <a:xfrm>
            <a:off x="6099048" y="3072384"/>
            <a:ext cx="91440" cy="74980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3035808"/>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Kurtosis</a:t>
            </a:r>
          </a:p>
        </p:txBody>
      </p:sp>
      <p:sp>
        <p:nvSpPr>
          <p:cNvPr id="26" name="TextBox 25"/>
          <p:cNvSpPr txBox="1"/>
          <p:nvPr/>
        </p:nvSpPr>
        <p:spPr>
          <a:xfrm>
            <a:off x="8613648" y="3035808"/>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tails / outlier-proneness</a:t>
            </a:r>
          </a:p>
        </p:txBody>
      </p:sp>
      <p:sp>
        <p:nvSpPr>
          <p:cNvPr id="27" name="Rectangle 26"/>
          <p:cNvSpPr/>
          <p:nvPr/>
        </p:nvSpPr>
        <p:spPr>
          <a:xfrm>
            <a:off x="56692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4059936"/>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VIF</a:t>
            </a:r>
          </a:p>
        </p:txBody>
      </p:sp>
      <p:sp>
        <p:nvSpPr>
          <p:cNvPr id="29" name="TextBox 28"/>
          <p:cNvSpPr txBox="1"/>
          <p:nvPr/>
        </p:nvSpPr>
        <p:spPr>
          <a:xfrm>
            <a:off x="3081528" y="4059936"/>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overlap with the other predictors</a:t>
            </a:r>
          </a:p>
        </p:txBody>
      </p:sp>
      <p:sp>
        <p:nvSpPr>
          <p:cNvPr id="30" name="Rectangle 29"/>
          <p:cNvSpPr/>
          <p:nvPr/>
        </p:nvSpPr>
        <p:spPr>
          <a:xfrm>
            <a:off x="609904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4059936"/>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Tolerance</a:t>
            </a:r>
          </a:p>
        </p:txBody>
      </p:sp>
      <p:sp>
        <p:nvSpPr>
          <p:cNvPr id="32" name="TextBox 31"/>
          <p:cNvSpPr txBox="1"/>
          <p:nvPr/>
        </p:nvSpPr>
        <p:spPr>
          <a:xfrm>
            <a:off x="8613648" y="4059936"/>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1 / VIF — unique information</a:t>
            </a:r>
          </a:p>
        </p:txBody>
      </p:sp>
      <p:sp>
        <p:nvSpPr>
          <p:cNvPr id="33" name="Rounded Rectangle 32"/>
          <p:cNvSpPr/>
          <p:nvPr/>
        </p:nvSpPr>
        <p:spPr>
          <a:xfrm>
            <a:off x="566928" y="5349240"/>
            <a:ext cx="11055096" cy="548640"/>
          </a:xfrm>
          <a:prstGeom prst="roundRect">
            <a:avLst>
              <a:gd name="adj" fmla="val 6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7" y="5349240"/>
            <a:ext cx="10607040" cy="548640"/>
          </a:xfrm>
          <a:prstGeom prst="rect">
            <a:avLst/>
          </a:prstGeom>
          <a:noFill/>
        </p:spPr>
        <p:txBody>
          <a:bodyPr wrap="square" lIns="0" tIns="0" rIns="0" bIns="0" anchor="ctr">
            <a:spAutoFit/>
          </a:bodyPr>
          <a:lstStyle/>
          <a:p>
            <a:pPr algn="l">
              <a:lnSpc>
                <a:spcPct val="100000"/>
              </a:lnSpc>
            </a:pPr>
            <a:r>
              <a:rPr sz="1250" b="1" i="0">
                <a:solidFill>
                  <a:srgbClr val="0A7A70"/>
                </a:solidFill>
                <a:latin typeface="Arial"/>
              </a:rPr>
              <a:t>Reading it:  </a:t>
            </a:r>
            <a:r>
              <a:rPr sz="1250" b="0" i="0">
                <a:solidFill>
                  <a:srgbClr val="42566B"/>
                </a:solidFill>
                <a:latin typeface="Arial"/>
              </a:rPr>
              <a:t>Adult mortality ≈ −0.70 (top driver)   ·   Pearson vs Spearman split → nonlinear   ·   several drivers skew &gt; 4 → log candidates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Fit, with confidence intervals</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=Coefficients(</a:t>
            </a:r>
            <a:r>
              <a:rPr sz="1150" b="1" i="0">
                <a:solidFill>
                  <a:srgbClr val="0D9488"/>
                </a:solidFill>
                <a:latin typeface="Consolas"/>
              </a:rPr>
              <a:t>x_s, y, Allow_Intercept, Full_Data</a:t>
            </a:r>
            <a:r>
              <a:rPr sz="1150" b="0" i="0">
                <a:solidFill>
                  <a:srgbClr val="42566B"/>
                </a:solidFill>
                <a:latin typeface="Consolas"/>
              </a:rPr>
              <a:t>)   →   estimate, std error, t, p, 95% CI</a:t>
            </a:r>
          </a:p>
        </p:txBody>
      </p:sp>
      <p:sp>
        <p:nvSpPr>
          <p:cNvPr id="19" name="TextBox 18"/>
          <p:cNvSpPr txBox="1"/>
          <p:nvPr/>
        </p:nvSpPr>
        <p:spPr>
          <a:xfrm>
            <a:off x="566928" y="2743200"/>
            <a:ext cx="3383280" cy="365760"/>
          </a:xfrm>
          <a:prstGeom prst="rect">
            <a:avLst/>
          </a:prstGeom>
          <a:noFill/>
        </p:spPr>
        <p:txBody>
          <a:bodyPr wrap="square" lIns="0" tIns="0" rIns="0" bIns="0" anchor="t">
            <a:spAutoFit/>
          </a:bodyPr>
          <a:lstStyle/>
          <a:p>
            <a:pPr algn="l">
              <a:lnSpc>
                <a:spcPct val="100000"/>
              </a:lnSpc>
            </a:pPr>
            <a:r>
              <a:rPr sz="1250" b="1" i="0">
                <a:solidFill>
                  <a:srgbClr val="6B7C8C"/>
                </a:solidFill>
                <a:latin typeface="Arial"/>
              </a:rPr>
              <a:t>Driver</a:t>
            </a:r>
          </a:p>
        </p:txBody>
      </p:sp>
      <p:sp>
        <p:nvSpPr>
          <p:cNvPr id="20" name="TextBox 19"/>
          <p:cNvSpPr txBox="1"/>
          <p:nvPr/>
        </p:nvSpPr>
        <p:spPr>
          <a:xfrm>
            <a:off x="3950208" y="2743200"/>
            <a:ext cx="1463040" cy="365760"/>
          </a:xfrm>
          <a:prstGeom prst="rect">
            <a:avLst/>
          </a:prstGeom>
          <a:noFill/>
        </p:spPr>
        <p:txBody>
          <a:bodyPr wrap="square" lIns="0" tIns="0" rIns="0" bIns="0" anchor="t">
            <a:spAutoFit/>
          </a:bodyPr>
          <a:lstStyle/>
          <a:p>
            <a:pPr algn="r">
              <a:lnSpc>
                <a:spcPct val="100000"/>
              </a:lnSpc>
            </a:pPr>
            <a:r>
              <a:rPr sz="1250" b="1" i="0">
                <a:solidFill>
                  <a:srgbClr val="6B7C8C"/>
                </a:solidFill>
                <a:latin typeface="Arial"/>
              </a:rPr>
              <a:t>Coef</a:t>
            </a:r>
          </a:p>
        </p:txBody>
      </p:sp>
      <p:sp>
        <p:nvSpPr>
          <p:cNvPr id="21" name="TextBox 20"/>
          <p:cNvSpPr txBox="1"/>
          <p:nvPr/>
        </p:nvSpPr>
        <p:spPr>
          <a:xfrm>
            <a:off x="5413248" y="2743200"/>
            <a:ext cx="1371600" cy="365760"/>
          </a:xfrm>
          <a:prstGeom prst="rect">
            <a:avLst/>
          </a:prstGeom>
          <a:noFill/>
        </p:spPr>
        <p:txBody>
          <a:bodyPr wrap="square" lIns="0" tIns="0" rIns="0" bIns="0" anchor="t">
            <a:spAutoFit/>
          </a:bodyPr>
          <a:lstStyle/>
          <a:p>
            <a:pPr algn="r">
              <a:lnSpc>
                <a:spcPct val="100000"/>
              </a:lnSpc>
            </a:pPr>
            <a:r>
              <a:rPr sz="1250" b="1" i="0">
                <a:solidFill>
                  <a:srgbClr val="6B7C8C"/>
                </a:solidFill>
                <a:latin typeface="Arial"/>
              </a:rPr>
              <a:t>Std Err</a:t>
            </a:r>
          </a:p>
        </p:txBody>
      </p:sp>
      <p:sp>
        <p:nvSpPr>
          <p:cNvPr id="22" name="TextBox 21"/>
          <p:cNvSpPr txBox="1"/>
          <p:nvPr/>
        </p:nvSpPr>
        <p:spPr>
          <a:xfrm>
            <a:off x="6784848" y="2743200"/>
            <a:ext cx="1280160" cy="365760"/>
          </a:xfrm>
          <a:prstGeom prst="rect">
            <a:avLst/>
          </a:prstGeom>
          <a:noFill/>
        </p:spPr>
        <p:txBody>
          <a:bodyPr wrap="square" lIns="0" tIns="0" rIns="0" bIns="0" anchor="t">
            <a:spAutoFit/>
          </a:bodyPr>
          <a:lstStyle/>
          <a:p>
            <a:pPr algn="r">
              <a:lnSpc>
                <a:spcPct val="100000"/>
              </a:lnSpc>
            </a:pPr>
            <a:r>
              <a:rPr sz="1250" b="1" i="0">
                <a:solidFill>
                  <a:srgbClr val="6B7C8C"/>
                </a:solidFill>
                <a:latin typeface="Arial"/>
              </a:rPr>
              <a:t>t</a:t>
            </a:r>
          </a:p>
        </p:txBody>
      </p:sp>
      <p:sp>
        <p:nvSpPr>
          <p:cNvPr id="23" name="TextBox 22"/>
          <p:cNvSpPr txBox="1"/>
          <p:nvPr/>
        </p:nvSpPr>
        <p:spPr>
          <a:xfrm>
            <a:off x="8065007" y="2743200"/>
            <a:ext cx="1463040" cy="365760"/>
          </a:xfrm>
          <a:prstGeom prst="rect">
            <a:avLst/>
          </a:prstGeom>
          <a:noFill/>
        </p:spPr>
        <p:txBody>
          <a:bodyPr wrap="square" lIns="0" tIns="0" rIns="0" bIns="0" anchor="t">
            <a:spAutoFit/>
          </a:bodyPr>
          <a:lstStyle/>
          <a:p>
            <a:pPr algn="r">
              <a:lnSpc>
                <a:spcPct val="100000"/>
              </a:lnSpc>
            </a:pPr>
            <a:r>
              <a:rPr sz="1250" b="1" i="0">
                <a:solidFill>
                  <a:srgbClr val="6B7C8C"/>
                </a:solidFill>
                <a:latin typeface="Arial"/>
              </a:rPr>
              <a:t>p</a:t>
            </a:r>
          </a:p>
        </p:txBody>
      </p:sp>
      <p:sp>
        <p:nvSpPr>
          <p:cNvPr id="24" name="Rectangle 23"/>
          <p:cNvSpPr/>
          <p:nvPr/>
        </p:nvSpPr>
        <p:spPr>
          <a:xfrm>
            <a:off x="566928" y="3154680"/>
            <a:ext cx="8961120"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209544"/>
            <a:ext cx="3383280" cy="457200"/>
          </a:xfrm>
          <a:prstGeom prst="rect">
            <a:avLst/>
          </a:prstGeom>
          <a:noFill/>
        </p:spPr>
        <p:txBody>
          <a:bodyPr wrap="square" lIns="0" tIns="0" rIns="0" bIns="0" anchor="ctr">
            <a:spAutoFit/>
          </a:bodyPr>
          <a:lstStyle/>
          <a:p>
            <a:pPr algn="l">
              <a:lnSpc>
                <a:spcPct val="100000"/>
              </a:lnSpc>
            </a:pPr>
            <a:r>
              <a:rPr sz="1300" b="1" i="0">
                <a:solidFill>
                  <a:srgbClr val="14233A"/>
                </a:solidFill>
                <a:latin typeface="Arial"/>
              </a:rPr>
              <a:t>Intercept</a:t>
            </a:r>
          </a:p>
        </p:txBody>
      </p:sp>
      <p:sp>
        <p:nvSpPr>
          <p:cNvPr id="26" name="TextBox 25"/>
          <p:cNvSpPr txBox="1"/>
          <p:nvPr/>
        </p:nvSpPr>
        <p:spPr>
          <a:xfrm>
            <a:off x="3950208" y="3209544"/>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52.08</a:t>
            </a:r>
          </a:p>
        </p:txBody>
      </p:sp>
      <p:sp>
        <p:nvSpPr>
          <p:cNvPr id="27" name="TextBox 26"/>
          <p:cNvSpPr txBox="1"/>
          <p:nvPr/>
        </p:nvSpPr>
        <p:spPr>
          <a:xfrm>
            <a:off x="5413248" y="3209544"/>
            <a:ext cx="137160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0.73</a:t>
            </a:r>
          </a:p>
        </p:txBody>
      </p:sp>
      <p:sp>
        <p:nvSpPr>
          <p:cNvPr id="28" name="TextBox 27"/>
          <p:cNvSpPr txBox="1"/>
          <p:nvPr/>
        </p:nvSpPr>
        <p:spPr>
          <a:xfrm>
            <a:off x="6784848" y="3209544"/>
            <a:ext cx="128016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70.9</a:t>
            </a:r>
          </a:p>
        </p:txBody>
      </p:sp>
      <p:sp>
        <p:nvSpPr>
          <p:cNvPr id="29" name="TextBox 28"/>
          <p:cNvSpPr txBox="1"/>
          <p:nvPr/>
        </p:nvSpPr>
        <p:spPr>
          <a:xfrm>
            <a:off x="8065007" y="3209544"/>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&lt; .0001</a:t>
            </a:r>
          </a:p>
        </p:txBody>
      </p:sp>
      <p:sp>
        <p:nvSpPr>
          <p:cNvPr id="30" name="Rectangle 29"/>
          <p:cNvSpPr/>
          <p:nvPr/>
        </p:nvSpPr>
        <p:spPr>
          <a:xfrm>
            <a:off x="566928" y="3648456"/>
            <a:ext cx="8961120"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3703320"/>
            <a:ext cx="3383280" cy="457200"/>
          </a:xfrm>
          <a:prstGeom prst="rect">
            <a:avLst/>
          </a:prstGeom>
          <a:noFill/>
        </p:spPr>
        <p:txBody>
          <a:bodyPr wrap="square" lIns="0" tIns="0" rIns="0" bIns="0" anchor="ctr">
            <a:spAutoFit/>
          </a:bodyPr>
          <a:lstStyle/>
          <a:p>
            <a:pPr algn="l">
              <a:lnSpc>
                <a:spcPct val="100000"/>
              </a:lnSpc>
            </a:pPr>
            <a:r>
              <a:rPr sz="1300" b="1" i="0">
                <a:solidFill>
                  <a:srgbClr val="14233A"/>
                </a:solidFill>
                <a:latin typeface="Arial"/>
              </a:rPr>
              <a:t>Adult Mortality</a:t>
            </a:r>
          </a:p>
        </p:txBody>
      </p:sp>
      <p:sp>
        <p:nvSpPr>
          <p:cNvPr id="32" name="TextBox 31"/>
          <p:cNvSpPr txBox="1"/>
          <p:nvPr/>
        </p:nvSpPr>
        <p:spPr>
          <a:xfrm>
            <a:off x="3950208" y="3703320"/>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−0.0179</a:t>
            </a:r>
          </a:p>
        </p:txBody>
      </p:sp>
      <p:sp>
        <p:nvSpPr>
          <p:cNvPr id="33" name="TextBox 32"/>
          <p:cNvSpPr txBox="1"/>
          <p:nvPr/>
        </p:nvSpPr>
        <p:spPr>
          <a:xfrm>
            <a:off x="5413248" y="3703320"/>
            <a:ext cx="137160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0.0010</a:t>
            </a:r>
          </a:p>
        </p:txBody>
      </p:sp>
      <p:sp>
        <p:nvSpPr>
          <p:cNvPr id="34" name="TextBox 33"/>
          <p:cNvSpPr txBox="1"/>
          <p:nvPr/>
        </p:nvSpPr>
        <p:spPr>
          <a:xfrm>
            <a:off x="6784848" y="3703320"/>
            <a:ext cx="128016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−18.6</a:t>
            </a:r>
          </a:p>
        </p:txBody>
      </p:sp>
      <p:sp>
        <p:nvSpPr>
          <p:cNvPr id="35" name="TextBox 34"/>
          <p:cNvSpPr txBox="1"/>
          <p:nvPr/>
        </p:nvSpPr>
        <p:spPr>
          <a:xfrm>
            <a:off x="8065007" y="3703320"/>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&lt; .0001</a:t>
            </a:r>
          </a:p>
        </p:txBody>
      </p:sp>
      <p:sp>
        <p:nvSpPr>
          <p:cNvPr id="36" name="Rectangle 35"/>
          <p:cNvSpPr/>
          <p:nvPr/>
        </p:nvSpPr>
        <p:spPr>
          <a:xfrm>
            <a:off x="566928" y="4142232"/>
            <a:ext cx="8961120"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4197096"/>
            <a:ext cx="3383280" cy="457200"/>
          </a:xfrm>
          <a:prstGeom prst="rect">
            <a:avLst/>
          </a:prstGeom>
          <a:noFill/>
        </p:spPr>
        <p:txBody>
          <a:bodyPr wrap="square" lIns="0" tIns="0" rIns="0" bIns="0" anchor="ctr">
            <a:spAutoFit/>
          </a:bodyPr>
          <a:lstStyle/>
          <a:p>
            <a:pPr algn="l">
              <a:lnSpc>
                <a:spcPct val="100000"/>
              </a:lnSpc>
            </a:pPr>
            <a:r>
              <a:rPr sz="1300" b="1" i="0">
                <a:solidFill>
                  <a:srgbClr val="14233A"/>
                </a:solidFill>
                <a:latin typeface="Arial"/>
              </a:rPr>
              <a:t>Alcohol</a:t>
            </a:r>
          </a:p>
        </p:txBody>
      </p:sp>
      <p:sp>
        <p:nvSpPr>
          <p:cNvPr id="38" name="TextBox 37"/>
          <p:cNvSpPr txBox="1"/>
          <p:nvPr/>
        </p:nvSpPr>
        <p:spPr>
          <a:xfrm>
            <a:off x="3950208" y="4197096"/>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−0.104</a:t>
            </a:r>
          </a:p>
        </p:txBody>
      </p:sp>
      <p:sp>
        <p:nvSpPr>
          <p:cNvPr id="39" name="TextBox 38"/>
          <p:cNvSpPr txBox="1"/>
          <p:nvPr/>
        </p:nvSpPr>
        <p:spPr>
          <a:xfrm>
            <a:off x="5413248" y="4197096"/>
            <a:ext cx="137160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0.031</a:t>
            </a:r>
          </a:p>
        </p:txBody>
      </p:sp>
      <p:sp>
        <p:nvSpPr>
          <p:cNvPr id="40" name="TextBox 39"/>
          <p:cNvSpPr txBox="1"/>
          <p:nvPr/>
        </p:nvSpPr>
        <p:spPr>
          <a:xfrm>
            <a:off x="6784848" y="4197096"/>
            <a:ext cx="128016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−3.37</a:t>
            </a:r>
          </a:p>
        </p:txBody>
      </p:sp>
      <p:sp>
        <p:nvSpPr>
          <p:cNvPr id="41" name="TextBox 40"/>
          <p:cNvSpPr txBox="1"/>
          <p:nvPr/>
        </p:nvSpPr>
        <p:spPr>
          <a:xfrm>
            <a:off x="8065007" y="4197096"/>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0.0008</a:t>
            </a:r>
          </a:p>
        </p:txBody>
      </p:sp>
      <p:sp>
        <p:nvSpPr>
          <p:cNvPr id="42" name="Rectangle 41"/>
          <p:cNvSpPr/>
          <p:nvPr/>
        </p:nvSpPr>
        <p:spPr>
          <a:xfrm>
            <a:off x="566928" y="4636008"/>
            <a:ext cx="8961120"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928" y="4690872"/>
            <a:ext cx="3383280" cy="457200"/>
          </a:xfrm>
          <a:prstGeom prst="rect">
            <a:avLst/>
          </a:prstGeom>
          <a:noFill/>
        </p:spPr>
        <p:txBody>
          <a:bodyPr wrap="square" lIns="0" tIns="0" rIns="0" bIns="0" anchor="ctr">
            <a:spAutoFit/>
          </a:bodyPr>
          <a:lstStyle/>
          <a:p>
            <a:pPr algn="l">
              <a:lnSpc>
                <a:spcPct val="100000"/>
              </a:lnSpc>
            </a:pPr>
            <a:r>
              <a:rPr sz="1300" b="1" i="0">
                <a:solidFill>
                  <a:srgbClr val="14233A"/>
                </a:solidFill>
                <a:latin typeface="Arial"/>
              </a:rPr>
              <a:t>percentage expenditure</a:t>
            </a:r>
          </a:p>
        </p:txBody>
      </p:sp>
      <p:sp>
        <p:nvSpPr>
          <p:cNvPr id="44" name="TextBox 43"/>
          <p:cNvSpPr txBox="1"/>
          <p:nvPr/>
        </p:nvSpPr>
        <p:spPr>
          <a:xfrm>
            <a:off x="3950208" y="4690872"/>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0.00045</a:t>
            </a:r>
          </a:p>
        </p:txBody>
      </p:sp>
      <p:sp>
        <p:nvSpPr>
          <p:cNvPr id="45" name="TextBox 44"/>
          <p:cNvSpPr txBox="1"/>
          <p:nvPr/>
        </p:nvSpPr>
        <p:spPr>
          <a:xfrm>
            <a:off x="5413248" y="4690872"/>
            <a:ext cx="137160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0.00006</a:t>
            </a:r>
          </a:p>
        </p:txBody>
      </p:sp>
      <p:sp>
        <p:nvSpPr>
          <p:cNvPr id="46" name="TextBox 45"/>
          <p:cNvSpPr txBox="1"/>
          <p:nvPr/>
        </p:nvSpPr>
        <p:spPr>
          <a:xfrm>
            <a:off x="6784848" y="4690872"/>
            <a:ext cx="128016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7.66</a:t>
            </a:r>
          </a:p>
        </p:txBody>
      </p:sp>
      <p:sp>
        <p:nvSpPr>
          <p:cNvPr id="47" name="TextBox 46"/>
          <p:cNvSpPr txBox="1"/>
          <p:nvPr/>
        </p:nvSpPr>
        <p:spPr>
          <a:xfrm>
            <a:off x="8065007" y="4690872"/>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&lt; .0001</a:t>
            </a:r>
          </a:p>
        </p:txBody>
      </p:sp>
      <p:sp>
        <p:nvSpPr>
          <p:cNvPr id="48" name="Rounded Rectangle 47"/>
          <p:cNvSpPr/>
          <p:nvPr/>
        </p:nvSpPr>
        <p:spPr>
          <a:xfrm>
            <a:off x="7818120" y="5029200"/>
            <a:ext cx="3822191" cy="86868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046720" y="5029200"/>
            <a:ext cx="3383280" cy="868680"/>
          </a:xfrm>
          <a:prstGeom prst="rect">
            <a:avLst/>
          </a:prstGeom>
          <a:noFill/>
        </p:spPr>
        <p:txBody>
          <a:bodyPr wrap="square" lIns="0" tIns="0" rIns="0" bIns="0" anchor="ctr">
            <a:spAutoFit/>
          </a:bodyPr>
          <a:lstStyle/>
          <a:p>
            <a:pPr algn="l">
              <a:lnSpc>
                <a:spcPct val="105000"/>
              </a:lnSpc>
            </a:pPr>
            <a:r>
              <a:rPr sz="1350" b="1" i="0">
                <a:solidFill>
                  <a:srgbClr val="B8860B"/>
                </a:solidFill>
                <a:latin typeface="Arial"/>
              </a:rPr>
              <a:t>Intercept switch → </a:t>
            </a:r>
            <a:r>
              <a:rPr sz="1350" b="0" i="0">
                <a:solidFill>
                  <a:srgbClr val="42566B"/>
                </a:solidFill>
                <a:latin typeface="Arial"/>
              </a:rPr>
              <a:t>whole table re-fits, live.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Trim collinearity — one toggle</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42566B"/>
                </a:solidFill>
                <a:latin typeface="Arial"/>
              </a:rPr>
              <a:t>When two drivers move together, the model can't separate their effects — the coefficients get unstable. VIF flags it; the toggle fixes it.</a:t>
            </a:r>
          </a:p>
        </p:txBody>
      </p:sp>
      <p:sp>
        <p:nvSpPr>
          <p:cNvPr id="16" name="Rounded Rectangle 15"/>
          <p:cNvSpPr/>
          <p:nvPr/>
        </p:nvSpPr>
        <p:spPr>
          <a:xfrm>
            <a:off x="566928" y="2743200"/>
            <a:ext cx="5029200" cy="2331720"/>
          </a:xfrm>
          <a:prstGeom prst="roundRect">
            <a:avLst>
              <a:gd name="adj" fmla="val 5000"/>
            </a:avLst>
          </a:prstGeom>
          <a:solidFill>
            <a:srgbClr val="FBF7F2"/>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14233A"/>
                </a:solidFill>
                <a:latin typeface="Arial"/>
              </a:rPr>
              <a:t>Before</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max VIF ≈ 7.6</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under-five deaths</a:t>
            </a:r>
          </a:p>
        </p:txBody>
      </p:sp>
      <p:sp>
        <p:nvSpPr>
          <p:cNvPr id="20" name="TextBox 19"/>
          <p:cNvSpPr txBox="1"/>
          <p:nvPr/>
        </p:nvSpPr>
        <p:spPr>
          <a:xfrm>
            <a:off x="3858768" y="376732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7.59</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GDP</a:t>
            </a:r>
          </a:p>
        </p:txBody>
      </p:sp>
      <p:sp>
        <p:nvSpPr>
          <p:cNvPr id="22" name="TextBox 21"/>
          <p:cNvSpPr txBox="1"/>
          <p:nvPr/>
        </p:nvSpPr>
        <p:spPr>
          <a:xfrm>
            <a:off x="3858768" y="417880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7.54</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thinness 5–9</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a:t>
            </a:r>
          </a:p>
        </p:txBody>
      </p:sp>
      <p:sp>
        <p:nvSpPr>
          <p:cNvPr id="25" name="Rounded Rectangle 24"/>
          <p:cNvSpPr/>
          <p:nvPr/>
        </p:nvSpPr>
        <p:spPr>
          <a:xfrm>
            <a:off x="6419088" y="2743200"/>
            <a:ext cx="5029200" cy="2331720"/>
          </a:xfrm>
          <a:prstGeom prst="roundRect">
            <a:avLst>
              <a:gd name="adj" fmla="val 5000"/>
            </a:avLst>
          </a:prstGeom>
          <a:solidFill>
            <a:srgbClr val="ECFDF5"/>
          </a:solidFill>
          <a:ln w="1651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14233A"/>
                </a:solidFill>
                <a:latin typeface="Arial"/>
              </a:rPr>
              <a:t>After one toggle</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0D9488"/>
                </a:solidFill>
                <a:latin typeface="Consolas"/>
              </a:rPr>
              <a:t>max VIF ≈ 2.9</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under-five deaths</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A8B5"/>
                </a:solidFill>
                <a:latin typeface="Consolas"/>
              </a:rPr>
              <a:t>off</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GDP</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2.94</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others</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&lt; 3</a:t>
            </a:r>
          </a:p>
        </p:txBody>
      </p:sp>
      <p:sp>
        <p:nvSpPr>
          <p:cNvPr id="34" name="Oval 33"/>
          <p:cNvSpPr/>
          <p:nvPr/>
        </p:nvSpPr>
        <p:spPr>
          <a:xfrm>
            <a:off x="5733288" y="3794760"/>
            <a:ext cx="548640" cy="54864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honest metric</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sp>
        <p:nvSpPr>
          <p:cNvPr id="15" name="Rounded Rectangle 14"/>
          <p:cNvSpPr/>
          <p:nvPr/>
        </p:nvSpPr>
        <p:spPr>
          <a:xfrm>
            <a:off x="566928" y="2011680"/>
            <a:ext cx="5212080" cy="2240280"/>
          </a:xfrm>
          <a:prstGeom prst="roundRect">
            <a:avLst>
              <a:gd name="adj" fmla="val 6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212848"/>
            <a:ext cx="4572000" cy="1097280"/>
          </a:xfrm>
          <a:prstGeom prst="rect">
            <a:avLst/>
          </a:prstGeom>
          <a:noFill/>
        </p:spPr>
        <p:txBody>
          <a:bodyPr wrap="square" lIns="0" tIns="0" rIns="0" bIns="0" anchor="t">
            <a:spAutoFit/>
          </a:bodyPr>
          <a:lstStyle/>
          <a:p>
            <a:pPr algn="l">
              <a:lnSpc>
                <a:spcPct val="100000"/>
              </a:lnSpc>
            </a:pPr>
            <a:r>
              <a:rPr sz="5800" b="1" i="0">
                <a:solidFill>
                  <a:srgbClr val="14233A"/>
                </a:solidFill>
                <a:latin typeface="Arial"/>
              </a:rPr>
              <a:t>0.827</a:t>
            </a:r>
          </a:p>
        </p:txBody>
      </p:sp>
      <p:sp>
        <p:nvSpPr>
          <p:cNvPr id="17" name="TextBox 16"/>
          <p:cNvSpPr txBox="1"/>
          <p:nvPr/>
        </p:nvSpPr>
        <p:spPr>
          <a:xfrm>
            <a:off x="914400" y="3383280"/>
            <a:ext cx="4663440" cy="36576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R²  (in-sample)</a:t>
            </a:r>
          </a:p>
        </p:txBody>
      </p:sp>
      <p:sp>
        <p:nvSpPr>
          <p:cNvPr id="18" name="TextBox 17"/>
          <p:cNvSpPr txBox="1"/>
          <p:nvPr/>
        </p:nvSpPr>
        <p:spPr>
          <a:xfrm>
            <a:off x="914400" y="3749039"/>
            <a:ext cx="466344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fit to data it already saw</a:t>
            </a:r>
          </a:p>
        </p:txBody>
      </p:sp>
      <p:sp>
        <p:nvSpPr>
          <p:cNvPr id="19" name="Rounded Rectangle 18"/>
          <p:cNvSpPr/>
          <p:nvPr/>
        </p:nvSpPr>
        <p:spPr>
          <a:xfrm>
            <a:off x="6190488" y="2011680"/>
            <a:ext cx="5212080" cy="2240280"/>
          </a:xfrm>
          <a:prstGeom prst="roundRect">
            <a:avLst>
              <a:gd name="adj" fmla="val 6000"/>
            </a:avLst>
          </a:prstGeom>
          <a:solidFill>
            <a:srgbClr val="ECFDF5"/>
          </a:solidFill>
          <a:ln w="1778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212848"/>
            <a:ext cx="4572000" cy="1097280"/>
          </a:xfrm>
          <a:prstGeom prst="rect">
            <a:avLst/>
          </a:prstGeom>
          <a:noFill/>
        </p:spPr>
        <p:txBody>
          <a:bodyPr wrap="square" lIns="0" tIns="0" rIns="0" bIns="0" anchor="t">
            <a:spAutoFit/>
          </a:bodyPr>
          <a:lstStyle/>
          <a:p>
            <a:pPr algn="l">
              <a:lnSpc>
                <a:spcPct val="100000"/>
              </a:lnSpc>
            </a:pPr>
            <a:r>
              <a:rPr sz="5800" b="1" i="0">
                <a:solidFill>
                  <a:srgbClr val="0A7A70"/>
                </a:solidFill>
                <a:latin typeface="Arial"/>
              </a:rPr>
              <a:t>0.822</a:t>
            </a:r>
          </a:p>
        </p:txBody>
      </p:sp>
      <p:sp>
        <p:nvSpPr>
          <p:cNvPr id="21" name="TextBox 20"/>
          <p:cNvSpPr txBox="1"/>
          <p:nvPr/>
        </p:nvSpPr>
        <p:spPr>
          <a:xfrm>
            <a:off x="6537960" y="3383280"/>
            <a:ext cx="4663440" cy="36576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PRESS R²  (held-out)</a:t>
            </a:r>
          </a:p>
        </p:txBody>
      </p:sp>
      <p:sp>
        <p:nvSpPr>
          <p:cNvPr id="22" name="TextBox 21"/>
          <p:cNvSpPr txBox="1"/>
          <p:nvPr/>
        </p:nvSpPr>
        <p:spPr>
          <a:xfrm>
            <a:off x="6537960" y="3749039"/>
            <a:ext cx="466344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each point predicted with itself removed</a:t>
            </a:r>
          </a:p>
        </p:txBody>
      </p:sp>
      <p:sp>
        <p:nvSpPr>
          <p:cNvPr id="23" name="Rounded Rectangle 22"/>
          <p:cNvSpPr/>
          <p:nvPr/>
        </p:nvSpPr>
        <p:spPr>
          <a:xfrm>
            <a:off x="566928" y="4526280"/>
            <a:ext cx="11055096" cy="1051560"/>
          </a:xfrm>
          <a:prstGeom prst="roundRect">
            <a:avLst>
              <a:gd name="adj" fmla="val 6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526280"/>
            <a:ext cx="10332720" cy="1051560"/>
          </a:xfrm>
          <a:prstGeom prst="rect">
            <a:avLst/>
          </a:prstGeom>
          <a:noFill/>
        </p:spPr>
        <p:txBody>
          <a:bodyPr wrap="square" lIns="0" tIns="0" rIns="0" bIns="0" anchor="ctr">
            <a:spAutoFit/>
          </a:bodyPr>
          <a:lstStyle/>
          <a:p>
            <a:pPr algn="l">
              <a:lnSpc>
                <a:spcPct val="105000"/>
              </a:lnSpc>
            </a:pPr>
            <a:r>
              <a:rPr sz="1600" b="1" i="0">
                <a:solidFill>
                  <a:srgbClr val="5EEAD4"/>
                </a:solidFill>
                <a:latin typeface="Arial"/>
              </a:rPr>
              <a:t>Barely drops out-of-sample.  </a:t>
            </a:r>
            <a:r>
              <a:rPr sz="1600" b="0" i="0">
                <a:solidFill>
                  <a:srgbClr val="D8E0EA"/>
                </a:solidFill>
                <a:latin typeface="Arial"/>
              </a:rPr>
              <a:t>The model isn't memorizing — it'll generalize to the next case. A wide gap is what you want to catch </a:t>
            </a:r>
            <a:r>
              <a:rPr sz="1600" b="1" i="1">
                <a:solidFill>
                  <a:srgbClr val="FFFFFF"/>
                </a:solidFill>
                <a:latin typeface="Arial"/>
              </a:rPr>
              <a:t>before</a:t>
            </a:r>
            <a:r>
              <a:rPr sz="1600" b="0" i="0">
                <a:solidFill>
                  <a:srgbClr val="D8E0EA"/>
                </a:solidFill>
                <a:latin typeface="Arial"/>
              </a:rPr>
              <a:t> the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A health check on the fit</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graphicFrame>
        <p:nvGraphicFramePr>
          <p:cNvPr id="15" name="Chart 14"/>
          <p:cNvGraphicFramePr>
            <a:graphicFrameLocks noGrp="1"/>
          </p:cNvGraphicFramePr>
          <p:nvPr/>
        </p:nvGraphicFramePr>
        <p:xfrm>
          <a:off x="566928" y="2011680"/>
          <a:ext cx="64008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566928" y="5650992"/>
            <a:ext cx="6400800" cy="274320"/>
          </a:xfrm>
          <a:prstGeom prst="rect">
            <a:avLst/>
          </a:prstGeom>
          <a:noFill/>
        </p:spPr>
        <p:txBody>
          <a:bodyPr wrap="square" lIns="0" tIns="0" rIns="0" bIns="0" anchor="t">
            <a:spAutoFit/>
          </a:bodyPr>
          <a:lstStyle/>
          <a:p>
            <a:pPr algn="ctr">
              <a:lnSpc>
                <a:spcPct val="100000"/>
              </a:lnSpc>
            </a:pPr>
            <a:r>
              <a:rPr sz="1100" b="0" i="1">
                <a:solidFill>
                  <a:srgbClr val="6B7C8C"/>
                </a:solidFill>
                <a:latin typeface="Arial"/>
              </a:rPr>
              <a:t>Residuals vs. fitted — want a shapeless cloud on zero</a:t>
            </a:r>
          </a:p>
        </p:txBody>
      </p:sp>
      <p:sp>
        <p:nvSpPr>
          <p:cNvPr id="17" name="Rounded Rectangle 16"/>
          <p:cNvSpPr/>
          <p:nvPr/>
        </p:nvSpPr>
        <p:spPr>
          <a:xfrm>
            <a:off x="7680960" y="2057400"/>
            <a:ext cx="3950208" cy="1051560"/>
          </a:xfrm>
          <a:prstGeom prst="roundRect">
            <a:avLst>
              <a:gd name="adj" fmla="val 6000"/>
            </a:avLst>
          </a:prstGeom>
          <a:solidFill>
            <a:srgbClr val="ECFDF5"/>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2148840"/>
            <a:ext cx="3657600" cy="502920"/>
          </a:xfrm>
          <a:prstGeom prst="rect">
            <a:avLst/>
          </a:prstGeom>
          <a:noFill/>
        </p:spPr>
        <p:txBody>
          <a:bodyPr wrap="square" lIns="0" tIns="0" rIns="0" bIns="0" anchor="t">
            <a:spAutoFit/>
          </a:bodyPr>
          <a:lstStyle/>
          <a:p>
            <a:pPr algn="l">
              <a:lnSpc>
                <a:spcPct val="100000"/>
              </a:lnSpc>
            </a:pPr>
            <a:r>
              <a:rPr sz="2300" b="1" i="0">
                <a:solidFill>
                  <a:srgbClr val="0D9488"/>
                </a:solidFill>
                <a:latin typeface="Arial"/>
              </a:rPr>
              <a:t>0.994</a:t>
            </a:r>
          </a:p>
        </p:txBody>
      </p:sp>
      <p:sp>
        <p:nvSpPr>
          <p:cNvPr id="19" name="TextBox 18"/>
          <p:cNvSpPr txBox="1"/>
          <p:nvPr/>
        </p:nvSpPr>
        <p:spPr>
          <a:xfrm>
            <a:off x="7863840" y="2624328"/>
            <a:ext cx="3657600" cy="274320"/>
          </a:xfrm>
          <a:prstGeom prst="rect">
            <a:avLst/>
          </a:prstGeom>
          <a:noFill/>
        </p:spPr>
        <p:txBody>
          <a:bodyPr wrap="square" lIns="0" tIns="0" rIns="0" bIns="0" anchor="t">
            <a:spAutoFit/>
          </a:bodyPr>
          <a:lstStyle/>
          <a:p>
            <a:pPr algn="l">
              <a:lnSpc>
                <a:spcPct val="100000"/>
              </a:lnSpc>
            </a:pPr>
            <a:r>
              <a:rPr sz="1200" b="1" i="0">
                <a:solidFill>
                  <a:srgbClr val="14233A"/>
                </a:solidFill>
                <a:latin typeface="Arial"/>
              </a:rPr>
              <a:t>Q-Q correlation</a:t>
            </a:r>
          </a:p>
        </p:txBody>
      </p:sp>
      <p:sp>
        <p:nvSpPr>
          <p:cNvPr id="20" name="TextBox 19"/>
          <p:cNvSpPr txBox="1"/>
          <p:nvPr/>
        </p:nvSpPr>
        <p:spPr>
          <a:xfrm>
            <a:off x="7863840" y="2843784"/>
            <a:ext cx="3657600" cy="256032"/>
          </a:xfrm>
          <a:prstGeom prst="rect">
            <a:avLst/>
          </a:prstGeom>
          <a:noFill/>
        </p:spPr>
        <p:txBody>
          <a:bodyPr wrap="square" lIns="0" tIns="0" rIns="0" bIns="0" anchor="t">
            <a:spAutoFit/>
          </a:bodyPr>
          <a:lstStyle/>
          <a:p>
            <a:pPr algn="l">
              <a:lnSpc>
                <a:spcPct val="100000"/>
              </a:lnSpc>
            </a:pPr>
            <a:r>
              <a:rPr sz="1050" b="0" i="0">
                <a:solidFill>
                  <a:srgbClr val="6B7C8C"/>
                </a:solidFill>
                <a:latin typeface="Arial"/>
              </a:rPr>
              <a:t>residuals near-normal</a:t>
            </a:r>
          </a:p>
        </p:txBody>
      </p:sp>
      <p:sp>
        <p:nvSpPr>
          <p:cNvPr id="21" name="Rounded Rectangle 20"/>
          <p:cNvSpPr/>
          <p:nvPr/>
        </p:nvSpPr>
        <p:spPr>
          <a:xfrm>
            <a:off x="7680960" y="3246120"/>
            <a:ext cx="3950208" cy="1051560"/>
          </a:xfrm>
          <a:prstGeom prst="roundRect">
            <a:avLst>
              <a:gd name="adj" fmla="val 6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63840" y="3337560"/>
            <a:ext cx="3657600" cy="502920"/>
          </a:xfrm>
          <a:prstGeom prst="rect">
            <a:avLst/>
          </a:prstGeom>
          <a:noFill/>
        </p:spPr>
        <p:txBody>
          <a:bodyPr wrap="square" lIns="0" tIns="0" rIns="0" bIns="0" anchor="t">
            <a:spAutoFit/>
          </a:bodyPr>
          <a:lstStyle/>
          <a:p>
            <a:pPr algn="l">
              <a:lnSpc>
                <a:spcPct val="100000"/>
              </a:lnSpc>
            </a:pPr>
            <a:r>
              <a:rPr sz="2300" b="1" i="0">
                <a:solidFill>
                  <a:srgbClr val="064472"/>
                </a:solidFill>
                <a:latin typeface="Arial"/>
              </a:rPr>
              <a:t>0.0097</a:t>
            </a:r>
          </a:p>
        </p:txBody>
      </p:sp>
      <p:sp>
        <p:nvSpPr>
          <p:cNvPr id="23" name="TextBox 22"/>
          <p:cNvSpPr txBox="1"/>
          <p:nvPr/>
        </p:nvSpPr>
        <p:spPr>
          <a:xfrm>
            <a:off x="7863840" y="3813048"/>
            <a:ext cx="3657600" cy="274320"/>
          </a:xfrm>
          <a:prstGeom prst="rect">
            <a:avLst/>
          </a:prstGeom>
          <a:noFill/>
        </p:spPr>
        <p:txBody>
          <a:bodyPr wrap="square" lIns="0" tIns="0" rIns="0" bIns="0" anchor="t">
            <a:spAutoFit/>
          </a:bodyPr>
          <a:lstStyle/>
          <a:p>
            <a:pPr algn="l">
              <a:lnSpc>
                <a:spcPct val="100000"/>
              </a:lnSpc>
            </a:pPr>
            <a:r>
              <a:rPr sz="1200" b="1" i="0">
                <a:solidFill>
                  <a:srgbClr val="14233A"/>
                </a:solidFill>
                <a:latin typeface="Arial"/>
              </a:rPr>
              <a:t>Mean leverage</a:t>
            </a:r>
          </a:p>
        </p:txBody>
      </p:sp>
      <p:sp>
        <p:nvSpPr>
          <p:cNvPr id="24" name="TextBox 23"/>
          <p:cNvSpPr txBox="1"/>
          <p:nvPr/>
        </p:nvSpPr>
        <p:spPr>
          <a:xfrm>
            <a:off x="7863840" y="4032504"/>
            <a:ext cx="3657600" cy="256032"/>
          </a:xfrm>
          <a:prstGeom prst="rect">
            <a:avLst/>
          </a:prstGeom>
          <a:noFill/>
        </p:spPr>
        <p:txBody>
          <a:bodyPr wrap="square" lIns="0" tIns="0" rIns="0" bIns="0" anchor="t">
            <a:spAutoFit/>
          </a:bodyPr>
          <a:lstStyle/>
          <a:p>
            <a:pPr algn="l">
              <a:lnSpc>
                <a:spcPct val="100000"/>
              </a:lnSpc>
            </a:pPr>
            <a:r>
              <a:rPr sz="1050" b="0" i="0">
                <a:solidFill>
                  <a:srgbClr val="6B7C8C"/>
                </a:solidFill>
                <a:latin typeface="Arial"/>
              </a:rPr>
              <a:t>no single point dominates</a:t>
            </a:r>
          </a:p>
        </p:txBody>
      </p:sp>
      <p:sp>
        <p:nvSpPr>
          <p:cNvPr id="25" name="Rounded Rectangle 24"/>
          <p:cNvSpPr/>
          <p:nvPr/>
        </p:nvSpPr>
        <p:spPr>
          <a:xfrm>
            <a:off x="7680960" y="4434840"/>
            <a:ext cx="3950208" cy="1051560"/>
          </a:xfrm>
          <a:prstGeom prst="roundRect">
            <a:avLst>
              <a:gd name="adj" fmla="val 6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4526279"/>
            <a:ext cx="3657600" cy="502920"/>
          </a:xfrm>
          <a:prstGeom prst="rect">
            <a:avLst/>
          </a:prstGeom>
          <a:noFill/>
        </p:spPr>
        <p:txBody>
          <a:bodyPr wrap="square" lIns="0" tIns="0" rIns="0" bIns="0" anchor="t">
            <a:spAutoFit/>
          </a:bodyPr>
          <a:lstStyle/>
          <a:p>
            <a:pPr algn="l">
              <a:lnSpc>
                <a:spcPct val="100000"/>
              </a:lnSpc>
            </a:pPr>
            <a:r>
              <a:rPr sz="2300" b="1" i="0">
                <a:solidFill>
                  <a:srgbClr val="B8860B"/>
                </a:solidFill>
                <a:latin typeface="Arial"/>
              </a:rPr>
              <a:t>Cook's D</a:t>
            </a:r>
          </a:p>
        </p:txBody>
      </p:sp>
      <p:sp>
        <p:nvSpPr>
          <p:cNvPr id="27" name="TextBox 26"/>
          <p:cNvSpPr txBox="1"/>
          <p:nvPr/>
        </p:nvSpPr>
        <p:spPr>
          <a:xfrm>
            <a:off x="7863840" y="5001768"/>
            <a:ext cx="3657600" cy="274320"/>
          </a:xfrm>
          <a:prstGeom prst="rect">
            <a:avLst/>
          </a:prstGeom>
          <a:noFill/>
        </p:spPr>
        <p:txBody>
          <a:bodyPr wrap="square" lIns="0" tIns="0" rIns="0" bIns="0" anchor="t">
            <a:spAutoFit/>
          </a:bodyPr>
          <a:lstStyle/>
          <a:p>
            <a:pPr algn="l">
              <a:lnSpc>
                <a:spcPct val="100000"/>
              </a:lnSpc>
            </a:pPr>
            <a:r>
              <a:rPr sz="1200" b="1" i="0">
                <a:solidFill>
                  <a:srgbClr val="14233A"/>
                </a:solidFill>
                <a:latin typeface="Arial"/>
              </a:rPr>
              <a:t>per-point influence</a:t>
            </a:r>
          </a:p>
        </p:txBody>
      </p:sp>
      <p:sp>
        <p:nvSpPr>
          <p:cNvPr id="28" name="TextBox 27"/>
          <p:cNvSpPr txBox="1"/>
          <p:nvPr/>
        </p:nvSpPr>
        <p:spPr>
          <a:xfrm>
            <a:off x="7863840" y="5221224"/>
            <a:ext cx="3657600" cy="256032"/>
          </a:xfrm>
          <a:prstGeom prst="rect">
            <a:avLst/>
          </a:prstGeom>
          <a:noFill/>
        </p:spPr>
        <p:txBody>
          <a:bodyPr wrap="square" lIns="0" tIns="0" rIns="0" bIns="0" anchor="t">
            <a:spAutoFit/>
          </a:bodyPr>
          <a:lstStyle/>
          <a:p>
            <a:pPr algn="l">
              <a:lnSpc>
                <a:spcPct val="100000"/>
              </a:lnSpc>
            </a:pPr>
            <a:r>
              <a:rPr sz="1050" b="0" i="0">
                <a:solidFill>
                  <a:srgbClr val="6B7C8C"/>
                </a:solidFill>
                <a:latin typeface="Arial"/>
              </a:rPr>
              <a:t>flags outlier pull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Predict, with uncertainty</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=Prediction_Interval(</a:t>
            </a:r>
            <a:r>
              <a:rPr sz="1150" b="1" i="0">
                <a:solidFill>
                  <a:srgbClr val="0D9488"/>
                </a:solidFill>
                <a:latin typeface="Consolas"/>
              </a:rPr>
              <a:t>x_s, y, x_new</a:t>
            </a:r>
            <a:r>
              <a:rPr sz="1150" b="0" i="0">
                <a:solidFill>
                  <a:srgbClr val="42566B"/>
                </a:solidFill>
                <a:latin typeface="Consolas"/>
              </a:rPr>
              <a:t>)  →  point estimate, SE prediction, t, lower, upper</a:t>
            </a:r>
          </a:p>
        </p:txBody>
      </p:sp>
      <p:sp>
        <p:nvSpPr>
          <p:cNvPr id="19" name="Rounded Rectangle 18"/>
          <p:cNvSpPr/>
          <p:nvPr/>
        </p:nvSpPr>
        <p:spPr>
          <a:xfrm>
            <a:off x="566928" y="2743200"/>
            <a:ext cx="3474720" cy="1691640"/>
          </a:xfrm>
          <a:prstGeom prst="roundRect">
            <a:avLst>
              <a:gd name="adj" fmla="val 6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2852928"/>
            <a:ext cx="3108960" cy="640080"/>
          </a:xfrm>
          <a:prstGeom prst="rect">
            <a:avLst/>
          </a:prstGeom>
          <a:noFill/>
        </p:spPr>
        <p:txBody>
          <a:bodyPr wrap="square" lIns="0" tIns="0" rIns="0" bIns="0" anchor="t">
            <a:spAutoFit/>
          </a:bodyPr>
          <a:lstStyle/>
          <a:p>
            <a:pPr algn="l">
              <a:lnSpc>
                <a:spcPct val="100000"/>
              </a:lnSpc>
            </a:pPr>
            <a:r>
              <a:rPr sz="3400" b="1" i="0">
                <a:solidFill>
                  <a:srgbClr val="14233A"/>
                </a:solidFill>
                <a:latin typeface="Arial"/>
              </a:rPr>
              <a:t>ŷ</a:t>
            </a:r>
          </a:p>
        </p:txBody>
      </p:sp>
      <p:sp>
        <p:nvSpPr>
          <p:cNvPr id="21" name="TextBox 20"/>
          <p:cNvSpPr txBox="1"/>
          <p:nvPr/>
        </p:nvSpPr>
        <p:spPr>
          <a:xfrm>
            <a:off x="795528" y="3520440"/>
            <a:ext cx="3108960" cy="365760"/>
          </a:xfrm>
          <a:prstGeom prst="rect">
            <a:avLst/>
          </a:prstGeom>
          <a:noFill/>
        </p:spPr>
        <p:txBody>
          <a:bodyPr wrap="square" lIns="0" tIns="0" rIns="0" bIns="0" anchor="t">
            <a:spAutoFit/>
          </a:bodyPr>
          <a:lstStyle/>
          <a:p>
            <a:pPr algn="l">
              <a:lnSpc>
                <a:spcPct val="100000"/>
              </a:lnSpc>
            </a:pPr>
            <a:r>
              <a:rPr sz="1400" b="1" i="0">
                <a:solidFill>
                  <a:srgbClr val="14233A"/>
                </a:solidFill>
                <a:latin typeface="Arial"/>
              </a:rPr>
              <a:t>Point estimate</a:t>
            </a:r>
          </a:p>
        </p:txBody>
      </p:sp>
      <p:sp>
        <p:nvSpPr>
          <p:cNvPr id="22" name="TextBox 21"/>
          <p:cNvSpPr txBox="1"/>
          <p:nvPr/>
        </p:nvSpPr>
        <p:spPr>
          <a:xfrm>
            <a:off x="795528" y="3858768"/>
            <a:ext cx="3063239" cy="548640"/>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the model's best single guess</a:t>
            </a:r>
          </a:p>
        </p:txBody>
      </p:sp>
      <p:sp>
        <p:nvSpPr>
          <p:cNvPr id="23" name="Rounded Rectangle 22"/>
          <p:cNvSpPr/>
          <p:nvPr/>
        </p:nvSpPr>
        <p:spPr>
          <a:xfrm>
            <a:off x="4334256" y="2743200"/>
            <a:ext cx="3474720" cy="1691640"/>
          </a:xfrm>
          <a:prstGeom prst="roundRect">
            <a:avLst>
              <a:gd name="adj" fmla="val 6000"/>
            </a:avLst>
          </a:prstGeom>
          <a:solidFill>
            <a:srgbClr val="ECFDF5"/>
          </a:solidFill>
          <a:ln w="1778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62856" y="2852928"/>
            <a:ext cx="3108960" cy="640080"/>
          </a:xfrm>
          <a:prstGeom prst="rect">
            <a:avLst/>
          </a:prstGeom>
          <a:noFill/>
        </p:spPr>
        <p:txBody>
          <a:bodyPr wrap="square" lIns="0" tIns="0" rIns="0" bIns="0" anchor="t">
            <a:spAutoFit/>
          </a:bodyPr>
          <a:lstStyle/>
          <a:p>
            <a:pPr algn="l">
              <a:lnSpc>
                <a:spcPct val="100000"/>
              </a:lnSpc>
            </a:pPr>
            <a:r>
              <a:rPr sz="3400" b="1" i="0">
                <a:solidFill>
                  <a:srgbClr val="0A7A70"/>
                </a:solidFill>
                <a:latin typeface="Arial"/>
              </a:rPr>
              <a:t>SE</a:t>
            </a:r>
          </a:p>
        </p:txBody>
      </p:sp>
      <p:sp>
        <p:nvSpPr>
          <p:cNvPr id="25" name="TextBox 24"/>
          <p:cNvSpPr txBox="1"/>
          <p:nvPr/>
        </p:nvSpPr>
        <p:spPr>
          <a:xfrm>
            <a:off x="4562856" y="3520440"/>
            <a:ext cx="3108960" cy="365760"/>
          </a:xfrm>
          <a:prstGeom prst="rect">
            <a:avLst/>
          </a:prstGeom>
          <a:noFill/>
        </p:spPr>
        <p:txBody>
          <a:bodyPr wrap="square" lIns="0" tIns="0" rIns="0" bIns="0" anchor="t">
            <a:spAutoFit/>
          </a:bodyPr>
          <a:lstStyle/>
          <a:p>
            <a:pPr algn="l">
              <a:lnSpc>
                <a:spcPct val="100000"/>
              </a:lnSpc>
            </a:pPr>
            <a:r>
              <a:rPr sz="1400" b="1" i="0">
                <a:solidFill>
                  <a:srgbClr val="14233A"/>
                </a:solidFill>
                <a:latin typeface="Arial"/>
              </a:rPr>
              <a:t>Std error of prediction</a:t>
            </a:r>
          </a:p>
        </p:txBody>
      </p:sp>
      <p:sp>
        <p:nvSpPr>
          <p:cNvPr id="26" name="TextBox 25"/>
          <p:cNvSpPr txBox="1"/>
          <p:nvPr/>
        </p:nvSpPr>
        <p:spPr>
          <a:xfrm>
            <a:off x="4562856" y="3858768"/>
            <a:ext cx="3063239" cy="548640"/>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the spread of plausible actuals around it</a:t>
            </a:r>
          </a:p>
        </p:txBody>
      </p:sp>
      <p:sp>
        <p:nvSpPr>
          <p:cNvPr id="27" name="Rounded Rectangle 26"/>
          <p:cNvSpPr/>
          <p:nvPr/>
        </p:nvSpPr>
        <p:spPr>
          <a:xfrm>
            <a:off x="8101583" y="2743200"/>
            <a:ext cx="3474720" cy="1691640"/>
          </a:xfrm>
          <a:prstGeom prst="roundRect">
            <a:avLst>
              <a:gd name="adj" fmla="val 6000"/>
            </a:avLst>
          </a:prstGeom>
          <a:solidFill>
            <a:srgbClr val="FBF7F2"/>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0183" y="2852928"/>
            <a:ext cx="3108960" cy="640080"/>
          </a:xfrm>
          <a:prstGeom prst="rect">
            <a:avLst/>
          </a:prstGeom>
          <a:noFill/>
        </p:spPr>
        <p:txBody>
          <a:bodyPr wrap="square" lIns="0" tIns="0" rIns="0" bIns="0" anchor="t">
            <a:spAutoFit/>
          </a:bodyPr>
          <a:lstStyle/>
          <a:p>
            <a:pPr algn="l">
              <a:lnSpc>
                <a:spcPct val="100000"/>
              </a:lnSpc>
            </a:pPr>
            <a:r>
              <a:rPr sz="3400" b="1" i="0">
                <a:solidFill>
                  <a:srgbClr val="B8860B"/>
                </a:solidFill>
                <a:latin typeface="Arial"/>
              </a:rPr>
              <a:t>[ , ]</a:t>
            </a:r>
          </a:p>
        </p:txBody>
      </p:sp>
      <p:sp>
        <p:nvSpPr>
          <p:cNvPr id="29" name="TextBox 28"/>
          <p:cNvSpPr txBox="1"/>
          <p:nvPr/>
        </p:nvSpPr>
        <p:spPr>
          <a:xfrm>
            <a:off x="8330183" y="3520440"/>
            <a:ext cx="3108960" cy="365760"/>
          </a:xfrm>
          <a:prstGeom prst="rect">
            <a:avLst/>
          </a:prstGeom>
          <a:noFill/>
        </p:spPr>
        <p:txBody>
          <a:bodyPr wrap="square" lIns="0" tIns="0" rIns="0" bIns="0" anchor="t">
            <a:spAutoFit/>
          </a:bodyPr>
          <a:lstStyle/>
          <a:p>
            <a:pPr algn="l">
              <a:lnSpc>
                <a:spcPct val="100000"/>
              </a:lnSpc>
            </a:pPr>
            <a:r>
              <a:rPr sz="1400" b="1" i="0">
                <a:solidFill>
                  <a:srgbClr val="14233A"/>
                </a:solidFill>
                <a:latin typeface="Arial"/>
              </a:rPr>
              <a:t>Prediction interval</a:t>
            </a:r>
          </a:p>
        </p:txBody>
      </p:sp>
      <p:sp>
        <p:nvSpPr>
          <p:cNvPr id="30" name="TextBox 29"/>
          <p:cNvSpPr txBox="1"/>
          <p:nvPr/>
        </p:nvSpPr>
        <p:spPr>
          <a:xfrm>
            <a:off x="8330183" y="3858768"/>
            <a:ext cx="3063239" cy="548640"/>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range for a real new case</a:t>
            </a:r>
          </a:p>
        </p:txBody>
      </p:sp>
      <p:sp>
        <p:nvSpPr>
          <p:cNvPr id="31" name="Rounded Rectangle 30"/>
          <p:cNvSpPr/>
          <p:nvPr/>
        </p:nvSpPr>
        <p:spPr>
          <a:xfrm>
            <a:off x="566928" y="4617720"/>
            <a:ext cx="11055096" cy="960120"/>
          </a:xfrm>
          <a:prstGeom prst="roundRect">
            <a:avLst>
              <a:gd name="adj" fmla="val 6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2688" y="4617720"/>
            <a:ext cx="10332720" cy="960120"/>
          </a:xfrm>
          <a:prstGeom prst="rect">
            <a:avLst/>
          </a:prstGeom>
          <a:noFill/>
        </p:spPr>
        <p:txBody>
          <a:bodyPr wrap="square" lIns="0" tIns="0" rIns="0" bIns="0" anchor="ctr">
            <a:spAutoFit/>
          </a:bodyPr>
          <a:lstStyle/>
          <a:p>
            <a:pPr algn="l">
              <a:lnSpc>
                <a:spcPct val="105000"/>
              </a:lnSpc>
            </a:pPr>
            <a:r>
              <a:rPr sz="1600" b="0" i="0">
                <a:solidFill>
                  <a:srgbClr val="D8E0EA"/>
                </a:solidFill>
                <a:latin typeface="Arial"/>
              </a:rPr>
              <a:t>SE of prediction grows as the new case moves away from your data.  </a:t>
            </a:r>
            <a:r>
              <a:rPr sz="1600" b="1" i="0">
                <a:solidFill>
                  <a:srgbClr val="5EEAD4"/>
                </a:solidFill>
                <a:latin typeface="Arial"/>
              </a:rPr>
              <a:t>The model penalizes extrapolation, automatically.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Log the cost → lognormal</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Costs are positive and right-skewed — a plain normal band can run negative.</a:t>
            </a:r>
          </a:p>
        </p:txBody>
      </p:sp>
      <p:sp>
        <p:nvSpPr>
          <p:cNvPr id="4" name="Oval 3"/>
          <p:cNvSpPr/>
          <p:nvPr/>
        </p:nvSpPr>
        <p:spPr>
          <a:xfrm>
            <a:off x="566928" y="2212848"/>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Fit on ln(cost)</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point the model's y at a log column — the functions don't care what's in it.</a:t>
            </a:r>
          </a:p>
        </p:txBody>
      </p:sp>
      <p:sp>
        <p:nvSpPr>
          <p:cNvPr id="8" name="Oval 7"/>
          <p:cNvSpPr/>
          <p:nvPr/>
        </p:nvSpPr>
        <p:spPr>
          <a:xfrm>
            <a:off x="566928" y="3273551"/>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Predict in log space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you get a point estimate and SE on the log scale, as usual.</a:t>
            </a:r>
          </a:p>
        </p:txBody>
      </p:sp>
      <p:sp>
        <p:nvSpPr>
          <p:cNvPr id="12" name="Oval 11"/>
          <p:cNvSpPr/>
          <p:nvPr/>
        </p:nvSpPr>
        <p:spPr>
          <a:xfrm>
            <a:off x="566928" y="4334255"/>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Exponentiate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back on the dollar scale: always positive, with a realistic long right tail.</a:t>
            </a:r>
          </a:p>
        </p:txBody>
      </p:sp>
      <p:sp>
        <p:nvSpPr>
          <p:cNvPr id="16" name="Rounded Rectangle 15"/>
          <p:cNvSpPr/>
          <p:nvPr/>
        </p:nvSpPr>
        <p:spPr>
          <a:xfrm>
            <a:off x="6812280" y="2103120"/>
            <a:ext cx="4754880" cy="342900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r>
              <a:rPr sz="1000" b="0" i="0">
                <a:solidFill>
                  <a:srgbClr val="6B7C8C"/>
                </a:solidFill>
                <a:latin typeface="Arial"/>
              </a:rPr>
              <a:t>$0</a:t>
            </a: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6B7C8C"/>
                </a:solidFill>
                <a:latin typeface="Arial"/>
              </a:rPr>
              <a:t>Lognormal cost — long right tail, never negative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B8860B"/>
                </a:solidFill>
                <a:latin typeface="Arial"/>
              </a:rPr>
              <a:t>The skewness column tells you when you're here.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Wiring the sheet to your data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Three worksheet-scoped names control everything. Formulas → Name Manager → edit each one.</a:t>
            </a:r>
          </a:p>
        </p:txBody>
      </p:sp>
      <p:graphicFrame>
        <p:nvGraphicFramePr>
          <p:cNvPr id="4" name="Table 3"/>
          <p:cNvGraphicFramePr>
            <a:graphicFrameLocks noGrp="1"/>
          </p:cNvGraphicFramePr>
          <p:nvPr>
            <p:extLst>
              <p:ext uri="{D42A27DB-BD31-4B8C-83A1-F6EECF244321}">
                <p14:modId xmlns:p14="http://schemas.microsoft.com/office/powerpoint/2010/main" val="3638656823"/>
              </p:ext>
            </p:extLst>
          </p:nvPr>
        </p:nvGraphicFramePr>
        <p:xfrm>
          <a:off x="566928" y="1950000"/>
          <a:ext cx="11057835" cy="3360000"/>
        </p:xfrm>
        <a:graphic>
          <a:graphicData uri="http://schemas.openxmlformats.org/drawingml/2006/table">
            <a:tbl>
              <a:tblPr firstRow="1" bandRow="1">
                <a:tableStyleId>{5C22544A-7EE6-4342-B048-85BDC9FD1C3A}</a:tableStyleId>
              </a:tblPr>
              <a:tblGrid>
                <a:gridCol w="16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4657835">
                  <a:extLst>
                    <a:ext uri="{9D8B030D-6E8A-4147-A177-3AD203B41FA5}">
                      <a16:colId xmlns:a16="http://schemas.microsoft.com/office/drawing/2014/main" val="20002"/>
                    </a:ext>
                  </a:extLst>
                </a:gridCol>
                <a:gridCol w="2400000">
                  <a:extLst>
                    <a:ext uri="{9D8B030D-6E8A-4147-A177-3AD203B41FA5}">
                      <a16:colId xmlns:a16="http://schemas.microsoft.com/office/drawing/2014/main" val="20003"/>
                    </a:ext>
                  </a:extLst>
                </a:gridCol>
              </a:tblGrid>
              <a:tr h="560000">
                <a:tc>
                  <a:txBody>
                    <a:bodyPr/>
                    <a:lstStyle/>
                    <a:p>
                      <a:pPr algn="l"/>
                      <a:r>
                        <a:rPr sz="1200" b="1">
                          <a:solidFill>
                            <a:srgbClr val="FFFFFF"/>
                          </a:solidFill>
                          <a:latin typeface="Arial"/>
                        </a:rPr>
                        <a:t>Name</a:t>
                      </a:r>
                    </a:p>
                  </a:txBody>
                  <a:tcPr anchor="ctr">
                    <a:solidFill>
                      <a:srgbClr val="021E42"/>
                    </a:solidFill>
                  </a:tcPr>
                </a:tc>
                <a:tc>
                  <a:txBody>
                    <a:bodyPr/>
                    <a:lstStyle/>
                    <a:p>
                      <a:pPr algn="l"/>
                      <a:r>
                        <a:rPr sz="1200" b="1">
                          <a:solidFill>
                            <a:srgbClr val="FFFFFF"/>
                          </a:solidFill>
                          <a:latin typeface="Arial"/>
                        </a:rPr>
                        <a:t>Points at</a:t>
                      </a:r>
                    </a:p>
                  </a:txBody>
                  <a:tcPr anchor="ctr">
                    <a:solidFill>
                      <a:srgbClr val="021E42"/>
                    </a:solidFill>
                  </a:tcPr>
                </a:tc>
                <a:tc>
                  <a:txBody>
                    <a:bodyPr/>
                    <a:lstStyle/>
                    <a:p>
                      <a:pPr algn="l"/>
                      <a:r>
                        <a:rPr sz="1200" b="1">
                          <a:solidFill>
                            <a:srgbClr val="FFFFFF"/>
                          </a:solidFill>
                          <a:latin typeface="Arial"/>
                        </a:rPr>
                        <a:t>What to set it to</a:t>
                      </a:r>
                    </a:p>
                  </a:txBody>
                  <a:tcPr anchor="ctr">
                    <a:solidFill>
                      <a:srgbClr val="021E42"/>
                    </a:solidFill>
                  </a:tcPr>
                </a:tc>
                <a:tc>
                  <a:txBody>
                    <a:bodyPr/>
                    <a:lstStyle/>
                    <a:p>
                      <a:pPr algn="ctr"/>
                      <a:r>
                        <a:rPr sz="1200" b="1">
                          <a:solidFill>
                            <a:srgbClr val="FFFFFF"/>
                          </a:solidFill>
                          <a:latin typeface="Arial"/>
                        </a:rPr>
                        <a:t>User sets?</a:t>
                      </a:r>
                    </a:p>
                  </a:txBody>
                  <a:tcPr anchor="ctr">
                    <a:solidFill>
                      <a:srgbClr val="021E42"/>
                    </a:solidFill>
                  </a:tcPr>
                </a:tc>
                <a:extLst>
                  <a:ext uri="{0D108BD9-81ED-4DB2-BD59-A6C34878D82A}">
                    <a16:rowId xmlns:a16="http://schemas.microsoft.com/office/drawing/2014/main" val="10000"/>
                  </a:ext>
                </a:extLst>
              </a:tr>
              <a:tr h="560000">
                <a:tc>
                  <a:txBody>
                    <a:bodyPr/>
                    <a:lstStyle/>
                    <a:p>
                      <a:r>
                        <a:rPr sz="1300" b="1">
                          <a:solidFill>
                            <a:srgbClr val="0D9488"/>
                          </a:solidFill>
                          <a:latin typeface="Consolas"/>
                        </a:rPr>
                        <a:t>All_Xs</a:t>
                      </a:r>
                    </a:p>
                  </a:txBody>
                  <a:tcPr anchor="ctr">
                    <a:solidFill>
                      <a:srgbClr val="FFFFFF"/>
                    </a:solidFill>
                  </a:tcPr>
                </a:tc>
                <a:tc>
                  <a:txBody>
                    <a:bodyPr/>
                    <a:lstStyle/>
                    <a:p>
                      <a:r>
                        <a:rPr sz="1200" b="0">
                          <a:solidFill>
                            <a:srgbClr val="42566B"/>
                          </a:solidFill>
                          <a:latin typeface="Arial"/>
                        </a:rPr>
                        <a:t>All predictor columns</a:t>
                      </a:r>
                    </a:p>
                  </a:txBody>
                  <a:tcPr anchor="ctr">
                    <a:solidFill>
                      <a:srgbClr val="FFFFFF"/>
                    </a:solidFill>
                  </a:tcPr>
                </a:tc>
                <a:tc>
                  <a:txBody>
                    <a:bodyPr/>
                    <a:lstStyle/>
                    <a:p>
                      <a:r>
                        <a:rPr sz="1200" b="0">
                          <a:solidFill>
                            <a:srgbClr val="0A7A70"/>
                          </a:solidFill>
                          <a:latin typeface="Consolas"/>
                        </a:rPr>
                        <a:t>YourTable[[Driver1]:[DriverN]]</a:t>
                      </a:r>
                    </a:p>
                  </a:txBody>
                  <a:tcPr anchor="ctr">
                    <a:solidFill>
                      <a:srgbClr val="FFFFFF"/>
                    </a:solidFill>
                  </a:tcPr>
                </a:tc>
                <a:tc>
                  <a:txBody>
                    <a:bodyPr/>
                    <a:lstStyle/>
                    <a:p>
                      <a:pPr algn="ctr"/>
                      <a:r>
                        <a:rPr sz="1800" b="1">
                          <a:solidFill>
                            <a:srgbClr val="0D9488"/>
                          </a:solidFill>
                          <a:latin typeface="Arial"/>
                        </a:rPr>
                        <a:t>✓</a:t>
                      </a:r>
                    </a:p>
                  </a:txBody>
                  <a:tcPr anchor="ctr">
                    <a:solidFill>
                      <a:srgbClr val="FFFFFF"/>
                    </a:solidFill>
                  </a:tcPr>
                </a:tc>
                <a:extLst>
                  <a:ext uri="{0D108BD9-81ED-4DB2-BD59-A6C34878D82A}">
                    <a16:rowId xmlns:a16="http://schemas.microsoft.com/office/drawing/2014/main" val="10001"/>
                  </a:ext>
                </a:extLst>
              </a:tr>
              <a:tr h="560000">
                <a:tc>
                  <a:txBody>
                    <a:bodyPr/>
                    <a:lstStyle/>
                    <a:p>
                      <a:r>
                        <a:rPr sz="1300" b="1">
                          <a:solidFill>
                            <a:srgbClr val="0D9488"/>
                          </a:solidFill>
                          <a:latin typeface="Consolas"/>
                        </a:rPr>
                        <a:t>y</a:t>
                      </a:r>
                    </a:p>
                  </a:txBody>
                  <a:tcPr anchor="ctr">
                    <a:solidFill>
                      <a:srgbClr val="F0F5FA"/>
                    </a:solidFill>
                  </a:tcPr>
                </a:tc>
                <a:tc>
                  <a:txBody>
                    <a:bodyPr/>
                    <a:lstStyle/>
                    <a:p>
                      <a:r>
                        <a:rPr sz="1200" b="0">
                          <a:solidFill>
                            <a:srgbClr val="42566B"/>
                          </a:solidFill>
                          <a:latin typeface="Arial"/>
                        </a:rPr>
                        <a:t>Response / outcome column</a:t>
                      </a:r>
                    </a:p>
                  </a:txBody>
                  <a:tcPr anchor="ctr">
                    <a:solidFill>
                      <a:srgbClr val="F0F5FA"/>
                    </a:solidFill>
                  </a:tcPr>
                </a:tc>
                <a:tc>
                  <a:txBody>
                    <a:bodyPr/>
                    <a:lstStyle/>
                    <a:p>
                      <a:r>
                        <a:rPr sz="1200" b="0">
                          <a:solidFill>
                            <a:srgbClr val="0A7A70"/>
                          </a:solidFill>
                          <a:latin typeface="Consolas"/>
                        </a:rPr>
                        <a:t>YourTable[Cost]</a:t>
                      </a:r>
                    </a:p>
                  </a:txBody>
                  <a:tcPr anchor="ctr">
                    <a:solidFill>
                      <a:srgbClr val="F0F5FA"/>
                    </a:solidFill>
                  </a:tcPr>
                </a:tc>
                <a:tc>
                  <a:txBody>
                    <a:bodyPr/>
                    <a:lstStyle/>
                    <a:p>
                      <a:pPr algn="ctr"/>
                      <a:r>
                        <a:rPr sz="1800" b="1">
                          <a:solidFill>
                            <a:srgbClr val="0D9488"/>
                          </a:solidFill>
                          <a:latin typeface="Arial"/>
                        </a:rPr>
                        <a:t>✓</a:t>
                      </a:r>
                    </a:p>
                  </a:txBody>
                  <a:tcPr anchor="ctr">
                    <a:solidFill>
                      <a:srgbClr val="F0F5FA"/>
                    </a:solidFill>
                  </a:tcPr>
                </a:tc>
                <a:extLst>
                  <a:ext uri="{0D108BD9-81ED-4DB2-BD59-A6C34878D82A}">
                    <a16:rowId xmlns:a16="http://schemas.microsoft.com/office/drawing/2014/main" val="10002"/>
                  </a:ext>
                </a:extLst>
              </a:tr>
              <a:tr h="560000">
                <a:tc>
                  <a:txBody>
                    <a:bodyPr/>
                    <a:lstStyle/>
                    <a:p>
                      <a:r>
                        <a:rPr sz="1300" b="1">
                          <a:solidFill>
                            <a:srgbClr val="0D9488"/>
                          </a:solidFill>
                          <a:latin typeface="Consolas"/>
                        </a:rPr>
                        <a:t>fil</a:t>
                      </a:r>
                    </a:p>
                  </a:txBody>
                  <a:tcPr anchor="ctr">
                    <a:solidFill>
                      <a:srgbClr val="FFFFFF"/>
                    </a:solidFill>
                  </a:tcPr>
                </a:tc>
                <a:tc>
                  <a:txBody>
                    <a:bodyPr/>
                    <a:lstStyle/>
                    <a:p>
                      <a:r>
                        <a:rPr sz="1200" b="0">
                          <a:solidFill>
                            <a:srgbClr val="42566B"/>
                          </a:solidFill>
                          <a:latin typeface="Arial"/>
                        </a:rPr>
                        <a:t>Boolean filter (TRUE = include)</a:t>
                      </a:r>
                    </a:p>
                  </a:txBody>
                  <a:tcPr anchor="ctr">
                    <a:solidFill>
                      <a:srgbClr val="FFFFFF"/>
                    </a:solidFill>
                  </a:tcPr>
                </a:tc>
                <a:tc>
                  <a:txBody>
                    <a:bodyPr/>
                    <a:lstStyle/>
                    <a:p>
                      <a:r>
                        <a:rPr sz="1200" b="0">
                          <a:solidFill>
                            <a:srgbClr val="0A7A70"/>
                          </a:solidFill>
                          <a:latin typeface="Consolas"/>
                        </a:rPr>
                        <a:t>YourTable[Full_Data]  (or a formula column)</a:t>
                      </a:r>
                    </a:p>
                  </a:txBody>
                  <a:tcPr anchor="ctr">
                    <a:solidFill>
                      <a:srgbClr val="FFFFFF"/>
                    </a:solidFill>
                  </a:tcPr>
                </a:tc>
                <a:tc>
                  <a:txBody>
                    <a:bodyPr/>
                    <a:lstStyle/>
                    <a:p>
                      <a:pPr algn="ctr"/>
                      <a:r>
                        <a:rPr sz="1800" b="1">
                          <a:solidFill>
                            <a:srgbClr val="0D9488"/>
                          </a:solidFill>
                          <a:latin typeface="Arial"/>
                        </a:rPr>
                        <a:t>✓</a:t>
                      </a:r>
                    </a:p>
                  </a:txBody>
                  <a:tcPr anchor="ctr">
                    <a:solidFill>
                      <a:srgbClr val="FFFFFF"/>
                    </a:solidFill>
                  </a:tcPr>
                </a:tc>
                <a:extLst>
                  <a:ext uri="{0D108BD9-81ED-4DB2-BD59-A6C34878D82A}">
                    <a16:rowId xmlns:a16="http://schemas.microsoft.com/office/drawing/2014/main" val="10003"/>
                  </a:ext>
                </a:extLst>
              </a:tr>
              <a:tr h="560000">
                <a:tc>
                  <a:txBody>
                    <a:bodyPr/>
                    <a:lstStyle/>
                    <a:p>
                      <a:r>
                        <a:rPr sz="1300" b="1">
                          <a:solidFill>
                            <a:srgbClr val="9AA8B5"/>
                          </a:solidFill>
                          <a:latin typeface="Consolas"/>
                        </a:rPr>
                        <a:t>x_s</a:t>
                      </a:r>
                    </a:p>
                  </a:txBody>
                  <a:tcPr anchor="ctr">
                    <a:solidFill>
                      <a:srgbClr val="F0F5FA"/>
                    </a:solidFill>
                  </a:tcPr>
                </a:tc>
                <a:tc>
                  <a:txBody>
                    <a:bodyPr/>
                    <a:lstStyle/>
                    <a:p>
                      <a:r>
                        <a:rPr sz="1200" b="0">
                          <a:solidFill>
                            <a:srgbClr val="9AA8B5"/>
                          </a:solidFill>
                          <a:latin typeface="Arial"/>
                        </a:rPr>
                        <a:t>Active predictor subset</a:t>
                      </a:r>
                    </a:p>
                  </a:txBody>
                  <a:tcPr anchor="ctr">
                    <a:solidFill>
                      <a:srgbClr val="F0F5FA"/>
                    </a:solidFill>
                  </a:tcPr>
                </a:tc>
                <a:tc>
                  <a:txBody>
                    <a:bodyPr/>
                    <a:lstStyle/>
                    <a:p>
                      <a:r>
                        <a:rPr sz="1200" b="0" i="1" dirty="0">
                          <a:solidFill>
                            <a:srgbClr val="9AA8B5"/>
                          </a:solidFill>
                          <a:latin typeface="Arial"/>
                        </a:rPr>
                        <a:t>Auto-computed from </a:t>
                      </a:r>
                      <a:r>
                        <a:rPr sz="1200" b="0" i="1" dirty="0" err="1">
                          <a:solidFill>
                            <a:srgbClr val="9AA8B5"/>
                          </a:solidFill>
                          <a:latin typeface="Arial"/>
                        </a:rPr>
                        <a:t>All_Xs</a:t>
                      </a:r>
                      <a:r>
                        <a:rPr sz="1200" b="0" i="1" dirty="0">
                          <a:solidFill>
                            <a:srgbClr val="9AA8B5"/>
                          </a:solidFill>
                          <a:latin typeface="Arial"/>
                        </a:rPr>
                        <a:t> + toggle </a:t>
                      </a:r>
                      <a:r>
                        <a:rPr lang="en-US" sz="1200" b="0" i="1" dirty="0">
                          <a:solidFill>
                            <a:srgbClr val="9AA8B5"/>
                          </a:solidFill>
                          <a:latin typeface="Arial"/>
                        </a:rPr>
                        <a:t>dropdowns</a:t>
                      </a:r>
                      <a:endParaRPr sz="1200" b="0" i="1" dirty="0">
                        <a:solidFill>
                          <a:srgbClr val="9AA8B5"/>
                        </a:solidFill>
                        <a:latin typeface="Arial"/>
                      </a:endParaRPr>
                    </a:p>
                  </a:txBody>
                  <a:tcPr anchor="ctr">
                    <a:solidFill>
                      <a:srgbClr val="F0F5FA"/>
                    </a:solidFill>
                  </a:tcPr>
                </a:tc>
                <a:tc>
                  <a:txBody>
                    <a:bodyPr/>
                    <a:lstStyle/>
                    <a:p>
                      <a:pPr algn="ctr"/>
                      <a:r>
                        <a:rPr sz="1400" b="0">
                          <a:solidFill>
                            <a:srgbClr val="9AA8B5"/>
                          </a:solidFill>
                          <a:latin typeface="Arial"/>
                        </a:rPr>
                        <a:t>no</a:t>
                      </a:r>
                    </a:p>
                  </a:txBody>
                  <a:tcPr anchor="ctr">
                    <a:solidFill>
                      <a:srgbClr val="F0F5FA"/>
                    </a:solidFill>
                  </a:tcPr>
                </a:tc>
                <a:extLst>
                  <a:ext uri="{0D108BD9-81ED-4DB2-BD59-A6C34878D82A}">
                    <a16:rowId xmlns:a16="http://schemas.microsoft.com/office/drawing/2014/main" val="10004"/>
                  </a:ext>
                </a:extLst>
              </a:tr>
              <a:tr h="560000">
                <a:tc>
                  <a:txBody>
                    <a:bodyPr/>
                    <a:lstStyle/>
                    <a:p>
                      <a:r>
                        <a:rPr sz="1100" b="1">
                          <a:solidFill>
                            <a:srgbClr val="9AA8B5"/>
                          </a:solidFill>
                          <a:latin typeface="Consolas"/>
                        </a:rPr>
                        <a:t>Allow_Intercept, pred_input</a:t>
                      </a:r>
                    </a:p>
                  </a:txBody>
                  <a:tcPr anchor="ctr">
                    <a:solidFill>
                      <a:srgbClr val="FFFFFF"/>
                    </a:solidFill>
                  </a:tcPr>
                </a:tc>
                <a:tc>
                  <a:txBody>
                    <a:bodyPr/>
                    <a:lstStyle/>
                    <a:p>
                      <a:r>
                        <a:rPr sz="1200" b="0">
                          <a:solidFill>
                            <a:srgbClr val="9AA8B5"/>
                          </a:solidFill>
                          <a:latin typeface="Arial"/>
                        </a:rPr>
                        <a:t>Toggle cell, input range</a:t>
                      </a:r>
                    </a:p>
                  </a:txBody>
                  <a:tcPr anchor="ctr">
                    <a:solidFill>
                      <a:srgbClr val="FFFFFF"/>
                    </a:solidFill>
                  </a:tcPr>
                </a:tc>
                <a:tc>
                  <a:txBody>
                    <a:bodyPr/>
                    <a:lstStyle/>
                    <a:p>
                      <a:r>
                        <a:rPr sz="1200" b="0" i="1">
                          <a:solidFill>
                            <a:srgbClr val="9AA8B5"/>
                          </a:solidFill>
                          <a:latin typeface="Arial"/>
                        </a:rPr>
                        <a:t>Already wired on the copied sheet</a:t>
                      </a:r>
                    </a:p>
                  </a:txBody>
                  <a:tcPr anchor="ctr">
                    <a:solidFill>
                      <a:srgbClr val="FFFFFF"/>
                    </a:solidFill>
                  </a:tcPr>
                </a:tc>
                <a:tc>
                  <a:txBody>
                    <a:bodyPr/>
                    <a:lstStyle/>
                    <a:p>
                      <a:pPr algn="ctr"/>
                      <a:r>
                        <a:rPr sz="1400" b="0" dirty="0">
                          <a:solidFill>
                            <a:srgbClr val="9AA8B5"/>
                          </a:solidFill>
                          <a:latin typeface="Arial"/>
                        </a:rPr>
                        <a:t>no</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66928" y="5250000"/>
            <a:ext cx="11057839" cy="350000"/>
          </a:xfrm>
          <a:prstGeom prst="rect">
            <a:avLst/>
          </a:prstGeom>
          <a:noFill/>
        </p:spPr>
        <p:txBody>
          <a:bodyPr wrap="square" lIns="0" tIns="0" rIns="0" bIns="0" anchor="t">
            <a:spAutoFit/>
          </a:bodyPr>
          <a:lstStyle/>
          <a:p>
            <a:pPr algn="l">
              <a:lnSpc>
                <a:spcPct val="100000"/>
              </a:lnSpc>
            </a:pPr>
            <a:r>
              <a:rPr sz="1150" b="0" i="1">
                <a:solidFill>
                  <a:srgbClr val="6B7C8C"/>
                </a:solidFill>
                <a:latin typeface="Arial"/>
              </a:rPr>
              <a:t>Scope: all five names are worksheet-scoped, not workbook-scoped — they won’t collide across sheets in the same workbook.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LAMBDA_functions sheet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A browsable catalog — the workbook documents itself.</a:t>
            </a:r>
          </a:p>
        </p:txBody>
      </p:sp>
      <p:sp>
        <p:nvSpPr>
          <p:cNvPr id="4" name="Rounded Rectangle 3"/>
          <p:cNvSpPr/>
          <p:nvPr/>
        </p:nvSpPr>
        <p:spPr>
          <a:xfrm>
            <a:off x="566928" y="2011680"/>
            <a:ext cx="5029200" cy="3700000"/>
          </a:xfrm>
          <a:prstGeom prst="roundRect">
            <a:avLst>
              <a:gd name="adj" fmla="val 6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3500000"/>
          </a:xfrm>
          <a:prstGeom prst="rect">
            <a:avLst/>
          </a:prstGeom>
          <a:noFill/>
        </p:spPr>
        <p:txBody>
          <a:bodyPr wrap="square" lIns="0" tIns="0" rIns="0" bIns="0" anchor="t">
            <a:spAutoFit/>
          </a:bodyPr>
          <a:lstStyle/>
          <a:p>
            <a:pPr algn="l">
              <a:lnSpc>
                <a:spcPct val="115000"/>
              </a:lnSpc>
            </a:pPr>
            <a:r>
              <a:rPr sz="1600" b="1" i="0">
                <a:solidFill>
                  <a:srgbClr val="0A7A70"/>
                </a:solidFill>
                <a:latin typeface="Arial"/>
              </a:rPr>
              <a:t>Each row is one function</a:t>
            </a:r>
          </a:p>
          <a:p>
            <a:pPr algn="l">
              <a:lnSpc>
                <a:spcPct val="115000"/>
              </a:lnSpc>
            </a:pPr>
            <a:endParaRPr/>
          </a:p>
          <a:p>
            <a:pPr algn="l">
              <a:lnSpc>
                <a:spcPct val="115000"/>
              </a:lnSpc>
            </a:pPr>
            <a:r>
              <a:rPr sz="1300" b="1" i="0">
                <a:solidFill>
                  <a:srgbClr val="14233A"/>
                </a:solidFill>
                <a:latin typeface="Arial"/>
              </a:rPr>
              <a:t>Name</a:t>
            </a:r>
            <a:r>
              <a:rPr sz="1300" b="0" i="0">
                <a:solidFill>
                  <a:srgbClr val="42566B"/>
                </a:solidFill>
                <a:latin typeface="Arial"/>
              </a:rPr>
              <a:t>  —  the callable function name</a:t>
            </a:r>
          </a:p>
          <a:p>
            <a:pPr algn="l">
              <a:lnSpc>
                <a:spcPct val="115000"/>
              </a:lnSpc>
            </a:pPr>
            <a:r>
              <a:rPr sz="1300" b="1" i="0">
                <a:solidFill>
                  <a:srgbClr val="14233A"/>
                </a:solidFill>
                <a:latin typeface="Arial"/>
              </a:rPr>
              <a:t>Arguments</a:t>
            </a:r>
            <a:r>
              <a:rPr sz="1300" b="0" i="0">
                <a:solidFill>
                  <a:srgbClr val="42566B"/>
                </a:solidFill>
                <a:latin typeface="Arial"/>
              </a:rPr>
              <a:t>  —  parameters, [optional] in brackets</a:t>
            </a:r>
          </a:p>
          <a:p>
            <a:pPr algn="l">
              <a:lnSpc>
                <a:spcPct val="115000"/>
              </a:lnSpc>
            </a:pPr>
            <a:r>
              <a:rPr sz="1300" b="1" i="0">
                <a:solidFill>
                  <a:srgbClr val="14233A"/>
                </a:solidFill>
                <a:latin typeface="Arial"/>
              </a:rPr>
              <a:t>Yields</a:t>
            </a:r>
            <a:r>
              <a:rPr sz="1300" b="0" i="0">
                <a:solidFill>
                  <a:srgbClr val="42566B"/>
                </a:solidFill>
                <a:latin typeface="Arial"/>
              </a:rPr>
              <a:t>  —  scalar / vector / array</a:t>
            </a:r>
          </a:p>
          <a:p>
            <a:pPr algn="l">
              <a:lnSpc>
                <a:spcPct val="115000"/>
              </a:lnSpc>
            </a:pPr>
            <a:r>
              <a:rPr sz="1300" b="1" i="0">
                <a:solidFill>
                  <a:srgbClr val="14233A"/>
                </a:solidFill>
                <a:latin typeface="Arial"/>
              </a:rPr>
              <a:t>Formula</a:t>
            </a:r>
            <a:r>
              <a:rPr sz="1300" b="0" i="0">
                <a:solidFill>
                  <a:srgbClr val="42566B"/>
                </a:solidFill>
                <a:latin typeface="Arial"/>
              </a:rPr>
              <a:t>  —  human-readable formula body</a:t>
            </a:r>
          </a:p>
          <a:p>
            <a:pPr algn="l">
              <a:lnSpc>
                <a:spcPct val="115000"/>
              </a:lnSpc>
            </a:pPr>
            <a:r>
              <a:rPr sz="1300" b="1" i="0">
                <a:solidFill>
                  <a:srgbClr val="14233A"/>
                </a:solidFill>
                <a:latin typeface="Arial"/>
              </a:rPr>
              <a:t>Description</a:t>
            </a:r>
            <a:r>
              <a:rPr sz="1300" b="0" i="0">
                <a:solidFill>
                  <a:srgbClr val="42566B"/>
                </a:solidFill>
                <a:latin typeface="Arial"/>
              </a:rPr>
              <a:t>  —  plain-English explanation</a:t>
            </a:r>
          </a:p>
        </p:txBody>
      </p:sp>
      <p:sp>
        <p:nvSpPr>
          <p:cNvPr id="6" name="Rounded Rectangle 5"/>
          <p:cNvSpPr/>
          <p:nvPr/>
        </p:nvSpPr>
        <p:spPr>
          <a:xfrm>
            <a:off x="5824728" y="2011680"/>
            <a:ext cx="5797296" cy="3700000"/>
          </a:xfrm>
          <a:prstGeom prst="roundRect">
            <a:avLst>
              <a:gd name="adj" fmla="val 6000"/>
            </a:avLst>
          </a:prstGeom>
          <a:solidFill>
            <a:srgbClr val="FBF7F2"/>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53328" y="2103120"/>
            <a:ext cx="5303520" cy="3500000"/>
          </a:xfrm>
          <a:prstGeom prst="rect">
            <a:avLst/>
          </a:prstGeom>
          <a:noFill/>
        </p:spPr>
        <p:txBody>
          <a:bodyPr wrap="square" lIns="0" tIns="0" rIns="0" bIns="0" anchor="t">
            <a:spAutoFit/>
          </a:bodyPr>
          <a:lstStyle/>
          <a:p>
            <a:pPr algn="l">
              <a:lnSpc>
                <a:spcPct val="115000"/>
              </a:lnSpc>
            </a:pPr>
            <a:r>
              <a:rPr sz="1600" b="1" i="0">
                <a:solidFill>
                  <a:srgbClr val="B8860B"/>
                </a:solidFill>
                <a:latin typeface="Arial"/>
              </a:rPr>
              <a:t>The catalog is the spec</a:t>
            </a:r>
          </a:p>
          <a:p>
            <a:pPr algn="l">
              <a:lnSpc>
                <a:spcPct val="115000"/>
              </a:lnSpc>
            </a:pPr>
            <a:endParaRPr/>
          </a:p>
          <a:p>
            <a:pPr algn="l">
              <a:lnSpc>
                <a:spcPct val="115000"/>
              </a:lnSpc>
            </a:pPr>
            <a:r>
              <a:rPr sz="1300" b="0" i="0">
                <a:solidFill>
                  <a:srgbClr val="42566B"/>
                </a:solidFill>
                <a:latin typeface="Arial"/>
              </a:rPr>
              <a:t>The formula in the sheet is the formula in the Name Manager — no separate documentation to go stale.</a:t>
            </a:r>
          </a:p>
          <a:p>
            <a:pPr algn="l">
              <a:lnSpc>
                <a:spcPct val="115000"/>
              </a:lnSpc>
            </a:pPr>
            <a:endParaRPr/>
          </a:p>
          <a:p>
            <a:pPr algn="l">
              <a:lnSpc>
                <a:spcPct val="115000"/>
              </a:lnSpc>
            </a:pPr>
            <a:r>
              <a:rPr sz="1300" b="0" i="0">
                <a:solidFill>
                  <a:srgbClr val="42566B"/>
                </a:solidFill>
                <a:latin typeface="Arial"/>
              </a:rPr>
              <a:t>Open Name Manager and you see the same ~60 entries — functions, arguments, descriptions — all matching the catalog exactly.</a:t>
            </a:r>
          </a:p>
          <a:p>
            <a:pPr algn="l">
              <a:lnSpc>
                <a:spcPct val="115000"/>
              </a:lnSpc>
            </a:pPr>
            <a:endParaRPr/>
          </a:p>
          <a:p>
            <a:pPr algn="l">
              <a:lnSpc>
                <a:spcPct val="115000"/>
              </a:lnSpc>
            </a:pPr>
            <a:r>
              <a:rPr sz="1300" b="0" i="1">
                <a:solidFill>
                  <a:srgbClr val="6B7C8C"/>
                </a:solidFill>
                <a:latin typeface="Arial"/>
              </a:rPr>
              <a:t>Adding a function: edit the JSON source, rebuild — the catalog and the workbook update together.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How to use it in your analysis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 workbook is designed for portability. Copy a sheet, bring the library.</a:t>
            </a:r>
          </a:p>
        </p:txBody>
      </p:sp>
      <p:sp>
        <p:nvSpPr>
          <p:cNvPr id="4" name="Rounded Rectangle 3"/>
          <p:cNvSpPr/>
          <p:nvPr/>
        </p:nvSpPr>
        <p:spPr>
          <a:xfrm>
            <a:off x="566928" y="2011680"/>
            <a:ext cx="5029200" cy="1280160"/>
          </a:xfrm>
          <a:prstGeom prst="roundRect">
            <a:avLst>
              <a:gd name="adj" fmla="val 6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457200"/>
          </a:xfrm>
          <a:prstGeom prst="rect">
            <a:avLst/>
          </a:prstGeom>
          <a:noFill/>
        </p:spPr>
        <p:txBody>
          <a:bodyPr wrap="square" lIns="0" tIns="0" rIns="0" bIns="0" anchor="t">
            <a:spAutoFit/>
          </a:bodyPr>
          <a:lstStyle/>
          <a:p>
            <a:pPr algn="l">
              <a:lnSpc>
                <a:spcPct val="100000"/>
              </a:lnSpc>
            </a:pPr>
            <a:r>
              <a:rPr sz="1600" b="1" i="0">
                <a:solidFill>
                  <a:srgbClr val="0A7A70"/>
                </a:solidFill>
                <a:latin typeface="Arial"/>
              </a:rPr>
              <a:t>LAMBDA functions</a:t>
            </a:r>
          </a:p>
        </p:txBody>
      </p:sp>
      <p:sp>
        <p:nvSpPr>
          <p:cNvPr id="6" name="TextBox 5"/>
          <p:cNvSpPr txBox="1"/>
          <p:nvPr/>
        </p:nvSpPr>
        <p:spPr>
          <a:xfrm>
            <a:off x="795528" y="2514600"/>
            <a:ext cx="4572000" cy="640080"/>
          </a:xfrm>
          <a:prstGeom prst="rect">
            <a:avLst/>
          </a:prstGeom>
          <a:noFill/>
        </p:spPr>
        <p:txBody>
          <a:bodyPr wrap="square" lIns="0" tIns="0" rIns="0" bIns="0" anchor="t">
            <a:spAutoFit/>
          </a:bodyPr>
          <a:lstStyle/>
          <a:p>
            <a:pPr algn="l">
              <a:lnSpc>
                <a:spcPct val="104000"/>
              </a:lnSpc>
            </a:pPr>
            <a:r>
              <a:rPr sz="1300" b="0" i="0">
                <a:solidFill>
                  <a:srgbClr val="42566B"/>
                </a:solidFill>
                <a:latin typeface="Arial"/>
              </a:rPr>
              <a:t>Scoped to the workbook. When you copy a sheet that uses them, they travel with it.</a:t>
            </a:r>
          </a:p>
        </p:txBody>
      </p:sp>
      <p:sp>
        <p:nvSpPr>
          <p:cNvPr id="7" name="Rounded Rectangle 6"/>
          <p:cNvSpPr/>
          <p:nvPr/>
        </p:nvSpPr>
        <p:spPr>
          <a:xfrm>
            <a:off x="5824728" y="2011680"/>
            <a:ext cx="5797296" cy="1280160"/>
          </a:xfrm>
          <a:prstGeom prst="roundRect">
            <a:avLst>
              <a:gd name="adj" fmla="val 6000"/>
            </a:avLst>
          </a:prstGeom>
          <a:solidFill>
            <a:srgbClr val="FBF7F2"/>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53328" y="2103120"/>
            <a:ext cx="5303520" cy="457200"/>
          </a:xfrm>
          <a:prstGeom prst="rect">
            <a:avLst/>
          </a:prstGeom>
          <a:noFill/>
        </p:spPr>
        <p:txBody>
          <a:bodyPr wrap="square" lIns="0" tIns="0" rIns="0" bIns="0" anchor="t">
            <a:spAutoFit/>
          </a:bodyPr>
          <a:lstStyle/>
          <a:p>
            <a:pPr algn="l">
              <a:lnSpc>
                <a:spcPct val="100000"/>
              </a:lnSpc>
            </a:pPr>
            <a:r>
              <a:rPr sz="1600" b="1" i="0">
                <a:solidFill>
                  <a:srgbClr val="B8860B"/>
                </a:solidFill>
                <a:latin typeface="Arial"/>
              </a:rPr>
              <a:t>Named ranges  (All_Xs, y, fil, x_s)</a:t>
            </a:r>
          </a:p>
        </p:txBody>
      </p:sp>
      <p:sp>
        <p:nvSpPr>
          <p:cNvPr id="9" name="TextBox 8"/>
          <p:cNvSpPr txBox="1"/>
          <p:nvPr/>
        </p:nvSpPr>
        <p:spPr>
          <a:xfrm>
            <a:off x="6053328" y="2514600"/>
            <a:ext cx="5394960" cy="640080"/>
          </a:xfrm>
          <a:prstGeom prst="rect">
            <a:avLst/>
          </a:prstGeom>
          <a:noFill/>
        </p:spPr>
        <p:txBody>
          <a:bodyPr wrap="square" lIns="0" tIns="0" rIns="0" bIns="0" anchor="t">
            <a:spAutoFit/>
          </a:bodyPr>
          <a:lstStyle/>
          <a:p>
            <a:pPr algn="l">
              <a:lnSpc>
                <a:spcPct val="104000"/>
              </a:lnSpc>
            </a:pPr>
            <a:r>
              <a:rPr sz="1300" b="0" i="0">
                <a:solidFill>
                  <a:srgbClr val="42566B"/>
                </a:solidFill>
                <a:latin typeface="Arial"/>
              </a:rPr>
              <a:t>Scoped to the worksheet. You reassign them to point at your data.</a:t>
            </a:r>
          </a:p>
        </p:txBody>
      </p:sp>
      <p:sp>
        <p:nvSpPr>
          <p:cNvPr id="10" name="TextBox 9"/>
          <p:cNvSpPr txBox="1"/>
          <p:nvPr/>
        </p:nvSpPr>
        <p:spPr>
          <a:xfrm>
            <a:off x="566928" y="3520440"/>
            <a:ext cx="11055096" cy="365760"/>
          </a:xfrm>
          <a:prstGeom prst="rect">
            <a:avLst/>
          </a:prstGeom>
          <a:noFill/>
        </p:spPr>
        <p:txBody>
          <a:bodyPr wrap="square" lIns="0" tIns="0" rIns="0" bIns="0" anchor="t">
            <a:spAutoFit/>
          </a:bodyPr>
          <a:lstStyle/>
          <a:p>
            <a:pPr algn="l">
              <a:lnSpc>
                <a:spcPct val="100000"/>
              </a:lnSpc>
            </a:pPr>
            <a:r>
              <a:rPr sz="1700" b="1" i="0">
                <a:solidFill>
                  <a:srgbClr val="14233A"/>
                </a:solidFill>
                <a:latin typeface="Arial"/>
              </a:rPr>
              <a:t>Live demo: slotting the library into your own workbook</a:t>
            </a:r>
          </a:p>
        </p:txBody>
      </p:sp>
      <p:sp>
        <p:nvSpPr>
          <p:cNvPr id="11" name="Oval 10"/>
          <p:cNvSpPr/>
          <p:nvPr/>
        </p:nvSpPr>
        <p:spPr>
          <a:xfrm>
            <a:off x="566928" y="3977639"/>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3977639"/>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1</a:t>
            </a:r>
          </a:p>
        </p:txBody>
      </p:sp>
      <p:sp>
        <p:nvSpPr>
          <p:cNvPr id="13" name="TextBox 12"/>
          <p:cNvSpPr txBox="1"/>
          <p:nvPr/>
        </p:nvSpPr>
        <p:spPr>
          <a:xfrm>
            <a:off x="1069848" y="3977639"/>
            <a:ext cx="10241280" cy="384048"/>
          </a:xfrm>
          <a:prstGeom prst="rect">
            <a:avLst/>
          </a:prstGeom>
          <a:noFill/>
        </p:spPr>
        <p:txBody>
          <a:bodyPr wrap="square" lIns="0" tIns="0" rIns="0" bIns="0" anchor="ctr">
            <a:spAutoFit/>
          </a:bodyPr>
          <a:lstStyle/>
          <a:p>
            <a:pPr algn="l">
              <a:lnSpc>
                <a:spcPct val="100000"/>
              </a:lnSpc>
            </a:pPr>
            <a:r>
              <a:rPr sz="1300" b="0" i="0">
                <a:solidFill>
                  <a:srgbClr val="14233A"/>
                </a:solidFill>
                <a:latin typeface="Arial"/>
              </a:rPr>
              <a:t>Right-click the Regression tab → Move or Copy → select your workbook → ✓ Create a copy</a:t>
            </a:r>
          </a:p>
        </p:txBody>
      </p:sp>
      <p:sp>
        <p:nvSpPr>
          <p:cNvPr id="14" name="Oval 13"/>
          <p:cNvSpPr/>
          <p:nvPr/>
        </p:nvSpPr>
        <p:spPr>
          <a:xfrm>
            <a:off x="566928" y="4379976"/>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4379976"/>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2</a:t>
            </a:r>
          </a:p>
        </p:txBody>
      </p:sp>
      <p:sp>
        <p:nvSpPr>
          <p:cNvPr id="16" name="TextBox 15"/>
          <p:cNvSpPr txBox="1"/>
          <p:nvPr/>
        </p:nvSpPr>
        <p:spPr>
          <a:xfrm>
            <a:off x="1069848" y="4379976"/>
            <a:ext cx="10241280" cy="384048"/>
          </a:xfrm>
          <a:prstGeom prst="rect">
            <a:avLst/>
          </a:prstGeom>
          <a:noFill/>
        </p:spPr>
        <p:txBody>
          <a:bodyPr wrap="square" lIns="0" tIns="0" rIns="0" bIns="0" anchor="ctr">
            <a:spAutoFit/>
          </a:bodyPr>
          <a:lstStyle/>
          <a:p>
            <a:pPr algn="l">
              <a:lnSpc>
                <a:spcPct val="100000"/>
              </a:lnSpc>
            </a:pPr>
            <a:r>
              <a:rPr sz="1300" b="0" i="0">
                <a:solidFill>
                  <a:srgbClr val="14233A"/>
                </a:solidFill>
                <a:latin typeface="Arial"/>
              </a:rPr>
              <a:t>All ~60 LAMBDA functions transfer automatically — they're workbook-scoped</a:t>
            </a:r>
          </a:p>
        </p:txBody>
      </p:sp>
      <p:sp>
        <p:nvSpPr>
          <p:cNvPr id="17" name="Oval 16"/>
          <p:cNvSpPr/>
          <p:nvPr/>
        </p:nvSpPr>
        <p:spPr>
          <a:xfrm>
            <a:off x="566928" y="4782312"/>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782312"/>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3</a:t>
            </a:r>
          </a:p>
        </p:txBody>
      </p:sp>
      <p:sp>
        <p:nvSpPr>
          <p:cNvPr id="19" name="TextBox 18"/>
          <p:cNvSpPr txBox="1"/>
          <p:nvPr/>
        </p:nvSpPr>
        <p:spPr>
          <a:xfrm>
            <a:off x="1069848" y="4782312"/>
            <a:ext cx="10241280" cy="384048"/>
          </a:xfrm>
          <a:prstGeom prst="rect">
            <a:avLst/>
          </a:prstGeom>
          <a:noFill/>
        </p:spPr>
        <p:txBody>
          <a:bodyPr wrap="square" lIns="0" tIns="0" rIns="0" bIns="0" anchor="ctr">
            <a:spAutoFit/>
          </a:bodyPr>
          <a:lstStyle/>
          <a:p>
            <a:pPr algn="l">
              <a:lnSpc>
                <a:spcPct val="100000"/>
              </a:lnSpc>
            </a:pPr>
            <a:r>
              <a:rPr sz="1300" b="0" i="0">
                <a:solidFill>
                  <a:srgbClr val="14233A"/>
                </a:solidFill>
                <a:latin typeface="Arial"/>
              </a:rPr>
              <a:t>Point the named ranges at your data:</a:t>
            </a:r>
          </a:p>
        </p:txBody>
      </p:sp>
      <p:sp>
        <p:nvSpPr>
          <p:cNvPr id="20" name="TextBox 19"/>
          <p:cNvSpPr txBox="1"/>
          <p:nvPr/>
        </p:nvSpPr>
        <p:spPr>
          <a:xfrm>
            <a:off x="1069848" y="5184648"/>
            <a:ext cx="10241280" cy="384048"/>
          </a:xfrm>
          <a:prstGeom prst="rect">
            <a:avLst/>
          </a:prstGeom>
          <a:noFill/>
        </p:spPr>
        <p:txBody>
          <a:bodyPr wrap="square" lIns="0" tIns="0" rIns="0" bIns="0" anchor="ctr">
            <a:spAutoFit/>
          </a:bodyPr>
          <a:lstStyle/>
          <a:p>
            <a:pPr algn="l">
              <a:lnSpc>
                <a:spcPct val="100000"/>
              </a:lnSpc>
            </a:pPr>
            <a:r>
              <a:rPr sz="1150" b="0" i="0">
                <a:solidFill>
                  <a:srgbClr val="0A7A70"/>
                </a:solidFill>
                <a:latin typeface="Consolas"/>
              </a:rPr>
              <a:t>     All_Xs = YourTable[[Driver1]:[DriverN]]       y = YourTable[Cost]       fil = YourTable[Complete]</a:t>
            </a:r>
          </a:p>
        </p:txBody>
      </p:sp>
      <p:sp>
        <p:nvSpPr>
          <p:cNvPr id="21" name="Oval 20"/>
          <p:cNvSpPr/>
          <p:nvPr/>
        </p:nvSpPr>
        <p:spPr>
          <a:xfrm>
            <a:off x="566928" y="5586984"/>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5586984"/>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4</a:t>
            </a:r>
          </a:p>
        </p:txBody>
      </p:sp>
      <p:sp>
        <p:nvSpPr>
          <p:cNvPr id="23" name="TextBox 22"/>
          <p:cNvSpPr txBox="1"/>
          <p:nvPr/>
        </p:nvSpPr>
        <p:spPr>
          <a:xfrm>
            <a:off x="1069848" y="5586984"/>
            <a:ext cx="10241280" cy="384048"/>
          </a:xfrm>
          <a:prstGeom prst="rect">
            <a:avLst/>
          </a:prstGeom>
          <a:noFill/>
        </p:spPr>
        <p:txBody>
          <a:bodyPr wrap="square" lIns="0" tIns="0" rIns="0" bIns="0" anchor="ctr">
            <a:spAutoFit/>
          </a:bodyPr>
          <a:lstStyle/>
          <a:p>
            <a:pPr algn="l">
              <a:lnSpc>
                <a:spcPct val="100000"/>
              </a:lnSpc>
            </a:pPr>
            <a:r>
              <a:rPr sz="1300" b="0" i="0">
                <a:solidFill>
                  <a:srgbClr val="14233A"/>
                </a:solidFill>
                <a:latin typeface="Arial"/>
              </a:rPr>
              <a:t>The full analysis recomputes on your data. Toggle predictors, check VIF, predict.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Benefits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Properties of a formula-based approach to regression.</a:t>
            </a:r>
          </a:p>
        </p:txBody>
      </p:sp>
      <p:sp>
        <p:nvSpPr>
          <p:cNvPr id="4" name="Rounded Rectangle 3"/>
          <p:cNvSpPr/>
          <p:nvPr/>
        </p:nvSpPr>
        <p:spPr>
          <a:xfrm>
            <a:off x="566928" y="2011680"/>
            <a:ext cx="5449824" cy="160020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Transparent</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Every calculation is a visible formula. Nothing hidden in modules or compiled code — what you see is what runs.</a:t>
            </a:r>
          </a:p>
        </p:txBody>
      </p:sp>
      <p:sp>
        <p:nvSpPr>
          <p:cNvPr id="7" name="Rounded Rectangle 6"/>
          <p:cNvSpPr/>
          <p:nvPr/>
        </p:nvSpPr>
        <p:spPr>
          <a:xfrm>
            <a:off x="6172200" y="2011680"/>
            <a:ext cx="5449824" cy="1600200"/>
          </a:xfrm>
          <a:prstGeom prst="roundRect">
            <a:avLst>
              <a:gd name="adj" fmla="val 6000"/>
            </a:avLst>
          </a:prstGeom>
          <a:solidFill>
            <a:srgbClr val="F0F5FA"/>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Traceable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Formulas reference the source table by name. A reviewer can click any cell and follow it back to the raw data.</a:t>
            </a:r>
          </a:p>
        </p:txBody>
      </p:sp>
      <p:sp>
        <p:nvSpPr>
          <p:cNvPr id="10" name="Rounded Rectangle 9"/>
          <p:cNvSpPr/>
          <p:nvPr/>
        </p:nvSpPr>
        <p:spPr>
          <a:xfrm>
            <a:off x="566928" y="3749039"/>
            <a:ext cx="5449824" cy="150876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B8860B"/>
                </a:solidFill>
                <a:latin typeface="Arial"/>
              </a:rPr>
              <a:t>Live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Change an input and the entire model recomputes. No re-running, no scripts, no stale snapshots.</a:t>
            </a:r>
          </a:p>
        </p:txBody>
      </p:sp>
      <p:sp>
        <p:nvSpPr>
          <p:cNvPr id="13" name="Rounded Rectangle 12"/>
          <p:cNvSpPr/>
          <p:nvPr/>
        </p:nvSpPr>
        <p:spPr>
          <a:xfrm>
            <a:off x="6172200" y="3749039"/>
            <a:ext cx="5449824" cy="150876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Uncertainty-ready</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Built around prediction intervals and SE of prediction — not just a point estimate.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Two Excel features do the work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Technique — worth knowing regardless of this tool.</a:t>
            </a:r>
          </a:p>
        </p:txBody>
      </p:sp>
      <p:sp>
        <p:nvSpPr>
          <p:cNvPr id="4" name="Rounded Rectangle 3"/>
          <p:cNvSpPr/>
          <p:nvPr/>
        </p:nvSpPr>
        <p:spPr>
          <a:xfrm>
            <a:off x="5486400" y="2103120"/>
            <a:ext cx="6135624" cy="914400"/>
          </a:xfrm>
          <a:prstGeom prst="roundRect">
            <a:avLst>
              <a:gd name="adj" fmla="val 5000"/>
            </a:avLst>
          </a:prstGeom>
          <a:solidFill>
            <a:srgbClr val="ECFDF5"/>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057400"/>
            <a:ext cx="4572000" cy="457200"/>
          </a:xfrm>
          <a:prstGeom prst="rect">
            <a:avLst/>
          </a:prstGeom>
          <a:noFill/>
        </p:spPr>
        <p:txBody>
          <a:bodyPr wrap="square" lIns="0" tIns="0" rIns="0" bIns="0" anchor="t">
            <a:spAutoFit/>
          </a:bodyPr>
          <a:lstStyle/>
          <a:p>
            <a:pPr algn="l">
              <a:lnSpc>
                <a:spcPct val="100000"/>
              </a:lnSpc>
            </a:pPr>
            <a:r>
              <a:rPr sz="2000" b="1" i="0">
                <a:solidFill>
                  <a:srgbClr val="14233A"/>
                </a:solidFill>
                <a:latin typeface="Arial"/>
              </a:rPr>
              <a:t>Structured references</a:t>
            </a:r>
          </a:p>
        </p:txBody>
      </p:sp>
      <p:sp>
        <p:nvSpPr>
          <p:cNvPr id="6" name="TextBox 5"/>
          <p:cNvSpPr txBox="1"/>
          <p:nvPr/>
        </p:nvSpPr>
        <p:spPr>
          <a:xfrm>
            <a:off x="566928" y="2560320"/>
            <a:ext cx="4663440" cy="1188720"/>
          </a:xfrm>
          <a:prstGeom prst="rect">
            <a:avLst/>
          </a:prstGeom>
          <a:noFill/>
        </p:spPr>
        <p:txBody>
          <a:bodyPr wrap="square" lIns="0" tIns="0" rIns="0" bIns="0" anchor="t">
            <a:spAutoFit/>
          </a:bodyPr>
          <a:lstStyle/>
          <a:p>
            <a:pPr algn="l">
              <a:lnSpc>
                <a:spcPct val="108000"/>
              </a:lnSpc>
            </a:pPr>
            <a:r>
              <a:rPr sz="1400" b="0" i="0" dirty="0">
                <a:solidFill>
                  <a:srgbClr val="42566B"/>
                </a:solidFill>
                <a:latin typeface="Arial"/>
              </a:rPr>
              <a:t>Point at a table column by name, not a cell range. The formula says what it means — and that's what makes the analysis traceable.</a:t>
            </a:r>
          </a:p>
        </p:txBody>
      </p:sp>
      <p:sp>
        <p:nvSpPr>
          <p:cNvPr id="7" name="Rounded Rectangle 6"/>
          <p:cNvSpPr/>
          <p:nvPr/>
        </p:nvSpPr>
        <p:spPr>
          <a:xfrm>
            <a:off x="5577840" y="2167128"/>
            <a:ext cx="6035040" cy="50292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50992" y="2249424"/>
            <a:ext cx="457200" cy="33832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50992" y="2249424"/>
            <a:ext cx="457200" cy="33832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0" name="TextBox 9"/>
          <p:cNvSpPr txBox="1"/>
          <p:nvPr/>
        </p:nvSpPr>
        <p:spPr>
          <a:xfrm>
            <a:off x="6217920" y="2167128"/>
            <a:ext cx="5303520" cy="502920"/>
          </a:xfrm>
          <a:prstGeom prst="rect">
            <a:avLst/>
          </a:prstGeom>
          <a:noFill/>
        </p:spPr>
        <p:txBody>
          <a:bodyPr wrap="square" lIns="0" tIns="0" rIns="0" bIns="0" anchor="ctr">
            <a:spAutoFit/>
          </a:bodyPr>
          <a:lstStyle/>
          <a:p>
            <a:pPr algn="l">
              <a:lnSpc>
                <a:spcPct val="100000"/>
              </a:lnSpc>
            </a:pPr>
            <a:r>
              <a:rPr sz="1150" b="0" i="0" dirty="0">
                <a:solidFill>
                  <a:srgbClr val="42566B"/>
                </a:solidFill>
                <a:latin typeface="Consolas"/>
              </a:rPr>
              <a:t>=AVERAGE(</a:t>
            </a:r>
            <a:r>
              <a:rPr sz="1150" b="1" i="0" dirty="0">
                <a:solidFill>
                  <a:srgbClr val="0D9488"/>
                </a:solidFill>
                <a:latin typeface="Consolas"/>
              </a:rPr>
              <a:t>Life[BMI]</a:t>
            </a:r>
            <a:r>
              <a:rPr sz="1150" b="0" i="0" dirty="0">
                <a:solidFill>
                  <a:srgbClr val="42566B"/>
                </a:solidFill>
                <a:latin typeface="Consolas"/>
              </a:rPr>
              <a:t>)</a:t>
            </a:r>
          </a:p>
        </p:txBody>
      </p:sp>
      <p:sp>
        <p:nvSpPr>
          <p:cNvPr id="11" name="TextBox 10"/>
          <p:cNvSpPr txBox="1"/>
          <p:nvPr/>
        </p:nvSpPr>
        <p:spPr>
          <a:xfrm>
            <a:off x="5669280" y="2752344"/>
            <a:ext cx="5852160" cy="320040"/>
          </a:xfrm>
          <a:prstGeom prst="rect">
            <a:avLst/>
          </a:prstGeom>
          <a:noFill/>
        </p:spPr>
        <p:txBody>
          <a:bodyPr wrap="square" lIns="0" tIns="0" rIns="0" bIns="0" anchor="t">
            <a:spAutoFit/>
          </a:bodyPr>
          <a:lstStyle/>
          <a:p>
            <a:pPr algn="l">
              <a:lnSpc>
                <a:spcPct val="100000"/>
              </a:lnSpc>
            </a:pPr>
            <a:r>
              <a:rPr sz="1100" b="0" i="1" dirty="0">
                <a:solidFill>
                  <a:srgbClr val="9AA8B5"/>
                </a:solidFill>
                <a:latin typeface="Consolas"/>
              </a:rPr>
              <a:t>instead of  =AVERAGE(K2:K3000)</a:t>
            </a:r>
          </a:p>
        </p:txBody>
      </p:sp>
      <p:sp>
        <p:nvSpPr>
          <p:cNvPr id="12" name="Rounded Rectangle 11"/>
          <p:cNvSpPr/>
          <p:nvPr/>
        </p:nvSpPr>
        <p:spPr>
          <a:xfrm>
            <a:off x="5486400" y="3977639"/>
            <a:ext cx="6135624" cy="91440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931920"/>
            <a:ext cx="4572000" cy="457200"/>
          </a:xfrm>
          <a:prstGeom prst="rect">
            <a:avLst/>
          </a:prstGeom>
          <a:noFill/>
        </p:spPr>
        <p:txBody>
          <a:bodyPr wrap="square" lIns="0" tIns="0" rIns="0" bIns="0" anchor="t">
            <a:spAutoFit/>
          </a:bodyPr>
          <a:lstStyle/>
          <a:p>
            <a:pPr algn="l">
              <a:lnSpc>
                <a:spcPct val="100000"/>
              </a:lnSpc>
            </a:pPr>
            <a:r>
              <a:rPr sz="2000" b="1" i="0" dirty="0">
                <a:solidFill>
                  <a:srgbClr val="14233A"/>
                </a:solidFill>
                <a:latin typeface="Arial"/>
              </a:rPr>
              <a:t>Dynamic arrays + spill</a:t>
            </a:r>
          </a:p>
        </p:txBody>
      </p:sp>
      <p:sp>
        <p:nvSpPr>
          <p:cNvPr id="14" name="TextBox 13"/>
          <p:cNvSpPr txBox="1"/>
          <p:nvPr/>
        </p:nvSpPr>
        <p:spPr>
          <a:xfrm>
            <a:off x="566928" y="4434840"/>
            <a:ext cx="4663440" cy="1188720"/>
          </a:xfrm>
          <a:prstGeom prst="rect">
            <a:avLst/>
          </a:prstGeom>
          <a:noFill/>
        </p:spPr>
        <p:txBody>
          <a:bodyPr wrap="square" lIns="0" tIns="0" rIns="0" bIns="0" anchor="t">
            <a:spAutoFit/>
          </a:bodyPr>
          <a:lstStyle/>
          <a:p>
            <a:pPr algn="l">
              <a:lnSpc>
                <a:spcPct val="108000"/>
              </a:lnSpc>
            </a:pPr>
            <a:r>
              <a:rPr sz="1400" b="0" i="0" dirty="0">
                <a:solidFill>
                  <a:srgbClr val="42566B"/>
                </a:solidFill>
                <a:latin typeface="Arial"/>
              </a:rPr>
              <a:t>One formula returns a whole table of results that grows and shrinks on its own. Write it once in the corner cell; it fills the rest.</a:t>
            </a:r>
          </a:p>
        </p:txBody>
      </p:sp>
      <p:sp>
        <p:nvSpPr>
          <p:cNvPr id="15" name="Rounded Rectangle 14"/>
          <p:cNvSpPr/>
          <p:nvPr/>
        </p:nvSpPr>
        <p:spPr>
          <a:xfrm>
            <a:off x="5577840" y="4041648"/>
            <a:ext cx="6035040" cy="50292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650992" y="4123944"/>
            <a:ext cx="457200" cy="33832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50992" y="4123944"/>
            <a:ext cx="457200" cy="33832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8" name="TextBox 17"/>
          <p:cNvSpPr txBox="1"/>
          <p:nvPr/>
        </p:nvSpPr>
        <p:spPr>
          <a:xfrm>
            <a:off x="6217920" y="4041648"/>
            <a:ext cx="5303520" cy="502920"/>
          </a:xfrm>
          <a:prstGeom prst="rect">
            <a:avLst/>
          </a:prstGeom>
          <a:noFill/>
        </p:spPr>
        <p:txBody>
          <a:bodyPr wrap="square" lIns="0" tIns="0" rIns="0" bIns="0" anchor="ctr">
            <a:spAutoFit/>
          </a:bodyPr>
          <a:lstStyle/>
          <a:p>
            <a:pPr algn="l">
              <a:lnSpc>
                <a:spcPct val="100000"/>
              </a:lnSpc>
            </a:pPr>
            <a:r>
              <a:rPr sz="1150" b="0" i="0" dirty="0">
                <a:solidFill>
                  <a:srgbClr val="42566B"/>
                </a:solidFill>
                <a:latin typeface="Consolas"/>
              </a:rPr>
              <a:t>=Coefficients(</a:t>
            </a:r>
            <a:r>
              <a:rPr sz="1150" b="0" i="0" dirty="0" err="1">
                <a:solidFill>
                  <a:srgbClr val="42566B"/>
                </a:solidFill>
                <a:latin typeface="Consolas"/>
              </a:rPr>
              <a:t>x_s</a:t>
            </a:r>
            <a:r>
              <a:rPr sz="1150" b="0" i="0" dirty="0">
                <a:solidFill>
                  <a:srgbClr val="42566B"/>
                </a:solidFill>
                <a:latin typeface="Consolas"/>
              </a:rPr>
              <a:t>, y)</a:t>
            </a:r>
            <a:r>
              <a:rPr sz="1150" b="1" i="0" dirty="0">
                <a:solidFill>
                  <a:srgbClr val="0D9488"/>
                </a:solidFill>
                <a:latin typeface="Consolas"/>
              </a:rPr>
              <a:t>  →  spills ▣▣▣</a:t>
            </a:r>
          </a:p>
        </p:txBody>
      </p:sp>
      <p:sp>
        <p:nvSpPr>
          <p:cNvPr id="19" name="TextBox 18"/>
          <p:cNvSpPr txBox="1"/>
          <p:nvPr/>
        </p:nvSpPr>
        <p:spPr>
          <a:xfrm>
            <a:off x="5669280" y="4626864"/>
            <a:ext cx="5852160" cy="320040"/>
          </a:xfrm>
          <a:prstGeom prst="rect">
            <a:avLst/>
          </a:prstGeom>
          <a:noFill/>
        </p:spPr>
        <p:txBody>
          <a:bodyPr wrap="square" lIns="0" tIns="0" rIns="0" bIns="0" anchor="t">
            <a:spAutoFit/>
          </a:bodyPr>
          <a:lstStyle/>
          <a:p>
            <a:pPr algn="l">
              <a:lnSpc>
                <a:spcPct val="100000"/>
              </a:lnSpc>
            </a:pPr>
            <a:r>
              <a:rPr sz="1100" b="0" i="1" dirty="0">
                <a:solidFill>
                  <a:srgbClr val="9AA8B5"/>
                </a:solidFill>
                <a:latin typeface="Consolas"/>
              </a:rPr>
              <a:t>one cell, many results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LET → LAMBDA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How ~60 functions exist with zero macros.</a:t>
            </a:r>
          </a:p>
        </p:txBody>
      </p:sp>
      <p:sp>
        <p:nvSpPr>
          <p:cNvPr id="4" name="Oval 3"/>
          <p:cNvSpPr/>
          <p:nvPr/>
        </p:nvSpPr>
        <p:spPr>
          <a:xfrm>
            <a:off x="566928" y="2167128"/>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16712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03120"/>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A formula</a:t>
            </a:r>
          </a:p>
        </p:txBody>
      </p:sp>
      <p:sp>
        <p:nvSpPr>
          <p:cNvPr id="7" name="TextBox 6"/>
          <p:cNvSpPr txBox="1"/>
          <p:nvPr/>
        </p:nvSpPr>
        <p:spPr>
          <a:xfrm>
            <a:off x="1225295" y="2459736"/>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Start with ordinary math.</a:t>
            </a:r>
          </a:p>
        </p:txBody>
      </p:sp>
      <p:sp>
        <p:nvSpPr>
          <p:cNvPr id="8" name="Rounded Rectangle 7"/>
          <p:cNvSpPr/>
          <p:nvPr/>
        </p:nvSpPr>
        <p:spPr>
          <a:xfrm>
            <a:off x="5577840" y="2130552"/>
            <a:ext cx="603504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650992" y="2212848"/>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0992" y="2212848"/>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1" name="TextBox 10"/>
          <p:cNvSpPr txBox="1"/>
          <p:nvPr/>
        </p:nvSpPr>
        <p:spPr>
          <a:xfrm>
            <a:off x="6217920" y="2130552"/>
            <a:ext cx="530352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=A1^2 + B1^2</a:t>
            </a:r>
          </a:p>
        </p:txBody>
      </p:sp>
      <p:sp>
        <p:nvSpPr>
          <p:cNvPr id="12" name="Oval 11"/>
          <p:cNvSpPr/>
          <p:nvPr/>
        </p:nvSpPr>
        <p:spPr>
          <a:xfrm>
            <a:off x="566928" y="3246120"/>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246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4" name="TextBox 13"/>
          <p:cNvSpPr txBox="1"/>
          <p:nvPr/>
        </p:nvSpPr>
        <p:spPr>
          <a:xfrm>
            <a:off x="1225295" y="3182112"/>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LET names the parts</a:t>
            </a:r>
          </a:p>
        </p:txBody>
      </p:sp>
      <p:sp>
        <p:nvSpPr>
          <p:cNvPr id="15" name="TextBox 14"/>
          <p:cNvSpPr txBox="1"/>
          <p:nvPr/>
        </p:nvSpPr>
        <p:spPr>
          <a:xfrm>
            <a:off x="1225295" y="3538728"/>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Reads like a recipe.</a:t>
            </a:r>
          </a:p>
        </p:txBody>
      </p:sp>
      <p:sp>
        <p:nvSpPr>
          <p:cNvPr id="16" name="Rounded Rectangle 15"/>
          <p:cNvSpPr/>
          <p:nvPr/>
        </p:nvSpPr>
        <p:spPr>
          <a:xfrm>
            <a:off x="5577840" y="3209544"/>
            <a:ext cx="603504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650992" y="3291840"/>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50992" y="3291840"/>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9" name="TextBox 18"/>
          <p:cNvSpPr txBox="1"/>
          <p:nvPr/>
        </p:nvSpPr>
        <p:spPr>
          <a:xfrm>
            <a:off x="6217920" y="3209544"/>
            <a:ext cx="530352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=LET(</a:t>
            </a:r>
            <a:r>
              <a:rPr sz="1150" b="1" i="0">
                <a:solidFill>
                  <a:srgbClr val="0D9488"/>
                </a:solidFill>
                <a:latin typeface="Consolas"/>
              </a:rPr>
              <a:t>a</a:t>
            </a:r>
            <a:r>
              <a:rPr sz="1150" b="0" i="0">
                <a:solidFill>
                  <a:srgbClr val="42566B"/>
                </a:solidFill>
                <a:latin typeface="Consolas"/>
              </a:rPr>
              <a:t>, A1, </a:t>
            </a:r>
            <a:r>
              <a:rPr sz="1150" b="1" i="0">
                <a:solidFill>
                  <a:srgbClr val="0D9488"/>
                </a:solidFill>
                <a:latin typeface="Consolas"/>
              </a:rPr>
              <a:t>b</a:t>
            </a:r>
            <a:r>
              <a:rPr sz="1150" b="0" i="0">
                <a:solidFill>
                  <a:srgbClr val="42566B"/>
                </a:solidFill>
                <a:latin typeface="Consolas"/>
              </a:rPr>
              <a:t>, B1, a^2+b^2)</a:t>
            </a:r>
          </a:p>
        </p:txBody>
      </p:sp>
      <p:sp>
        <p:nvSpPr>
          <p:cNvPr id="20" name="Oval 19"/>
          <p:cNvSpPr/>
          <p:nvPr/>
        </p:nvSpPr>
        <p:spPr>
          <a:xfrm>
            <a:off x="566928" y="4325112"/>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325112"/>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2" name="TextBox 21"/>
          <p:cNvSpPr txBox="1"/>
          <p:nvPr/>
        </p:nvSpPr>
        <p:spPr>
          <a:xfrm>
            <a:off x="1225295" y="4261104"/>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LAMBDA makes it a function</a:t>
            </a:r>
          </a:p>
        </p:txBody>
      </p:sp>
      <p:sp>
        <p:nvSpPr>
          <p:cNvPr id="23" name="TextBox 22"/>
          <p:cNvSpPr txBox="1"/>
          <p:nvPr/>
        </p:nvSpPr>
        <p:spPr>
          <a:xfrm>
            <a:off x="1225295" y="4617720"/>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Name it — it works like SUM.</a:t>
            </a:r>
          </a:p>
        </p:txBody>
      </p:sp>
      <p:sp>
        <p:nvSpPr>
          <p:cNvPr id="24" name="Rounded Rectangle 23"/>
          <p:cNvSpPr/>
          <p:nvPr/>
        </p:nvSpPr>
        <p:spPr>
          <a:xfrm>
            <a:off x="5577840" y="4288536"/>
            <a:ext cx="603504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650992" y="4370832"/>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50992" y="4370832"/>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27" name="TextBox 26"/>
          <p:cNvSpPr txBox="1"/>
          <p:nvPr/>
        </p:nvSpPr>
        <p:spPr>
          <a:xfrm>
            <a:off x="6217920" y="4288536"/>
            <a:ext cx="530352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=LAMBDA(</a:t>
            </a:r>
            <a:r>
              <a:rPr sz="1150" b="1" i="0">
                <a:solidFill>
                  <a:srgbClr val="0D9488"/>
                </a:solidFill>
                <a:latin typeface="Consolas"/>
              </a:rPr>
              <a:t>a, b</a:t>
            </a:r>
            <a:r>
              <a:rPr sz="1150" b="0" i="0">
                <a:solidFill>
                  <a:srgbClr val="42566B"/>
                </a:solidFill>
                <a:latin typeface="Consolas"/>
              </a:rPr>
              <a:t>, a^2+b^2)</a:t>
            </a:r>
          </a:p>
        </p:txBody>
      </p:sp>
      <p:sp>
        <p:nvSpPr>
          <p:cNvPr id="28" name="Rounded Rectangle 27"/>
          <p:cNvSpPr/>
          <p:nvPr/>
        </p:nvSpPr>
        <p:spPr>
          <a:xfrm>
            <a:off x="566928" y="5486400"/>
            <a:ext cx="5120640" cy="420624"/>
          </a:xfrm>
          <a:prstGeom prst="roundRect">
            <a:avLst>
              <a:gd name="adj" fmla="val 40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5486400"/>
            <a:ext cx="5120640" cy="420624"/>
          </a:xfrm>
          <a:prstGeom prst="rect">
            <a:avLst/>
          </a:prstGeom>
          <a:noFill/>
        </p:spPr>
        <p:txBody>
          <a:bodyPr wrap="square" lIns="0" tIns="0" rIns="0" bIns="0" anchor="ctr">
            <a:spAutoFit/>
          </a:bodyPr>
          <a:lstStyle/>
          <a:p>
            <a:pPr algn="ctr">
              <a:lnSpc>
                <a:spcPct val="100000"/>
              </a:lnSpc>
            </a:pPr>
            <a:r>
              <a:rPr sz="1250" b="1" i="0">
                <a:solidFill>
                  <a:srgbClr val="0A7A70"/>
                </a:solidFill>
                <a:latin typeface="Arial"/>
              </a:rPr>
              <a:t>Saved in the workbook — nothing to enable.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Results Verification</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Same inputs, same answers — matched against ToolPak and statsmodels.</a:t>
            </a:r>
          </a:p>
        </p:txBody>
      </p:sp>
      <p:sp>
        <p:nvSpPr>
          <p:cNvPr id="4" name="Rounded Rectangle 3"/>
          <p:cNvSpPr/>
          <p:nvPr/>
        </p:nvSpPr>
        <p:spPr>
          <a:xfrm>
            <a:off x="566928" y="2103120"/>
            <a:ext cx="3474720" cy="3246120"/>
          </a:xfrm>
          <a:prstGeom prst="roundRect">
            <a:avLst>
              <a:gd name="adj" fmla="val 5000"/>
            </a:avLst>
          </a:prstGeom>
          <a:solidFill>
            <a:srgbClr val="ECFDF5"/>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3474720" cy="50292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Regression statistics</a:t>
            </a:r>
          </a:p>
        </p:txBody>
      </p:sp>
      <p:sp>
        <p:nvSpPr>
          <p:cNvPr id="7" name="TextBox 6"/>
          <p:cNvSpPr txBox="1"/>
          <p:nvPr/>
        </p:nvSpPr>
        <p:spPr>
          <a:xfrm>
            <a:off x="749808" y="27889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Multiple R</a:t>
            </a:r>
          </a:p>
        </p:txBody>
      </p:sp>
      <p:sp>
        <p:nvSpPr>
          <p:cNvPr id="8" name="TextBox 7"/>
          <p:cNvSpPr txBox="1"/>
          <p:nvPr/>
        </p:nvSpPr>
        <p:spPr>
          <a:xfrm>
            <a:off x="1956816" y="27889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0.909</a:t>
            </a:r>
          </a:p>
        </p:txBody>
      </p:sp>
      <p:sp>
        <p:nvSpPr>
          <p:cNvPr id="9" name="TextBox 8"/>
          <p:cNvSpPr txBox="1"/>
          <p:nvPr/>
        </p:nvSpPr>
        <p:spPr>
          <a:xfrm>
            <a:off x="749808" y="32461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R Square</a:t>
            </a:r>
          </a:p>
        </p:txBody>
      </p:sp>
      <p:sp>
        <p:nvSpPr>
          <p:cNvPr id="10" name="TextBox 9"/>
          <p:cNvSpPr txBox="1"/>
          <p:nvPr/>
        </p:nvSpPr>
        <p:spPr>
          <a:xfrm>
            <a:off x="1956816" y="32461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0.827</a:t>
            </a:r>
          </a:p>
        </p:txBody>
      </p:sp>
      <p:sp>
        <p:nvSpPr>
          <p:cNvPr id="11" name="TextBox 10"/>
          <p:cNvSpPr txBox="1"/>
          <p:nvPr/>
        </p:nvSpPr>
        <p:spPr>
          <a:xfrm>
            <a:off x="749808" y="37033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Adj R Square</a:t>
            </a:r>
          </a:p>
        </p:txBody>
      </p:sp>
      <p:sp>
        <p:nvSpPr>
          <p:cNvPr id="12" name="TextBox 11"/>
          <p:cNvSpPr txBox="1"/>
          <p:nvPr/>
        </p:nvSpPr>
        <p:spPr>
          <a:xfrm>
            <a:off x="1956816" y="37033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0.825</a:t>
            </a:r>
          </a:p>
        </p:txBody>
      </p:sp>
      <p:sp>
        <p:nvSpPr>
          <p:cNvPr id="13" name="TextBox 12"/>
          <p:cNvSpPr txBox="1"/>
          <p:nvPr/>
        </p:nvSpPr>
        <p:spPr>
          <a:xfrm>
            <a:off x="749808" y="41605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Std Error</a:t>
            </a:r>
          </a:p>
        </p:txBody>
      </p:sp>
      <p:sp>
        <p:nvSpPr>
          <p:cNvPr id="14" name="TextBox 13"/>
          <p:cNvSpPr txBox="1"/>
          <p:nvPr/>
        </p:nvSpPr>
        <p:spPr>
          <a:xfrm>
            <a:off x="1956816" y="41605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3.680</a:t>
            </a:r>
          </a:p>
        </p:txBody>
      </p:sp>
      <p:sp>
        <p:nvSpPr>
          <p:cNvPr id="15" name="TextBox 14"/>
          <p:cNvSpPr txBox="1"/>
          <p:nvPr/>
        </p:nvSpPr>
        <p:spPr>
          <a:xfrm>
            <a:off x="749808" y="46177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Observations</a:t>
            </a:r>
          </a:p>
        </p:txBody>
      </p:sp>
      <p:sp>
        <p:nvSpPr>
          <p:cNvPr id="16" name="TextBox 15"/>
          <p:cNvSpPr txBox="1"/>
          <p:nvPr/>
        </p:nvSpPr>
        <p:spPr>
          <a:xfrm>
            <a:off x="1956816" y="46177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1,649</a:t>
            </a:r>
          </a:p>
        </p:txBody>
      </p:sp>
      <p:sp>
        <p:nvSpPr>
          <p:cNvPr id="17" name="Rounded Rectangle 16"/>
          <p:cNvSpPr/>
          <p:nvPr/>
        </p:nvSpPr>
        <p:spPr>
          <a:xfrm>
            <a:off x="4334256" y="2103120"/>
            <a:ext cx="3474720" cy="3246120"/>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4256" y="2103120"/>
            <a:ext cx="3474720" cy="50292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17136"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ANOVA</a:t>
            </a:r>
          </a:p>
        </p:txBody>
      </p:sp>
      <p:sp>
        <p:nvSpPr>
          <p:cNvPr id="20" name="TextBox 19"/>
          <p:cNvSpPr txBox="1"/>
          <p:nvPr/>
        </p:nvSpPr>
        <p:spPr>
          <a:xfrm>
            <a:off x="4517136" y="27889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F</a:t>
            </a:r>
          </a:p>
        </p:txBody>
      </p:sp>
      <p:sp>
        <p:nvSpPr>
          <p:cNvPr id="21" name="TextBox 20"/>
          <p:cNvSpPr txBox="1"/>
          <p:nvPr/>
        </p:nvSpPr>
        <p:spPr>
          <a:xfrm>
            <a:off x="5724144" y="27889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518.9</a:t>
            </a:r>
          </a:p>
        </p:txBody>
      </p:sp>
      <p:sp>
        <p:nvSpPr>
          <p:cNvPr id="22" name="TextBox 21"/>
          <p:cNvSpPr txBox="1"/>
          <p:nvPr/>
        </p:nvSpPr>
        <p:spPr>
          <a:xfrm>
            <a:off x="4517136" y="32461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Significance F</a:t>
            </a:r>
          </a:p>
        </p:txBody>
      </p:sp>
      <p:sp>
        <p:nvSpPr>
          <p:cNvPr id="23" name="TextBox 22"/>
          <p:cNvSpPr txBox="1"/>
          <p:nvPr/>
        </p:nvSpPr>
        <p:spPr>
          <a:xfrm>
            <a:off x="5724144" y="32461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 0</a:t>
            </a:r>
          </a:p>
        </p:txBody>
      </p:sp>
      <p:sp>
        <p:nvSpPr>
          <p:cNvPr id="24" name="TextBox 23"/>
          <p:cNvSpPr txBox="1"/>
          <p:nvPr/>
        </p:nvSpPr>
        <p:spPr>
          <a:xfrm>
            <a:off x="4517136" y="37033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df (reg / resid)</a:t>
            </a:r>
          </a:p>
        </p:txBody>
      </p:sp>
      <p:sp>
        <p:nvSpPr>
          <p:cNvPr id="25" name="TextBox 24"/>
          <p:cNvSpPr txBox="1"/>
          <p:nvPr/>
        </p:nvSpPr>
        <p:spPr>
          <a:xfrm>
            <a:off x="5724144" y="37033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15 / 1,633</a:t>
            </a:r>
          </a:p>
        </p:txBody>
      </p:sp>
      <p:sp>
        <p:nvSpPr>
          <p:cNvPr id="26" name="TextBox 25"/>
          <p:cNvSpPr txBox="1"/>
          <p:nvPr/>
        </p:nvSpPr>
        <p:spPr>
          <a:xfrm>
            <a:off x="4517136" y="41605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MS residual</a:t>
            </a:r>
          </a:p>
        </p:txBody>
      </p:sp>
      <p:sp>
        <p:nvSpPr>
          <p:cNvPr id="27" name="TextBox 26"/>
          <p:cNvSpPr txBox="1"/>
          <p:nvPr/>
        </p:nvSpPr>
        <p:spPr>
          <a:xfrm>
            <a:off x="5724144" y="41605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13.54</a:t>
            </a:r>
          </a:p>
        </p:txBody>
      </p:sp>
      <p:sp>
        <p:nvSpPr>
          <p:cNvPr id="28" name="Rounded Rectangle 27"/>
          <p:cNvSpPr/>
          <p:nvPr/>
        </p:nvSpPr>
        <p:spPr>
          <a:xfrm>
            <a:off x="8101583" y="2103120"/>
            <a:ext cx="3474720" cy="324612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01583" y="2103120"/>
            <a:ext cx="3474720" cy="50292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84463"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Coefficient · Adult Mortality</a:t>
            </a:r>
          </a:p>
        </p:txBody>
      </p:sp>
      <p:sp>
        <p:nvSpPr>
          <p:cNvPr id="31" name="TextBox 30"/>
          <p:cNvSpPr txBox="1"/>
          <p:nvPr/>
        </p:nvSpPr>
        <p:spPr>
          <a:xfrm>
            <a:off x="8284463" y="27889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Estimate</a:t>
            </a:r>
          </a:p>
        </p:txBody>
      </p:sp>
      <p:sp>
        <p:nvSpPr>
          <p:cNvPr id="32" name="TextBox 31"/>
          <p:cNvSpPr txBox="1"/>
          <p:nvPr/>
        </p:nvSpPr>
        <p:spPr>
          <a:xfrm>
            <a:off x="9491472" y="27889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−0.0179</a:t>
            </a:r>
          </a:p>
        </p:txBody>
      </p:sp>
      <p:sp>
        <p:nvSpPr>
          <p:cNvPr id="33" name="TextBox 32"/>
          <p:cNvSpPr txBox="1"/>
          <p:nvPr/>
        </p:nvSpPr>
        <p:spPr>
          <a:xfrm>
            <a:off x="8284463" y="32461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Std error</a:t>
            </a:r>
          </a:p>
        </p:txBody>
      </p:sp>
      <p:sp>
        <p:nvSpPr>
          <p:cNvPr id="34" name="TextBox 33"/>
          <p:cNvSpPr txBox="1"/>
          <p:nvPr/>
        </p:nvSpPr>
        <p:spPr>
          <a:xfrm>
            <a:off x="9491472" y="32461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0.00096</a:t>
            </a:r>
          </a:p>
        </p:txBody>
      </p:sp>
      <p:sp>
        <p:nvSpPr>
          <p:cNvPr id="35" name="TextBox 34"/>
          <p:cNvSpPr txBox="1"/>
          <p:nvPr/>
        </p:nvSpPr>
        <p:spPr>
          <a:xfrm>
            <a:off x="8284463" y="37033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t Stat</a:t>
            </a:r>
          </a:p>
        </p:txBody>
      </p:sp>
      <p:sp>
        <p:nvSpPr>
          <p:cNvPr id="36" name="TextBox 35"/>
          <p:cNvSpPr txBox="1"/>
          <p:nvPr/>
        </p:nvSpPr>
        <p:spPr>
          <a:xfrm>
            <a:off x="9491472" y="37033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−18.6</a:t>
            </a:r>
          </a:p>
        </p:txBody>
      </p:sp>
      <p:sp>
        <p:nvSpPr>
          <p:cNvPr id="37" name="TextBox 36"/>
          <p:cNvSpPr txBox="1"/>
          <p:nvPr/>
        </p:nvSpPr>
        <p:spPr>
          <a:xfrm>
            <a:off x="8284463" y="41605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P-value</a:t>
            </a:r>
          </a:p>
        </p:txBody>
      </p:sp>
      <p:sp>
        <p:nvSpPr>
          <p:cNvPr id="38" name="TextBox 37"/>
          <p:cNvSpPr txBox="1"/>
          <p:nvPr/>
        </p:nvSpPr>
        <p:spPr>
          <a:xfrm>
            <a:off x="9491472" y="41605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&lt; 0.0001</a:t>
            </a:r>
          </a:p>
        </p:txBody>
      </p:sp>
      <p:sp>
        <p:nvSpPr>
          <p:cNvPr id="39" name="TextBox 38"/>
          <p:cNvSpPr txBox="1"/>
          <p:nvPr/>
        </p:nvSpPr>
        <p:spPr>
          <a:xfrm>
            <a:off x="8284463" y="46177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95% CI</a:t>
            </a:r>
          </a:p>
        </p:txBody>
      </p:sp>
      <p:sp>
        <p:nvSpPr>
          <p:cNvPr id="40" name="TextBox 39"/>
          <p:cNvSpPr txBox="1"/>
          <p:nvPr/>
        </p:nvSpPr>
        <p:spPr>
          <a:xfrm>
            <a:off x="9491472" y="46177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[−0.020, −0.016]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Full workflow on one worksheet</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0A7A70"/>
                </a:solidFill>
                <a:latin typeface="Arial"/>
              </a:rPr>
              <a:t>Five regions, two switches — flip anything and everything recomputes.</a:t>
            </a:r>
          </a:p>
        </p:txBody>
      </p:sp>
      <p:sp>
        <p:nvSpPr>
          <p:cNvPr id="4" name="Rounded Rectangle 3"/>
          <p:cNvSpPr/>
          <p:nvPr/>
        </p:nvSpPr>
        <p:spPr>
          <a:xfrm>
            <a:off x="566928" y="2103120"/>
            <a:ext cx="3429000" cy="1371600"/>
          </a:xfrm>
          <a:prstGeom prst="roundRect">
            <a:avLst>
              <a:gd name="adj" fmla="val 5000"/>
            </a:avLst>
          </a:prstGeom>
          <a:solidFill>
            <a:srgbClr val="ECFDF5"/>
          </a:solidFill>
          <a:ln w="1651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14233A"/>
                </a:solidFill>
                <a:latin typeface="Arial"/>
              </a:rPr>
              <a:t>Predictor summary</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6B7C8C"/>
                </a:solidFill>
                <a:latin typeface="Consolas"/>
              </a:rPr>
              <a:t>Pearson · Spearman · skew · kurtosis · VIF</a:t>
            </a:r>
          </a:p>
        </p:txBody>
      </p:sp>
      <p:sp>
        <p:nvSpPr>
          <p:cNvPr id="8" name="Rounded Rectangle 7"/>
          <p:cNvSpPr/>
          <p:nvPr/>
        </p:nvSpPr>
        <p:spPr>
          <a:xfrm>
            <a:off x="4178808" y="2103120"/>
            <a:ext cx="3429000" cy="1371600"/>
          </a:xfrm>
          <a:prstGeom prst="roundRect">
            <a:avLst>
              <a:gd name="adj" fmla="val 5000"/>
            </a:avLst>
          </a:prstGeom>
          <a:solidFill>
            <a:srgbClr val="F0F5FA"/>
          </a:solidFill>
          <a:ln w="16510">
            <a:solidFill>
              <a:srgbClr val="021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Regression output</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stats · ANOVA · coefficients + CI</a:t>
            </a:r>
          </a:p>
        </p:txBody>
      </p:sp>
      <p:sp>
        <p:nvSpPr>
          <p:cNvPr id="12" name="Rounded Rectangle 11"/>
          <p:cNvSpPr/>
          <p:nvPr/>
        </p:nvSpPr>
        <p:spPr>
          <a:xfrm>
            <a:off x="7790688" y="2103120"/>
            <a:ext cx="3831336" cy="1371600"/>
          </a:xfrm>
          <a:prstGeom prst="roundRect">
            <a:avLst>
              <a:gd name="adj" fmla="val 5000"/>
            </a:avLst>
          </a:prstGeom>
          <a:solidFill>
            <a:srgbClr val="FBF7F2"/>
          </a:solidFill>
          <a:ln w="1651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Prediction + uncertainty</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point estimate · SE · interval</a:t>
            </a:r>
          </a:p>
        </p:txBody>
      </p:sp>
      <p:sp>
        <p:nvSpPr>
          <p:cNvPr id="16" name="Rounded Rectangle 15"/>
          <p:cNvSpPr/>
          <p:nvPr/>
        </p:nvSpPr>
        <p:spPr>
          <a:xfrm>
            <a:off x="566928" y="3611880"/>
            <a:ext cx="5257800" cy="1280160"/>
          </a:xfrm>
          <a:prstGeom prst="roundRect">
            <a:avLst>
              <a:gd name="adj" fmla="val 5000"/>
            </a:avLst>
          </a:prstGeom>
          <a:solidFill>
            <a:srgbClr val="F0F5FA"/>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Model-selection diagnostics</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PRESS · AIC / BIC · leverage · Q-Q</a:t>
            </a:r>
          </a:p>
        </p:txBody>
      </p:sp>
      <p:sp>
        <p:nvSpPr>
          <p:cNvPr id="20" name="Rounded Rectangle 19"/>
          <p:cNvSpPr/>
          <p:nvPr/>
        </p:nvSpPr>
        <p:spPr>
          <a:xfrm>
            <a:off x="6007608" y="3611880"/>
            <a:ext cx="5614416" cy="1280160"/>
          </a:xfrm>
          <a:prstGeom prst="roundRect">
            <a:avLst>
              <a:gd name="adj" fmla="val 5000"/>
            </a:avLst>
          </a:prstGeom>
          <a:solidFill>
            <a:srgbClr val="F0F5FA"/>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Per-observation residual table</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residuals · hat · studentized · Cook's D</a:t>
            </a:r>
          </a:p>
        </p:txBody>
      </p:sp>
      <p:sp>
        <p:nvSpPr>
          <p:cNvPr id="24" name="Rounded Rectangle 23"/>
          <p:cNvSpPr/>
          <p:nvPr/>
        </p:nvSpPr>
        <p:spPr>
          <a:xfrm>
            <a:off x="566928" y="5074920"/>
            <a:ext cx="11055096" cy="548640"/>
          </a:xfrm>
          <a:prstGeom prst="roundRect">
            <a:avLst>
              <a:gd name="adj" fmla="val 7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Two switches drive it all:   </a:t>
            </a:r>
            <a:r>
              <a:rPr sz="1400" b="1" i="0">
                <a:solidFill>
                  <a:srgbClr val="5EEAD4"/>
                </a:solidFill>
                <a:latin typeface="Arial"/>
              </a:rPr>
              <a:t>predictor on / off toggles</a:t>
            </a:r>
            <a:r>
              <a:rPr sz="1400" b="0" i="0">
                <a:solidFill>
                  <a:srgbClr val="9AA8B5"/>
                </a:solidFill>
                <a:latin typeface="Arial"/>
              </a:rPr>
              <a:t>    ·    </a:t>
            </a:r>
            <a:r>
              <a:rPr sz="1400" b="1" i="0">
                <a:solidFill>
                  <a:srgbClr val="5EEAD4"/>
                </a:solidFill>
                <a:latin typeface="Arial"/>
              </a:rPr>
              <a:t>intercept on / off</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Where it stops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These are real constraints. None are dealbreakers for cost work.</a:t>
            </a:r>
          </a:p>
        </p:txBody>
      </p:sp>
      <p:sp>
        <p:nvSpPr>
          <p:cNvPr id="4" name="Rounded Rectangle 3"/>
          <p:cNvSpPr/>
          <p:nvPr/>
        </p:nvSpPr>
        <p:spPr>
          <a:xfrm>
            <a:off x="566928" y="2011680"/>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Scale</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Comfortable in thousands of rows, not millions. Excel's ceiling is the tool's ceiling.</a:t>
            </a:r>
          </a:p>
        </p:txBody>
      </p:sp>
      <p:sp>
        <p:nvSpPr>
          <p:cNvPr id="8" name="Rounded Rectangle 7"/>
          <p:cNvSpPr/>
          <p:nvPr/>
        </p:nvSpPr>
        <p:spPr>
          <a:xfrm>
            <a:off x="6172200" y="2011680"/>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Categoricals</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No automatic encoding yet — you set up indicator columns first.</a:t>
            </a:r>
          </a:p>
        </p:txBody>
      </p:sp>
      <p:sp>
        <p:nvSpPr>
          <p:cNvPr id="12" name="Rounded Rectangle 11"/>
          <p:cNvSpPr/>
          <p:nvPr/>
        </p:nvSpPr>
        <p:spPr>
          <a:xfrm>
            <a:off x="566928" y="3090672"/>
            <a:ext cx="5449824" cy="932688"/>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Conditioning, not collinearity</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Hardened against scale differences; won't fix true collinearity — the VIF panel supports that judgment.</a:t>
            </a:r>
          </a:p>
        </p:txBody>
      </p:sp>
      <p:sp>
        <p:nvSpPr>
          <p:cNvPr id="16" name="Rounded Rectangle 15"/>
          <p:cNvSpPr/>
          <p:nvPr/>
        </p:nvSpPr>
        <p:spPr>
          <a:xfrm>
            <a:off x="6172200" y="3090672"/>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Charts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Plots can't consume live spilled results directly; they use fixed ranges.</a:t>
            </a:r>
          </a:p>
        </p:txBody>
      </p:sp>
      <p:sp>
        <p:nvSpPr>
          <p:cNvPr id="20" name="Rounded Rectangle 19"/>
          <p:cNvSpPr/>
          <p:nvPr/>
        </p:nvSpPr>
        <p:spPr>
          <a:xfrm>
            <a:off x="566928" y="4169664"/>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Requires current 365</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LAMBDA + dynamic arrays — the bet the whole thing is built 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numerical stability</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Every leverage and prediction routes through one helper — by design.</a:t>
            </a:r>
          </a:p>
        </p:txBody>
      </p:sp>
      <p:sp>
        <p:nvSpPr>
          <p:cNvPr id="4" name="Rounded Rectangle 3"/>
          <p:cNvSpPr/>
          <p:nvPr/>
        </p:nvSpPr>
        <p:spPr>
          <a:xfrm>
            <a:off x="566928" y="1965960"/>
            <a:ext cx="11055096"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048255"/>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7" name="TextBox 6"/>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Hat_diagonal · PRESS · LOOCV · Studentized · Cook's · Prediction_Interval   →   </a:t>
            </a:r>
            <a:r>
              <a:rPr sz="1150" b="1" i="0">
                <a:solidFill>
                  <a:srgbClr val="0D9488"/>
                </a:solidFill>
                <a:latin typeface="Consolas"/>
              </a:rPr>
              <a:t>Gram_Inverse</a:t>
            </a:r>
          </a:p>
        </p:txBody>
      </p:sp>
      <p:sp>
        <p:nvSpPr>
          <p:cNvPr id="8" name="Rectangle 7"/>
          <p:cNvSpPr/>
          <p:nvPr/>
        </p:nvSpPr>
        <p:spPr>
          <a:xfrm>
            <a:off x="566928" y="2834639"/>
            <a:ext cx="91440" cy="548640"/>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88920"/>
            <a:ext cx="2743200" cy="640080"/>
          </a:xfrm>
          <a:prstGeom prst="rect">
            <a:avLst/>
          </a:prstGeom>
          <a:noFill/>
        </p:spPr>
        <p:txBody>
          <a:bodyPr wrap="square" lIns="0" tIns="0" rIns="0" bIns="0" anchor="ctr">
            <a:spAutoFit/>
          </a:bodyPr>
          <a:lstStyle/>
          <a:p>
            <a:pPr algn="l">
              <a:lnSpc>
                <a:spcPct val="100000"/>
              </a:lnSpc>
            </a:pPr>
            <a:r>
              <a:rPr sz="1500" b="1" i="0">
                <a:solidFill>
                  <a:srgbClr val="14233A"/>
                </a:solidFill>
                <a:latin typeface="Arial"/>
              </a:rPr>
              <a:t>Today</a:t>
            </a:r>
          </a:p>
        </p:txBody>
      </p:sp>
      <p:sp>
        <p:nvSpPr>
          <p:cNvPr id="10" name="TextBox 9"/>
          <p:cNvSpPr txBox="1"/>
          <p:nvPr/>
        </p:nvSpPr>
        <p:spPr>
          <a:xfrm>
            <a:off x="3675887" y="2788920"/>
            <a:ext cx="7955279" cy="64008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Direct inversion of XᵀX.</a:t>
            </a:r>
          </a:p>
        </p:txBody>
      </p:sp>
      <p:sp>
        <p:nvSpPr>
          <p:cNvPr id="11" name="Rectangle 10"/>
          <p:cNvSpPr/>
          <p:nvPr/>
        </p:nvSpPr>
        <p:spPr>
          <a:xfrm>
            <a:off x="566928" y="3547872"/>
            <a:ext cx="91440" cy="5486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502152"/>
            <a:ext cx="2743200" cy="640080"/>
          </a:xfrm>
          <a:prstGeom prst="rect">
            <a:avLst/>
          </a:prstGeom>
          <a:noFill/>
        </p:spPr>
        <p:txBody>
          <a:bodyPr wrap="square" lIns="0" tIns="0" rIns="0" bIns="0" anchor="ctr">
            <a:spAutoFit/>
          </a:bodyPr>
          <a:lstStyle/>
          <a:p>
            <a:pPr algn="l">
              <a:lnSpc>
                <a:spcPct val="100000"/>
              </a:lnSpc>
            </a:pPr>
            <a:r>
              <a:rPr sz="1500" b="1" i="0">
                <a:solidFill>
                  <a:srgbClr val="14233A"/>
                </a:solidFill>
                <a:latin typeface="Arial"/>
              </a:rPr>
              <a:t>Staged improvement</a:t>
            </a:r>
          </a:p>
        </p:txBody>
      </p:sp>
      <p:sp>
        <p:nvSpPr>
          <p:cNvPr id="13" name="TextBox 12"/>
          <p:cNvSpPr txBox="1"/>
          <p:nvPr/>
        </p:nvSpPr>
        <p:spPr>
          <a:xfrm>
            <a:off x="3675887" y="3502152"/>
            <a:ext cx="7955279" cy="64008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Scale each column before inverting — fixes precision when drivers have very different scales.</a:t>
            </a:r>
          </a:p>
        </p:txBody>
      </p:sp>
      <p:sp>
        <p:nvSpPr>
          <p:cNvPr id="14" name="Rectangle 13"/>
          <p:cNvSpPr/>
          <p:nvPr/>
        </p:nvSpPr>
        <p:spPr>
          <a:xfrm>
            <a:off x="566928" y="4261104"/>
            <a:ext cx="91440" cy="5486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215384"/>
            <a:ext cx="2743200" cy="640080"/>
          </a:xfrm>
          <a:prstGeom prst="rect">
            <a:avLst/>
          </a:prstGeom>
          <a:noFill/>
        </p:spPr>
        <p:txBody>
          <a:bodyPr wrap="square" lIns="0" tIns="0" rIns="0" bIns="0" anchor="ctr">
            <a:spAutoFit/>
          </a:bodyPr>
          <a:lstStyle/>
          <a:p>
            <a:pPr algn="l">
              <a:lnSpc>
                <a:spcPct val="100000"/>
              </a:lnSpc>
            </a:pPr>
            <a:r>
              <a:rPr sz="1500" b="1" i="0">
                <a:solidFill>
                  <a:srgbClr val="14233A"/>
                </a:solidFill>
                <a:latin typeface="Arial"/>
              </a:rPr>
              <a:t>Why it's clean</a:t>
            </a:r>
          </a:p>
        </p:txBody>
      </p:sp>
      <p:sp>
        <p:nvSpPr>
          <p:cNvPr id="16" name="TextBox 15"/>
          <p:cNvSpPr txBox="1"/>
          <p:nvPr/>
        </p:nvSpPr>
        <p:spPr>
          <a:xfrm>
            <a:off x="3675887" y="4215384"/>
            <a:ext cx="7955279" cy="64008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Everything inherits from the one helper, so hardening it improves every diagnostic at once.</a:t>
            </a:r>
          </a:p>
        </p:txBody>
      </p:sp>
      <p:sp>
        <p:nvSpPr>
          <p:cNvPr id="17" name="Rectangle 16"/>
          <p:cNvSpPr/>
          <p:nvPr/>
        </p:nvSpPr>
        <p:spPr>
          <a:xfrm>
            <a:off x="566928" y="4974336"/>
            <a:ext cx="91440" cy="548640"/>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928616"/>
            <a:ext cx="2743200" cy="640080"/>
          </a:xfrm>
          <a:prstGeom prst="rect">
            <a:avLst/>
          </a:prstGeom>
          <a:noFill/>
        </p:spPr>
        <p:txBody>
          <a:bodyPr wrap="square" lIns="0" tIns="0" rIns="0" bIns="0" anchor="ctr">
            <a:spAutoFit/>
          </a:bodyPr>
          <a:lstStyle/>
          <a:p>
            <a:pPr algn="l">
              <a:lnSpc>
                <a:spcPct val="100000"/>
              </a:lnSpc>
            </a:pPr>
            <a:r>
              <a:rPr sz="1500" b="1" i="0">
                <a:solidFill>
                  <a:srgbClr val="14233A"/>
                </a:solidFill>
                <a:latin typeface="Arial"/>
              </a:rPr>
              <a:t>Scope</a:t>
            </a:r>
          </a:p>
        </p:txBody>
      </p:sp>
      <p:sp>
        <p:nvSpPr>
          <p:cNvPr id="19" name="TextBox 18"/>
          <p:cNvSpPr txBox="1"/>
          <p:nvPr/>
        </p:nvSpPr>
        <p:spPr>
          <a:xfrm>
            <a:off x="3675887" y="4928616"/>
            <a:ext cx="7955279" cy="64008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A numerical fix, not a statistical one — changes precision, never the answers.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prediction interval</a:t>
            </a:r>
          </a:p>
        </p:txBody>
      </p:sp>
      <p:sp>
        <p:nvSpPr>
          <p:cNvPr id="3" name="Rounded Rectangle 2"/>
          <p:cNvSpPr/>
          <p:nvPr/>
        </p:nvSpPr>
        <p:spPr>
          <a:xfrm>
            <a:off x="566928" y="1874519"/>
            <a:ext cx="11055096" cy="50292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956815"/>
            <a:ext cx="457200" cy="33832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56815"/>
            <a:ext cx="457200" cy="33832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6" name="TextBox 5"/>
          <p:cNvSpPr txBox="1"/>
          <p:nvPr/>
        </p:nvSpPr>
        <p:spPr>
          <a:xfrm>
            <a:off x="1207007" y="1874519"/>
            <a:ext cx="10323576" cy="50292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SE_prediction = </a:t>
            </a:r>
            <a:r>
              <a:rPr sz="1150" b="1" i="0">
                <a:solidFill>
                  <a:srgbClr val="0D9488"/>
                </a:solidFill>
                <a:latin typeface="Consolas"/>
              </a:rPr>
              <a:t>s · √(1 + hₙ)</a:t>
            </a:r>
            <a:r>
              <a:rPr sz="1150" b="0" i="0">
                <a:solidFill>
                  <a:srgbClr val="42566B"/>
                </a:solidFill>
                <a:latin typeface="Consolas"/>
              </a:rPr>
              <a:t>      interval = ŷ ± t</a:t>
            </a:r>
            <a:r>
              <a:rPr sz="800" b="0" i="0">
                <a:solidFill>
                  <a:srgbClr val="42566B"/>
                </a:solidFill>
                <a:latin typeface="Consolas"/>
              </a:rPr>
              <a:t>α,df</a:t>
            </a:r>
            <a:r>
              <a:rPr sz="1150" b="0" i="0">
                <a:solidFill>
                  <a:srgbClr val="42566B"/>
                </a:solidFill>
                <a:latin typeface="Consolas"/>
              </a:rPr>
              <a:t> · SE_prediction</a:t>
            </a:r>
          </a:p>
        </p:txBody>
      </p:sp>
      <p:sp>
        <p:nvSpPr>
          <p:cNvPr id="7" name="Rectangle 6"/>
          <p:cNvSpPr/>
          <p:nvPr/>
        </p:nvSpPr>
        <p:spPr>
          <a:xfrm>
            <a:off x="566928" y="2834640"/>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2889504"/>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s</a:t>
            </a:r>
          </a:p>
        </p:txBody>
      </p:sp>
      <p:sp>
        <p:nvSpPr>
          <p:cNvPr id="9" name="TextBox 8"/>
          <p:cNvSpPr txBox="1"/>
          <p:nvPr/>
        </p:nvSpPr>
        <p:spPr>
          <a:xfrm>
            <a:off x="3584448" y="2889504"/>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the regression's own scatter — the standard error of the estimate.</a:t>
            </a:r>
          </a:p>
        </p:txBody>
      </p:sp>
      <p:sp>
        <p:nvSpPr>
          <p:cNvPr id="10" name="Rectangle 9"/>
          <p:cNvSpPr/>
          <p:nvPr/>
        </p:nvSpPr>
        <p:spPr>
          <a:xfrm>
            <a:off x="566928" y="3401568"/>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3456432"/>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hₙ (leverage)</a:t>
            </a:r>
          </a:p>
        </p:txBody>
      </p:sp>
      <p:sp>
        <p:nvSpPr>
          <p:cNvPr id="12" name="TextBox 11"/>
          <p:cNvSpPr txBox="1"/>
          <p:nvPr/>
        </p:nvSpPr>
        <p:spPr>
          <a:xfrm>
            <a:off x="3584448" y="3456432"/>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grows as the new case moves away from the center of the fitted data.</a:t>
            </a:r>
          </a:p>
        </p:txBody>
      </p:sp>
      <p:sp>
        <p:nvSpPr>
          <p:cNvPr id="13" name="Rectangle 12"/>
          <p:cNvSpPr/>
          <p:nvPr/>
        </p:nvSpPr>
        <p:spPr>
          <a:xfrm>
            <a:off x="566928" y="3968496"/>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 y="4023359"/>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At the center</a:t>
            </a:r>
          </a:p>
        </p:txBody>
      </p:sp>
      <p:sp>
        <p:nvSpPr>
          <p:cNvPr id="15" name="TextBox 14"/>
          <p:cNvSpPr txBox="1"/>
          <p:nvPr/>
        </p:nvSpPr>
        <p:spPr>
          <a:xfrm>
            <a:off x="3584448" y="4023359"/>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interval is as tight as the model allows.</a:t>
            </a:r>
          </a:p>
        </p:txBody>
      </p:sp>
      <p:sp>
        <p:nvSpPr>
          <p:cNvPr id="16" name="Rectangle 15"/>
          <p:cNvSpPr/>
          <p:nvPr/>
        </p:nvSpPr>
        <p:spPr>
          <a:xfrm>
            <a:off x="566928" y="4535424"/>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4590288"/>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Past your data</a:t>
            </a:r>
          </a:p>
        </p:txBody>
      </p:sp>
      <p:sp>
        <p:nvSpPr>
          <p:cNvPr id="18" name="TextBox 17"/>
          <p:cNvSpPr txBox="1"/>
          <p:nvPr/>
        </p:nvSpPr>
        <p:spPr>
          <a:xfrm>
            <a:off x="3584448" y="4590288"/>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it widens fast — that's the automatic extrapolation penalty.</a:t>
            </a:r>
          </a:p>
        </p:txBody>
      </p:sp>
      <p:sp>
        <p:nvSpPr>
          <p:cNvPr id="19" name="Rectangle 18"/>
          <p:cNvSpPr/>
          <p:nvPr/>
        </p:nvSpPr>
        <p:spPr>
          <a:xfrm>
            <a:off x="566928" y="5102352"/>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5157216"/>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t-distribution</a:t>
            </a:r>
          </a:p>
        </p:txBody>
      </p:sp>
      <p:sp>
        <p:nvSpPr>
          <p:cNvPr id="21" name="TextBox 20"/>
          <p:cNvSpPr txBox="1"/>
          <p:nvPr/>
        </p:nvSpPr>
        <p:spPr>
          <a:xfrm>
            <a:off x="3584448" y="5157216"/>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on residual df — exact for the linear model, not an approximation.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validation methodology</a:t>
            </a:r>
          </a:p>
        </p:txBody>
      </p:sp>
      <p:sp>
        <p:nvSpPr>
          <p:cNvPr id="3" name="Rounded Rectangle 2"/>
          <p:cNvSpPr/>
          <p:nvPr/>
        </p:nvSpPr>
        <p:spPr>
          <a:xfrm>
            <a:off x="566928" y="2103120"/>
            <a:ext cx="3474720" cy="114300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8" y="2240280"/>
            <a:ext cx="3108960" cy="457200"/>
          </a:xfrm>
          <a:prstGeom prst="rect">
            <a:avLst/>
          </a:prstGeom>
          <a:noFill/>
        </p:spPr>
        <p:txBody>
          <a:bodyPr wrap="square" lIns="0" tIns="0" rIns="0" bIns="0" anchor="t">
            <a:spAutoFit/>
          </a:bodyPr>
          <a:lstStyle/>
          <a:p>
            <a:pPr algn="l">
              <a:lnSpc>
                <a:spcPct val="100000"/>
              </a:lnSpc>
            </a:pPr>
            <a:r>
              <a:rPr sz="1600" b="1" i="0">
                <a:solidFill>
                  <a:srgbClr val="0D9488"/>
                </a:solidFill>
                <a:latin typeface="Arial"/>
              </a:rPr>
              <a:t>This library</a:t>
            </a:r>
          </a:p>
        </p:txBody>
      </p:sp>
      <p:sp>
        <p:nvSpPr>
          <p:cNvPr id="5" name="TextBox 4"/>
          <p:cNvSpPr txBox="1"/>
          <p:nvPr/>
        </p:nvSpPr>
        <p:spPr>
          <a:xfrm>
            <a:off x="795528" y="2697480"/>
            <a:ext cx="310896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native Excel LAMBDAs</a:t>
            </a:r>
          </a:p>
        </p:txBody>
      </p:sp>
      <p:sp>
        <p:nvSpPr>
          <p:cNvPr id="6" name="TextBox 5"/>
          <p:cNvSpPr txBox="1"/>
          <p:nvPr/>
        </p:nvSpPr>
        <p:spPr>
          <a:xfrm>
            <a:off x="4023359" y="2103120"/>
            <a:ext cx="411480" cy="1143000"/>
          </a:xfrm>
          <a:prstGeom prst="rect">
            <a:avLst/>
          </a:prstGeom>
          <a:noFill/>
        </p:spPr>
        <p:txBody>
          <a:bodyPr wrap="square" lIns="0" tIns="0" rIns="0" bIns="0" anchor="ctr">
            <a:spAutoFit/>
          </a:bodyPr>
          <a:lstStyle/>
          <a:p>
            <a:pPr algn="ctr">
              <a:lnSpc>
                <a:spcPct val="100000"/>
              </a:lnSpc>
            </a:pPr>
            <a:r>
              <a:rPr sz="2600" b="1" i="0">
                <a:solidFill>
                  <a:srgbClr val="9AA8B5"/>
                </a:solidFill>
                <a:latin typeface="Arial"/>
              </a:rPr>
              <a:t>=</a:t>
            </a:r>
          </a:p>
        </p:txBody>
      </p:sp>
      <p:sp>
        <p:nvSpPr>
          <p:cNvPr id="7" name="Rounded Rectangle 6"/>
          <p:cNvSpPr/>
          <p:nvPr/>
        </p:nvSpPr>
        <p:spPr>
          <a:xfrm>
            <a:off x="4334256" y="2103120"/>
            <a:ext cx="3474720" cy="1143000"/>
          </a:xfrm>
          <a:prstGeom prst="roundRect">
            <a:avLst>
              <a:gd name="adj" fmla="val 6000"/>
            </a:avLst>
          </a:prstGeom>
          <a:solidFill>
            <a:srgbClr val="F0F5FA"/>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2856" y="2240280"/>
            <a:ext cx="3108960" cy="457200"/>
          </a:xfrm>
          <a:prstGeom prst="rect">
            <a:avLst/>
          </a:prstGeom>
          <a:noFill/>
        </p:spPr>
        <p:txBody>
          <a:bodyPr wrap="square" lIns="0" tIns="0" rIns="0" bIns="0" anchor="t">
            <a:spAutoFit/>
          </a:bodyPr>
          <a:lstStyle/>
          <a:p>
            <a:pPr algn="l">
              <a:lnSpc>
                <a:spcPct val="100000"/>
              </a:lnSpc>
            </a:pPr>
            <a:r>
              <a:rPr sz="1600" b="1" i="0">
                <a:solidFill>
                  <a:srgbClr val="064472"/>
                </a:solidFill>
                <a:latin typeface="Arial"/>
              </a:rPr>
              <a:t>Analysis ToolPak</a:t>
            </a:r>
          </a:p>
        </p:txBody>
      </p:sp>
      <p:sp>
        <p:nvSpPr>
          <p:cNvPr id="9" name="TextBox 8"/>
          <p:cNvSpPr txBox="1"/>
          <p:nvPr/>
        </p:nvSpPr>
        <p:spPr>
          <a:xfrm>
            <a:off x="4562856" y="2697480"/>
            <a:ext cx="310896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Excel's built-in regression</a:t>
            </a:r>
          </a:p>
        </p:txBody>
      </p:sp>
      <p:sp>
        <p:nvSpPr>
          <p:cNvPr id="10" name="TextBox 9"/>
          <p:cNvSpPr txBox="1"/>
          <p:nvPr/>
        </p:nvSpPr>
        <p:spPr>
          <a:xfrm>
            <a:off x="7790688" y="2103120"/>
            <a:ext cx="411480" cy="1143000"/>
          </a:xfrm>
          <a:prstGeom prst="rect">
            <a:avLst/>
          </a:prstGeom>
          <a:noFill/>
        </p:spPr>
        <p:txBody>
          <a:bodyPr wrap="square" lIns="0" tIns="0" rIns="0" bIns="0" anchor="ctr">
            <a:spAutoFit/>
          </a:bodyPr>
          <a:lstStyle/>
          <a:p>
            <a:pPr algn="ctr">
              <a:lnSpc>
                <a:spcPct val="100000"/>
              </a:lnSpc>
            </a:pPr>
            <a:r>
              <a:rPr sz="2600" b="1" i="0">
                <a:solidFill>
                  <a:srgbClr val="9AA8B5"/>
                </a:solidFill>
                <a:latin typeface="Arial"/>
              </a:rPr>
              <a:t>=</a:t>
            </a:r>
          </a:p>
        </p:txBody>
      </p:sp>
      <p:sp>
        <p:nvSpPr>
          <p:cNvPr id="11" name="Rounded Rectangle 10"/>
          <p:cNvSpPr/>
          <p:nvPr/>
        </p:nvSpPr>
        <p:spPr>
          <a:xfrm>
            <a:off x="8101583" y="2103120"/>
            <a:ext cx="3474720" cy="114300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2240280"/>
            <a:ext cx="3108960" cy="457200"/>
          </a:xfrm>
          <a:prstGeom prst="rect">
            <a:avLst/>
          </a:prstGeom>
          <a:noFill/>
        </p:spPr>
        <p:txBody>
          <a:bodyPr wrap="square" lIns="0" tIns="0" rIns="0" bIns="0" anchor="t">
            <a:spAutoFit/>
          </a:bodyPr>
          <a:lstStyle/>
          <a:p>
            <a:pPr algn="l">
              <a:lnSpc>
                <a:spcPct val="100000"/>
              </a:lnSpc>
            </a:pPr>
            <a:r>
              <a:rPr sz="1600" b="1" i="0">
                <a:solidFill>
                  <a:srgbClr val="B8860B"/>
                </a:solidFill>
                <a:latin typeface="Arial"/>
              </a:rPr>
              <a:t>statsmodels</a:t>
            </a:r>
          </a:p>
        </p:txBody>
      </p:sp>
      <p:sp>
        <p:nvSpPr>
          <p:cNvPr id="13" name="TextBox 12"/>
          <p:cNvSpPr txBox="1"/>
          <p:nvPr/>
        </p:nvSpPr>
        <p:spPr>
          <a:xfrm>
            <a:off x="8330183" y="2697480"/>
            <a:ext cx="310896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Python reference</a:t>
            </a:r>
          </a:p>
        </p:txBody>
      </p:sp>
      <p:sp>
        <p:nvSpPr>
          <p:cNvPr id="14" name="Rounded Rectangle 13"/>
          <p:cNvSpPr/>
          <p:nvPr/>
        </p:nvSpPr>
        <p:spPr>
          <a:xfrm>
            <a:off x="566928" y="3611880"/>
            <a:ext cx="11055096" cy="1828800"/>
          </a:xfrm>
          <a:prstGeom prst="roundRect">
            <a:avLst>
              <a:gd name="adj" fmla="val 6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3840480"/>
            <a:ext cx="10241280" cy="731520"/>
          </a:xfrm>
          <a:prstGeom prst="rect">
            <a:avLst/>
          </a:prstGeom>
          <a:noFill/>
        </p:spPr>
        <p:txBody>
          <a:bodyPr wrap="square" lIns="0" tIns="0" rIns="0" bIns="0" anchor="t">
            <a:spAutoFit/>
          </a:bodyPr>
          <a:lstStyle/>
          <a:p>
            <a:pPr algn="l">
              <a:lnSpc>
                <a:spcPct val="105000"/>
              </a:lnSpc>
            </a:pPr>
            <a:r>
              <a:rPr sz="1800" b="1" i="0">
                <a:solidFill>
                  <a:srgbClr val="FFFFFF"/>
                </a:solidFill>
                <a:latin typeface="Arial"/>
              </a:rPr>
              <a:t>Same model, three engines. Every output compared — coefficients, standard errors, ANOVA, R², PRESS.</a:t>
            </a:r>
          </a:p>
        </p:txBody>
      </p:sp>
      <p:sp>
        <p:nvSpPr>
          <p:cNvPr id="16" name="TextBox 15"/>
          <p:cNvSpPr txBox="1"/>
          <p:nvPr/>
        </p:nvSpPr>
        <p:spPr>
          <a:xfrm>
            <a:off x="978408" y="4617720"/>
            <a:ext cx="10241280" cy="731520"/>
          </a:xfrm>
          <a:prstGeom prst="rect">
            <a:avLst/>
          </a:prstGeom>
          <a:noFill/>
        </p:spPr>
        <p:txBody>
          <a:bodyPr wrap="square" lIns="0" tIns="0" rIns="0" bIns="0" anchor="t">
            <a:spAutoFit/>
          </a:bodyPr>
          <a:lstStyle/>
          <a:p>
            <a:pPr algn="l">
              <a:lnSpc>
                <a:spcPct val="105000"/>
              </a:lnSpc>
            </a:pPr>
            <a:r>
              <a:rPr sz="1450" b="1" i="0">
                <a:solidFill>
                  <a:srgbClr val="5EEAD4"/>
                </a:solidFill>
                <a:latin typeface="Arial"/>
              </a:rPr>
              <a:t>Agreement to ~10 decimal places </a:t>
            </a:r>
            <a:r>
              <a:rPr sz="1450" b="0" i="0">
                <a:solidFill>
                  <a:srgbClr val="D8E0EA"/>
                </a:solidFill>
                <a:latin typeface="Arial"/>
              </a:rPr>
              <a:t>— floating-point noise. Same textbook arithmetic, independently implemented, so you can verify against whatever you trust.</a:t>
            </a:r>
          </a:p>
        </p:txBody>
      </p:sp>
    </p:spTree>
  </p:cSld>
  <p:clrMapOvr>
    <a:masterClrMapping/>
  </p:clrMapOvr>
</p:sld>
</file>

<file path=ppt/theme/theme1.xml><?xml version="1.0" encoding="utf-8"?>
<a:theme xmlns:a="http://schemas.openxmlformats.org/drawingml/2006/main" name="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B7AE63A09C47459AA4B25F0F3DCE93" ma:contentTypeVersion="6" ma:contentTypeDescription="Create a new document." ma:contentTypeScope="" ma:versionID="05578cdae0f4a68a492f916aaeda4260">
  <xsd:schema xmlns:xsd="http://www.w3.org/2001/XMLSchema" xmlns:xs="http://www.w3.org/2001/XMLSchema" xmlns:p="http://schemas.microsoft.com/office/2006/metadata/properties" xmlns:ns2="f6d72316-a743-4cd1-bf2d-d950ac85e3d7" xmlns:ns3="f188a965-3786-47e8-8359-d9a2fd67cd45" targetNamespace="http://schemas.microsoft.com/office/2006/metadata/properties" ma:root="true" ma:fieldsID="157e77c60646fb8aaddc5d6979227384" ns2:_="" ns3:_="">
    <xsd:import namespace="f6d72316-a743-4cd1-bf2d-d950ac85e3d7"/>
    <xsd:import namespace="f188a965-3786-47e8-8359-d9a2fd67cd4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d72316-a743-4cd1-bf2d-d950ac85e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188a965-3786-47e8-8359-d9a2fd67cd4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80D5D3-E0CD-44B0-8E37-C3630286E9D8}">
  <ds:schemaRefs>
    <ds:schemaRef ds:uri="http://schemas.microsoft.com/sharepoint/v3/contenttype/forms"/>
  </ds:schemaRefs>
</ds:datastoreItem>
</file>

<file path=customXml/itemProps2.xml><?xml version="1.0" encoding="utf-8"?>
<ds:datastoreItem xmlns:ds="http://schemas.openxmlformats.org/officeDocument/2006/customXml" ds:itemID="{A4BEE2B8-ED5C-4B5D-8FC7-A251AE9BE165}">
  <ds:schemaRefs>
    <ds:schemaRef ds:uri="http://purl.org/dc/dcmitype/"/>
    <ds:schemaRef ds:uri="f188a965-3786-47e8-8359-d9a2fd67cd45"/>
    <ds:schemaRef ds:uri="f6d72316-a743-4cd1-bf2d-d950ac85e3d7"/>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670FC75-EBF8-4E09-A1BA-D503265DAF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d72316-a743-4cd1-bf2d-d950ac85e3d7"/>
    <ds:schemaRef ds:uri="f188a965-3786-47e8-8359-d9a2fd67cd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609</TotalTime>
  <Words>4046</Words>
  <Application>Microsoft Office PowerPoint</Application>
  <PresentationFormat>Widescreen</PresentationFormat>
  <Paragraphs>416</Paragraphs>
  <Slides>24</Slides>
  <Notes>20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24</vt:i4>
      </vt:variant>
    </vt:vector>
  </HeadingPairs>
  <TitlesOfParts>
    <vt:vector size="33" baseType="lpstr">
      <vt:lpstr>Aptos</vt:lpstr>
      <vt:lpstr>Arial</vt:lpstr>
      <vt:lpstr>Consolas</vt:lpstr>
      <vt:lpstr>Montserrat</vt:lpstr>
      <vt:lpstr>Wingdings</vt:lpstr>
      <vt:lpstr>Office Theme</vt:lpstr>
      <vt:lpstr>1_Office Theme</vt:lpstr>
      <vt:lpstr>2_Office Theme</vt:lpstr>
      <vt:lpstr>3_Office Theme</vt:lpstr>
      <vt:lpstr>Statistical Analysis LAMBDA Library</vt:lpstr>
      <vt:lpstr>Motivation</vt:lpstr>
      <vt:lpstr>Content</vt:lpstr>
      <vt:lpstr>Tradeoffs</vt:lpstr>
      <vt:lpstr>Live Demo</vt:lpstr>
      <vt:lpstr>Look before you model</vt:lpstr>
      <vt:lpstr>Fit, with confidence intervals</vt:lpstr>
      <vt:lpstr>Trim collinearity — one toggle</vt:lpstr>
      <vt:lpstr>The honest metric</vt:lpstr>
      <vt:lpstr>A health check on the fit</vt:lpstr>
      <vt:lpstr>Predict, with uncertainty</vt:lpstr>
      <vt:lpstr>Log the cost → lognormal</vt:lpstr>
      <vt:lpstr>Wiring the sheet to your data</vt:lpstr>
      <vt:lpstr>The LAMBDA_functions sheet</vt:lpstr>
      <vt:lpstr>How to use it in your analysis</vt:lpstr>
      <vt:lpstr>Benefits</vt:lpstr>
      <vt:lpstr>Two Excel features do the work</vt:lpstr>
      <vt:lpstr>LET → LAMBDA</vt:lpstr>
      <vt:lpstr>Results Verification</vt:lpstr>
      <vt:lpstr>Full workflow on one worksheet</vt:lpstr>
      <vt:lpstr>Where it stops</vt:lpstr>
      <vt:lpstr>Backup · numerical stability</vt:lpstr>
      <vt:lpstr>Backup · prediction interval</vt:lpstr>
      <vt:lpstr>Backup · validation methodology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Valerie Levine</dc:creator>
  <cp:lastModifiedBy>Stephen Colodner</cp:lastModifiedBy>
  <cp:revision>18</cp:revision>
  <cp:lastPrinted>2025-09-12T16:13:46Z</cp:lastPrinted>
  <dcterms:created xsi:type="dcterms:W3CDTF">2025-09-10T18:06:41Z</dcterms:created>
  <dcterms:modified xsi:type="dcterms:W3CDTF">2026-06-08T02:50:26Z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0x01010014B7AE63A09C47459AA4B25F0F3DCE93</vt:lpwstr>
  </property>
  <property fmtid="{D5CDD505-2E9C-101B-9397-08002B2CF9AE}" pid="3" name="MediaServiceImageTags">
    <vt:lpwstr/>
  </property>
</Properties>
</file>