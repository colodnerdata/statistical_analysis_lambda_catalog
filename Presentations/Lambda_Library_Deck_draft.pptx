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CARD. Neutral styling — drop into your template; tool name 'Lambda Library' is a placeholder.
Swap the footer per venue: 'Brown bag · feedback welcome' internally; the formal session/track title for the conference.
The formula-bar device signals 'this lives in Excel, and it's programmable' before you say a word. Stay neutral on color (you chose this); the grid motif carries the Excel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Open on the shared experience — everyone here has lost a capability to a budget cut or a support sunset. Then pivot: 365 is the exception, and that durability is what makes it worth building on.
This reframes the version floor from a caveat into the foundation. The Excel-365-vs-older icon distinction in the timeline quietly makes the point that even Excel has a before/after, and the 365 era is the unlock.
Visual is a placeholder for the availability-timeline illustration you'll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 if you never use it, you'll learn something' promise, stated up front to disarm the 'why am I watching a product pitch' reflex.
The chips are deliberately HIDDEN here and revealed on slide 6 — building anticipation. Phrase it as 'a handful' rather than a number so the count stays flexible.
The right panel carries more visual weight on purpose — it signals generosity, value beyond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move: let R/Python visibly WIN Power and Reproducibility. The honest losses are what make the wins believable to a technical crowd that respects those tools.
The bottom two rows are near mirror-images — that's the 'complementary, not competing' story. The library's value concentrates in Deployable / Dynamic / Handoff; the code stack's in Power / Reproducibility.
Sweave is folded into the R/Python row (same scores) and addressed verbally: 'the gold standard for reproducibility is literate programming — Sweave, Quarto — but it carries the same toolchain barrier.'
Column scoping: keep Reproducibility about captured/version-controlled pipelines (code wins); Handoff carries open-and-read-anywhere (library wins). Ordering leads with the audience's gating criterion (Deployable) and ends on the library's signature win (Handoff). If you add barrier icons per row, they're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turn from problem to answer. Don't re-argue the matrix — #2 and #3 are matrix echoes, kept light. #1 (the security hero, invisible in any screenshot, so it's the banner) and #4 (uncertainty-ready — the one thing NOT in the matrix, and the thread to the climax) carry the slide.
Visual: do NOT show the full Regression sheet here — save its first appearance for the live demo. Use one tight crop (formula bar) as a 'this is real'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Pays off the hidden chips from slide 3. Kept to TWO pillars on purpose: New Window was dropped (it's the demo method, self-teaches when used); trim references were dropped (version-fragile — current-channel only, secure environments lag — and largely redundant with structured references). Mention trim refs at most as a one-line 'where Excel's heading' aside if the deployed channel supports them.
LET is held for slide 7, paired with LAMBDA. Don't lecture each feature here — flash the menu and prove each one live (structured refs on the data sheet, spill when outputs spill).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keystone. Teach the MECHANISM with the trivial SQ example — don't teach the concept on a real library function; the dense syntax loses the room on syntax instead of the idea.
The autocomplete dropdown is the money shot: it collapses the abstraction into 'oh — it's just a function I made that Excel treats like a built-in.' It's also not the Regression sheet, so it doesn't spend the demo's first-look impact.
45-min: dwell on 'they compose' — a technical attendee leans in there; a function-dependency diagram makes a good backup slide. Ties straight back to the slide-5 security hero: THIS is the programmability, and it's macro-free.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rhetorical key: turn the rivals from slide 4 into your VALIDATORS. 'We reproduce the tools you already trust, to floating-point precision.' This disarms the skeptic — you're showing a match, not asking for faith — and unifies the deck: same answers as the engines you trust, on the platform you can actually deploy.
Show the match, don't claim it: three columns of identical numbers lands the instant the eye sees them. Numbers come straight from your QC harness (the MLR_*_Test sheets vs the statsmodels reference) on WHO data — pending the CSV run.
45-min: add 'validation is continuous — every rebuild re-checks every function.' Numerical-hardening (Gram_Inverse) is a one-line 'numerically hardened for real-world scales' with detail parked in a backup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On-ramp to the demo, ~30 seconds: 'here's the journey, and here's where it lands.' The last node is emphasized as the DESTINATION so the uncertainty payoff is promised from the start.
This roadmap seeds the persistent 'you are here' rail that appears slim on each demo card. The catalog is NOT a node — it's the reference you dip into at every step, surfaced via callbacks. Frame it as the disciplined process a defensible CER follows, not a feature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 DATA + FILTER
Click: open the data sheet; show the Full_Data filter column and its formula; toggle a row in/out; Alt+Tab to the stats and show they track.
Takeaway: real data has gaps — the complete-case filter makes the included set explicit, and it's live.
Callback: none.
Building block: structured references (the [Col]:[Col] span).
Data: on the crappy cost dataset (brown bag) this is where the mess shows honestly; on WHO (conference) the gaps in Hep B / GDP / Population make the complete-case drop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(a reference, not a workflow step — hence the rail shows no lit node, just the 'reference' marker).
Click: open the LAMBDA_functions sheet; land on Cooks_Distance — show its formula, plain-language definition, and the 4/n threshold, live.
Takeaway: the math AND the meaning live in the workbook; nothing to look up elsewhere, and a reviewer can read it without leaving the file.
This plants a seed you return to: Cook's distance at diagnostics, PRESS at selection. Those later callbacks then feel like 'remember this? here it is,' not first-time explanation. Card stays text-only; the live sheet carries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FIT THE CER
Click: in a scratch cell, =Coefficients(LifeExpectancyData[Adult Mortality], y, TRUE, fil) (spills); add =R_squared(...); widen the X range to add predictors and watch values update; then open the Regression sheet for the full model.
Takeaway: a CER is just named functions composed over your columns — scales 1 → many predictors with no setup.
Callback: none required.
Building block: structured references + spill (Coefficients spills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 COEFFICIENT INFERENCE
Click: walk the coefficient block on the Regression sheet; flag the significant drivers; then toggle Allow_Intercept (D2) and let the whole sheet recompute — THIS is your live/Dynamic wow (intra-sheet, single screen, no window juggling).
Takeaway: every coefficient ships with its uncertainty, so you can defend which drivers belong.
Callback: catalog → P_Values / CI_Lower.
Building block: spill; live recompute via the toggle.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 COLLINEARITY → TRIM (VIF)
Click: show the VIF column; point at the high-VIF redundant drivers; edit x_s to drop them (rehearsed CONTIGUOUS range — lowest-risk to type live); VIF collapses and the model recomputes.
Takeaway: VIF flags redundancy; trimming is one edit — and it sets up the comparison (slide 15).
Callback: catalog → VIF (1/(1−R²_j), flag &gt; 10).
Building block: live recompute on the x_s change.
NOTE: slide 15 (the pre-baked full-vs-trimmed comparison) is pending the CSV analysis and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914400" y="0"/>
            <a:ext cx="0" cy="6858000"/>
          </a:xfrm>
          <a:prstGeom prst="line">
            <a:avLst/>
          </a:prstGeom>
          <a:noFill/>
          <a:ln w="6350">
            <a:solidFill>
              <a:srgbClr val="2A3957"/>
            </a:solidFill>
            <a:prstDash val="solid"/>
          </a:ln>
        </p:spPr>
      </p:sp>
      <p:sp>
        <p:nvSpPr>
          <p:cNvPr id="3" name="Shape 1"/>
          <p:cNvSpPr/>
          <p:nvPr/>
        </p:nvSpPr>
        <p:spPr>
          <a:xfrm>
            <a:off x="1965960" y="0"/>
            <a:ext cx="0" cy="6858000"/>
          </a:xfrm>
          <a:prstGeom prst="line">
            <a:avLst/>
          </a:prstGeom>
          <a:noFill/>
          <a:ln w="6350">
            <a:solidFill>
              <a:srgbClr val="2A3957"/>
            </a:solidFill>
            <a:prstDash val="solid"/>
          </a:ln>
        </p:spPr>
      </p:sp>
      <p:sp>
        <p:nvSpPr>
          <p:cNvPr id="4" name="Shape 2"/>
          <p:cNvSpPr/>
          <p:nvPr/>
        </p:nvSpPr>
        <p:spPr>
          <a:xfrm>
            <a:off x="3017520" y="0"/>
            <a:ext cx="0" cy="6858000"/>
          </a:xfrm>
          <a:prstGeom prst="line">
            <a:avLst/>
          </a:prstGeom>
          <a:noFill/>
          <a:ln w="6350">
            <a:solidFill>
              <a:srgbClr val="2A3957"/>
            </a:solidFill>
            <a:prstDash val="solid"/>
          </a:ln>
        </p:spPr>
      </p:sp>
      <p:sp>
        <p:nvSpPr>
          <p:cNvPr id="5" name="Shape 3"/>
          <p:cNvSpPr/>
          <p:nvPr/>
        </p:nvSpPr>
        <p:spPr>
          <a:xfrm>
            <a:off x="4069080" y="0"/>
            <a:ext cx="0" cy="6858000"/>
          </a:xfrm>
          <a:prstGeom prst="line">
            <a:avLst/>
          </a:prstGeom>
          <a:noFill/>
          <a:ln w="6350">
            <a:solidFill>
              <a:srgbClr val="2A3957"/>
            </a:solidFill>
            <a:prstDash val="solid"/>
          </a:ln>
        </p:spPr>
      </p:sp>
      <p:sp>
        <p:nvSpPr>
          <p:cNvPr id="6" name="Shape 4"/>
          <p:cNvSpPr/>
          <p:nvPr/>
        </p:nvSpPr>
        <p:spPr>
          <a:xfrm>
            <a:off x="5120640" y="0"/>
            <a:ext cx="0" cy="6858000"/>
          </a:xfrm>
          <a:prstGeom prst="line">
            <a:avLst/>
          </a:prstGeom>
          <a:noFill/>
          <a:ln w="6350">
            <a:solidFill>
              <a:srgbClr val="2A3957"/>
            </a:solidFill>
            <a:prstDash val="solid"/>
          </a:ln>
        </p:spPr>
      </p:sp>
      <p:sp>
        <p:nvSpPr>
          <p:cNvPr id="7" name="Shape 5"/>
          <p:cNvSpPr/>
          <p:nvPr/>
        </p:nvSpPr>
        <p:spPr>
          <a:xfrm>
            <a:off x="6172200" y="0"/>
            <a:ext cx="0" cy="6858000"/>
          </a:xfrm>
          <a:prstGeom prst="line">
            <a:avLst/>
          </a:prstGeom>
          <a:noFill/>
          <a:ln w="6350">
            <a:solidFill>
              <a:srgbClr val="2A3957"/>
            </a:solidFill>
            <a:prstDash val="solid"/>
          </a:ln>
        </p:spPr>
      </p:sp>
      <p:sp>
        <p:nvSpPr>
          <p:cNvPr id="8" name="Shape 6"/>
          <p:cNvSpPr/>
          <p:nvPr/>
        </p:nvSpPr>
        <p:spPr>
          <a:xfrm>
            <a:off x="7223760" y="0"/>
            <a:ext cx="0" cy="6858000"/>
          </a:xfrm>
          <a:prstGeom prst="line">
            <a:avLst/>
          </a:prstGeom>
          <a:noFill/>
          <a:ln w="6350">
            <a:solidFill>
              <a:srgbClr val="2A3957"/>
            </a:solidFill>
            <a:prstDash val="solid"/>
          </a:ln>
        </p:spPr>
      </p:sp>
      <p:sp>
        <p:nvSpPr>
          <p:cNvPr id="9" name="Shape 7"/>
          <p:cNvSpPr/>
          <p:nvPr/>
        </p:nvSpPr>
        <p:spPr>
          <a:xfrm>
            <a:off x="8275320" y="0"/>
            <a:ext cx="0" cy="6858000"/>
          </a:xfrm>
          <a:prstGeom prst="line">
            <a:avLst/>
          </a:prstGeom>
          <a:noFill/>
          <a:ln w="6350">
            <a:solidFill>
              <a:srgbClr val="2A3957"/>
            </a:solidFill>
            <a:prstDash val="solid"/>
          </a:ln>
        </p:spPr>
      </p:sp>
      <p:sp>
        <p:nvSpPr>
          <p:cNvPr id="10" name="Shape 8"/>
          <p:cNvSpPr/>
          <p:nvPr/>
        </p:nvSpPr>
        <p:spPr>
          <a:xfrm>
            <a:off x="9326880" y="0"/>
            <a:ext cx="0" cy="6858000"/>
          </a:xfrm>
          <a:prstGeom prst="line">
            <a:avLst/>
          </a:prstGeom>
          <a:noFill/>
          <a:ln w="6350">
            <a:solidFill>
              <a:srgbClr val="2A3957"/>
            </a:solidFill>
            <a:prstDash val="solid"/>
          </a:ln>
        </p:spPr>
      </p:sp>
      <p:sp>
        <p:nvSpPr>
          <p:cNvPr id="11" name="Shape 9"/>
          <p:cNvSpPr/>
          <p:nvPr/>
        </p:nvSpPr>
        <p:spPr>
          <a:xfrm>
            <a:off x="10378440" y="0"/>
            <a:ext cx="0" cy="6858000"/>
          </a:xfrm>
          <a:prstGeom prst="line">
            <a:avLst/>
          </a:prstGeom>
          <a:noFill/>
          <a:ln w="6350">
            <a:solidFill>
              <a:srgbClr val="2A3957"/>
            </a:solidFill>
            <a:prstDash val="solid"/>
          </a:ln>
        </p:spPr>
      </p:sp>
      <p:sp>
        <p:nvSpPr>
          <p:cNvPr id="12" name="Shape 10"/>
          <p:cNvSpPr/>
          <p:nvPr/>
        </p:nvSpPr>
        <p:spPr>
          <a:xfrm>
            <a:off x="11430000" y="0"/>
            <a:ext cx="0" cy="6858000"/>
          </a:xfrm>
          <a:prstGeom prst="line">
            <a:avLst/>
          </a:prstGeom>
          <a:noFill/>
          <a:ln w="6350">
            <a:solidFill>
              <a:srgbClr val="2A3957"/>
            </a:solidFill>
            <a:prstDash val="solid"/>
          </a:ln>
        </p:spPr>
      </p:sp>
      <p:sp>
        <p:nvSpPr>
          <p:cNvPr id="13" name="Shape 11"/>
          <p:cNvSpPr/>
          <p:nvPr/>
        </p:nvSpPr>
        <p:spPr>
          <a:xfrm>
            <a:off x="0" y="548640"/>
            <a:ext cx="12188952" cy="0"/>
          </a:xfrm>
          <a:prstGeom prst="line">
            <a:avLst/>
          </a:prstGeom>
          <a:noFill/>
          <a:ln w="6350">
            <a:solidFill>
              <a:srgbClr val="2A3957"/>
            </a:solidFill>
            <a:prstDash val="solid"/>
          </a:ln>
        </p:spPr>
      </p:sp>
      <p:sp>
        <p:nvSpPr>
          <p:cNvPr id="14" name="Shape 12"/>
          <p:cNvSpPr/>
          <p:nvPr/>
        </p:nvSpPr>
        <p:spPr>
          <a:xfrm>
            <a:off x="0" y="1417320"/>
            <a:ext cx="12188952" cy="0"/>
          </a:xfrm>
          <a:prstGeom prst="line">
            <a:avLst/>
          </a:prstGeom>
          <a:noFill/>
          <a:ln w="6350">
            <a:solidFill>
              <a:srgbClr val="2A3957"/>
            </a:solidFill>
            <a:prstDash val="solid"/>
          </a:ln>
        </p:spPr>
      </p:sp>
      <p:sp>
        <p:nvSpPr>
          <p:cNvPr id="15" name="Shape 13"/>
          <p:cNvSpPr/>
          <p:nvPr/>
        </p:nvSpPr>
        <p:spPr>
          <a:xfrm>
            <a:off x="0" y="2286000"/>
            <a:ext cx="12188952" cy="0"/>
          </a:xfrm>
          <a:prstGeom prst="line">
            <a:avLst/>
          </a:prstGeom>
          <a:noFill/>
          <a:ln w="6350">
            <a:solidFill>
              <a:srgbClr val="2A3957"/>
            </a:solidFill>
            <a:prstDash val="solid"/>
          </a:ln>
        </p:spPr>
      </p:sp>
      <p:sp>
        <p:nvSpPr>
          <p:cNvPr id="16" name="Shape 14"/>
          <p:cNvSpPr/>
          <p:nvPr/>
        </p:nvSpPr>
        <p:spPr>
          <a:xfrm>
            <a:off x="0" y="3154680"/>
            <a:ext cx="12188952" cy="0"/>
          </a:xfrm>
          <a:prstGeom prst="line">
            <a:avLst/>
          </a:prstGeom>
          <a:noFill/>
          <a:ln w="6350">
            <a:solidFill>
              <a:srgbClr val="2A3957"/>
            </a:solidFill>
            <a:prstDash val="solid"/>
          </a:ln>
        </p:spPr>
      </p:sp>
      <p:sp>
        <p:nvSpPr>
          <p:cNvPr id="17" name="Shape 15"/>
          <p:cNvSpPr/>
          <p:nvPr/>
        </p:nvSpPr>
        <p:spPr>
          <a:xfrm>
            <a:off x="0" y="4023360"/>
            <a:ext cx="12188952" cy="0"/>
          </a:xfrm>
          <a:prstGeom prst="line">
            <a:avLst/>
          </a:prstGeom>
          <a:noFill/>
          <a:ln w="6350">
            <a:solidFill>
              <a:srgbClr val="2A3957"/>
            </a:solidFill>
            <a:prstDash val="solid"/>
          </a:ln>
        </p:spPr>
      </p:sp>
      <p:sp>
        <p:nvSpPr>
          <p:cNvPr id="18" name="Shape 16"/>
          <p:cNvSpPr/>
          <p:nvPr/>
        </p:nvSpPr>
        <p:spPr>
          <a:xfrm>
            <a:off x="0" y="4892040"/>
            <a:ext cx="12188952" cy="0"/>
          </a:xfrm>
          <a:prstGeom prst="line">
            <a:avLst/>
          </a:prstGeom>
          <a:noFill/>
          <a:ln w="6350">
            <a:solidFill>
              <a:srgbClr val="2A3957"/>
            </a:solidFill>
            <a:prstDash val="solid"/>
          </a:ln>
        </p:spPr>
      </p:sp>
      <p:sp>
        <p:nvSpPr>
          <p:cNvPr id="19" name="Shape 17"/>
          <p:cNvSpPr/>
          <p:nvPr/>
        </p:nvSpPr>
        <p:spPr>
          <a:xfrm>
            <a:off x="0" y="5760720"/>
            <a:ext cx="12188952" cy="0"/>
          </a:xfrm>
          <a:prstGeom prst="line">
            <a:avLst/>
          </a:prstGeom>
          <a:noFill/>
          <a:ln w="6350">
            <a:solidFill>
              <a:srgbClr val="2A3957"/>
            </a:solidFill>
            <a:prstDash val="solid"/>
          </a:ln>
        </p:spPr>
      </p:sp>
      <p:sp>
        <p:nvSpPr>
          <p:cNvPr id="20" name="Shape 18"/>
          <p:cNvSpPr/>
          <p:nvPr/>
        </p:nvSpPr>
        <p:spPr>
          <a:xfrm>
            <a:off x="0" y="6629400"/>
            <a:ext cx="12188952" cy="0"/>
          </a:xfrm>
          <a:prstGeom prst="line">
            <a:avLst/>
          </a:prstGeom>
          <a:noFill/>
          <a:ln w="6350">
            <a:solidFill>
              <a:srgbClr val="2A3957"/>
            </a:solidFill>
            <a:prstDash val="solid"/>
          </a:ln>
        </p:spPr>
      </p:sp>
      <p:sp>
        <p:nvSpPr>
          <p:cNvPr id="21" name="Shape 19"/>
          <p:cNvSpPr/>
          <p:nvPr/>
        </p:nvSpPr>
        <p:spPr>
          <a:xfrm>
            <a:off x="548640" y="1417320"/>
            <a:ext cx="6035040" cy="566928"/>
          </a:xfrm>
          <a:prstGeom prst="roundRect">
            <a:avLst>
              <a:gd name="adj" fmla="val 9677"/>
            </a:avLst>
          </a:prstGeom>
          <a:solidFill>
            <a:srgbClr val="FFFFFF"/>
          </a:solidFill>
          <a:ln/>
          <a:effectLst>
            <a:outerShdw sx="100000" sy="100000" kx="0" ky="0" algn="bl" rotWithShape="0" blurRad="76200" dist="25400" dir="8100000">
              <a:srgbClr val="000000">
                <a:alpha val="12000"/>
              </a:srgbClr>
            </a:outerShdw>
          </a:effectLst>
        </p:spPr>
      </p:sp>
      <p:sp>
        <p:nvSpPr>
          <p:cNvPr id="22" name="Shape 20"/>
          <p:cNvSpPr/>
          <p:nvPr/>
        </p:nvSpPr>
        <p:spPr>
          <a:xfrm>
            <a:off x="658368" y="1536192"/>
            <a:ext cx="502920" cy="329184"/>
          </a:xfrm>
          <a:prstGeom prst="rect">
            <a:avLst/>
          </a:prstGeom>
          <a:solidFill>
            <a:srgbClr val="F1F5F9"/>
          </a:solidFill>
          <a:ln/>
        </p:spPr>
      </p:sp>
      <p:sp>
        <p:nvSpPr>
          <p:cNvPr id="23" name="Text 21"/>
          <p:cNvSpPr/>
          <p:nvPr/>
        </p:nvSpPr>
        <p:spPr>
          <a:xfrm>
            <a:off x="658368" y="1536192"/>
            <a:ext cx="502920" cy="329184"/>
          </a:xfrm>
          <a:prstGeom prst="rect">
            <a:avLst/>
          </a:prstGeom>
          <a:noFill/>
          <a:ln/>
        </p:spPr>
        <p:txBody>
          <a:bodyPr wrap="square" lIns="0" tIns="0" rIns="0" bIns="0" rtlCol="0" anchor="ctr"/>
          <a:lstStyle/>
          <a:p>
            <a:pPr algn="ctr" indent="0" marL="0">
              <a:buNone/>
            </a:pPr>
            <a:r>
              <a:rPr lang="en-US" sz="1300" i="1" dirty="0">
                <a:solidFill>
                  <a:srgbClr val="64748B"/>
                </a:solidFill>
                <a:latin typeface="Consolas" pitchFamily="34" charset="0"/>
                <a:ea typeface="Consolas" pitchFamily="34" charset="-122"/>
                <a:cs typeface="Consolas" pitchFamily="34" charset="-120"/>
              </a:rPr>
              <a:t>fx</a:t>
            </a:r>
            <a:endParaRPr lang="en-US" sz="1300" dirty="0"/>
          </a:p>
        </p:txBody>
      </p:sp>
      <p:sp>
        <p:nvSpPr>
          <p:cNvPr id="24" name="Text 22"/>
          <p:cNvSpPr/>
          <p:nvPr/>
        </p:nvSpPr>
        <p:spPr>
          <a:xfrm>
            <a:off x="1325880" y="1417320"/>
            <a:ext cx="5120640" cy="566928"/>
          </a:xfrm>
          <a:prstGeom prst="rect">
            <a:avLst/>
          </a:prstGeom>
          <a:noFill/>
          <a:ln/>
        </p:spPr>
        <p:txBody>
          <a:bodyPr wrap="square" lIns="0" tIns="0" rIns="0" bIns="0" rtlCol="0" anchor="ctr"/>
          <a:lstStyle/>
          <a:p>
            <a:pPr algn="l" indent="0" marL="0">
              <a:buNone/>
            </a:pPr>
            <a:r>
              <a:rPr lang="en-US" sz="1700" dirty="0">
                <a:solidFill>
                  <a:srgbClr val="0F172A"/>
                </a:solidFill>
                <a:latin typeface="Consolas" pitchFamily="34" charset="0"/>
                <a:ea typeface="Consolas" pitchFamily="34" charset="-122"/>
                <a:cs typeface="Consolas" pitchFamily="34" charset="-120"/>
              </a:rPr>
              <a:t>=Lambda_Library( )</a:t>
            </a:r>
            <a:endParaRPr lang="en-US" sz="1700" dirty="0"/>
          </a:p>
        </p:txBody>
      </p:sp>
      <p:sp>
        <p:nvSpPr>
          <p:cNvPr id="25" name="Text 23"/>
          <p:cNvSpPr/>
          <p:nvPr/>
        </p:nvSpPr>
        <p:spPr>
          <a:xfrm>
            <a:off x="548640" y="2377440"/>
            <a:ext cx="11091672"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Lambda Library</a:t>
            </a:r>
            <a:endParaRPr lang="en-US" sz="5400" dirty="0"/>
          </a:p>
        </p:txBody>
      </p:sp>
      <p:sp>
        <p:nvSpPr>
          <p:cNvPr id="26" name="Text 24"/>
          <p:cNvSpPr/>
          <p:nvPr/>
        </p:nvSpPr>
        <p:spPr>
          <a:xfrm>
            <a:off x="548640" y="3429000"/>
            <a:ext cx="11091672"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Multiple regression and prediction uncertainty — native in Excel</a:t>
            </a:r>
            <a:endParaRPr lang="en-US" sz="2000" dirty="0"/>
          </a:p>
        </p:txBody>
      </p:sp>
      <p:sp>
        <p:nvSpPr>
          <p:cNvPr id="27" name="Text 25"/>
          <p:cNvSpPr/>
          <p:nvPr/>
        </p:nvSpPr>
        <p:spPr>
          <a:xfrm>
            <a:off x="548640" y="6035040"/>
            <a:ext cx="11091672" cy="365760"/>
          </a:xfrm>
          <a:prstGeom prst="rect">
            <a:avLst/>
          </a:prstGeom>
          <a:noFill/>
          <a:ln/>
        </p:spPr>
        <p:txBody>
          <a:bodyPr wrap="square" lIns="0" tIns="0" rIns="0" bIns="0" rtlCol="0" anchor="ctr"/>
          <a:lstStyle/>
          <a:p>
            <a:pPr indent="0" marL="0">
              <a:buNone/>
            </a:pPr>
            <a:r>
              <a:rPr lang="en-US" sz="1300" dirty="0">
                <a:solidFill>
                  <a:srgbClr val="9FB0C9"/>
                </a:solidFill>
                <a:latin typeface="Calibri" pitchFamily="34" charset="0"/>
                <a:ea typeface="Calibri" pitchFamily="34" charset="-122"/>
                <a:cs typeface="Calibri" pitchFamily="34" charset="-120"/>
              </a:rPr>
              <a:t>[Presenter]   ·   [Venue]   ·   [Date]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93B"/>
                </a:solidFill>
                <a:latin typeface="Calibri" pitchFamily="34" charset="0"/>
                <a:ea typeface="Calibri" pitchFamily="34" charset="-122"/>
                <a:cs typeface="Calibri" pitchFamily="34" charset="-120"/>
              </a:rPr>
              <a:t>Tools come and go. 365 is here to stay.</a:t>
            </a:r>
            <a:endParaRPr lang="en-US" sz="3000" dirty="0"/>
          </a:p>
        </p:txBody>
      </p:sp>
      <p:sp>
        <p:nvSpPr>
          <p:cNvPr id="3" name="Text 1"/>
          <p:cNvSpPr/>
          <p:nvPr/>
        </p:nvSpPr>
        <p:spPr>
          <a:xfrm>
            <a:off x="548640" y="1371600"/>
            <a:ext cx="11091672" cy="1554480"/>
          </a:xfrm>
          <a:prstGeom prst="rect">
            <a:avLst/>
          </a:prstGeom>
          <a:noFill/>
          <a:ln/>
        </p:spPr>
        <p:txBody>
          <a:bodyPr wrap="square" lIns="0" tIns="0" rIns="0" bIns="0" rtlCol="0" anchor="t"/>
          <a:lstStyle/>
          <a:p>
            <a:pPr algn="l" indent="0" marL="0">
              <a:spcAft>
                <a:spcPts val="1000"/>
              </a:spcAft>
              <a:buNone/>
            </a:pPr>
            <a:r>
              <a:rPr lang="en-US" sz="1700" dirty="0">
                <a:solidFill>
                  <a:srgbClr val="334155"/>
                </a:solidFill>
                <a:latin typeface="Calibri" pitchFamily="34" charset="0"/>
                <a:ea typeface="Calibri" pitchFamily="34" charset="-122"/>
                <a:cs typeface="Calibri" pitchFamily="34" charset="-120"/>
              </a:rPr>
              <a:t>Licenses get cut. Language support comes and goes. Accreditation churns.</a:t>
            </a:r>
            <a:endParaRPr lang="en-US" sz="1700" dirty="0"/>
          </a:p>
          <a:p>
            <a:pPr algn="l" indent="0" marL="0">
              <a:spcAft>
                <a:spcPts val="1000"/>
              </a:spcAft>
              <a:buNone/>
            </a:pPr>
            <a:r>
              <a:rPr lang="en-US" sz="1700" b="1" dirty="0">
                <a:solidFill>
                  <a:srgbClr val="2C6E8F"/>
                </a:solidFill>
                <a:latin typeface="Calibri" pitchFamily="34" charset="0"/>
                <a:ea typeface="Calibri" pitchFamily="34" charset="-122"/>
                <a:cs typeface="Calibri" pitchFamily="34" charset="-120"/>
              </a:rPr>
              <a:t>365 is now standard, baseline, and stable.</a:t>
            </a:r>
            <a:endParaRPr lang="en-US" sz="1700" dirty="0"/>
          </a:p>
          <a:p>
            <a:pPr algn="l" indent="0" marL="0">
              <a:spcAft>
                <a:spcPts val="1000"/>
              </a:spcAft>
              <a:buNone/>
            </a:pPr>
            <a:r>
              <a:rPr lang="en-US" sz="1700" dirty="0">
                <a:solidFill>
                  <a:srgbClr val="334155"/>
                </a:solidFill>
                <a:latin typeface="Calibri" pitchFamily="34" charset="0"/>
                <a:ea typeface="Calibri" pitchFamily="34" charset="-122"/>
                <a:cs typeface="Calibri" pitchFamily="34" charset="-120"/>
              </a:rPr>
              <a:t>The question isn't what each tool can do — it's what we can build on the platform we'll always have.</a:t>
            </a:r>
            <a:endParaRPr lang="en-US" sz="1700" dirty="0"/>
          </a:p>
        </p:txBody>
      </p:sp>
      <p:sp>
        <p:nvSpPr>
          <p:cNvPr id="4" name="Shape 2"/>
          <p:cNvSpPr/>
          <p:nvPr/>
        </p:nvSpPr>
        <p:spPr>
          <a:xfrm>
            <a:off x="548640" y="3154680"/>
            <a:ext cx="11091672" cy="3108960"/>
          </a:xfrm>
          <a:prstGeom prst="rect">
            <a:avLst/>
          </a:prstGeom>
          <a:solidFill>
            <a:srgbClr val="F1F5F9"/>
          </a:solidFill>
          <a:ln w="12700">
            <a:solidFill>
              <a:srgbClr val="94A3B8"/>
            </a:solidFill>
            <a:prstDash val="dash"/>
          </a:ln>
        </p:spPr>
      </p:sp>
      <p:sp>
        <p:nvSpPr>
          <p:cNvPr id="5" name="Text 3"/>
          <p:cNvSpPr/>
          <p:nvPr/>
        </p:nvSpPr>
        <p:spPr>
          <a:xfrm>
            <a:off x="548640" y="3154680"/>
            <a:ext cx="11091672" cy="310896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  illustration: availability timeline — R / Python / VBA lines start then stop or fade at 'license cut' / 'support sunset' / 'macros disabled'; Excel one unbroken line; distinguish Excel 365 vs older icons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93B"/>
                </a:solidFill>
                <a:latin typeface="Calibri" pitchFamily="34" charset="0"/>
                <a:ea typeface="Calibri" pitchFamily="34" charset="-122"/>
                <a:cs typeface="Calibri" pitchFamily="34" charset="-120"/>
              </a:rPr>
              <a:t>Two things to take home — whether or not you adopt the tool</a:t>
            </a:r>
            <a:endParaRPr lang="en-US" sz="3000" dirty="0"/>
          </a:p>
        </p:txBody>
      </p:sp>
      <p:sp>
        <p:nvSpPr>
          <p:cNvPr id="3" name="Shape 1"/>
          <p:cNvSpPr/>
          <p:nvPr/>
        </p:nvSpPr>
        <p:spPr>
          <a:xfrm>
            <a:off x="548640" y="1554480"/>
            <a:ext cx="5349240" cy="3840480"/>
          </a:xfrm>
          <a:prstGeom prst="rect">
            <a:avLst/>
          </a:prstGeom>
          <a:solidFill>
            <a:srgbClr val="FFFFFF"/>
          </a:solidFill>
          <a:ln w="15875">
            <a:solidFill>
              <a:srgbClr val="E2E8F0"/>
            </a:solidFill>
            <a:prstDash val="solid"/>
          </a:ln>
          <a:effectLst>
            <a:outerShdw sx="100000" sy="100000" kx="0" ky="0" algn="bl" rotWithShape="0" blurRad="76200" dist="25400" dir="8100000">
              <a:srgbClr val="000000">
                <a:alpha val="12000"/>
              </a:srgbClr>
            </a:outerShdw>
          </a:effectLst>
        </p:spPr>
      </p:sp>
      <p:sp>
        <p:nvSpPr>
          <p:cNvPr id="4" name="Shape 2"/>
          <p:cNvSpPr/>
          <p:nvPr/>
        </p:nvSpPr>
        <p:spPr>
          <a:xfrm>
            <a:off x="548640" y="1554480"/>
            <a:ext cx="91440" cy="3840480"/>
          </a:xfrm>
          <a:prstGeom prst="rect">
            <a:avLst/>
          </a:prstGeom>
          <a:solidFill>
            <a:srgbClr val="64748B"/>
          </a:solidFill>
          <a:ln/>
        </p:spPr>
      </p:sp>
      <p:sp>
        <p:nvSpPr>
          <p:cNvPr id="5" name="Text 3"/>
          <p:cNvSpPr/>
          <p:nvPr/>
        </p:nvSpPr>
        <p:spPr>
          <a:xfrm>
            <a:off x="868680" y="1828800"/>
            <a:ext cx="4754880" cy="45720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A tool</a:t>
            </a:r>
            <a:endParaRPr lang="en-US" sz="2200" dirty="0"/>
          </a:p>
        </p:txBody>
      </p:sp>
      <p:sp>
        <p:nvSpPr>
          <p:cNvPr id="6" name="Text 4"/>
          <p:cNvSpPr/>
          <p:nvPr/>
        </p:nvSpPr>
        <p:spPr>
          <a:xfrm>
            <a:off x="868680" y="2331720"/>
            <a:ext cx="475488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one thing</a:t>
            </a:r>
            <a:endParaRPr lang="en-US" sz="1300" dirty="0"/>
          </a:p>
        </p:txBody>
      </p:sp>
      <p:sp>
        <p:nvSpPr>
          <p:cNvPr id="7" name="Text 5"/>
          <p:cNvSpPr/>
          <p:nvPr/>
        </p:nvSpPr>
        <p:spPr>
          <a:xfrm>
            <a:off x="868680" y="2834640"/>
            <a:ext cx="4754880" cy="219456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A free, auditable multiple-regression tool with prediction uncertainty — built natively in Excel 365.</a:t>
            </a:r>
            <a:endParaRPr lang="en-US" sz="1600" dirty="0"/>
          </a:p>
        </p:txBody>
      </p:sp>
      <p:sp>
        <p:nvSpPr>
          <p:cNvPr id="8" name="Shape 6"/>
          <p:cNvSpPr/>
          <p:nvPr/>
        </p:nvSpPr>
        <p:spPr>
          <a:xfrm>
            <a:off x="6153912" y="1554480"/>
            <a:ext cx="5349240" cy="3840480"/>
          </a:xfrm>
          <a:prstGeom prst="rect">
            <a:avLst/>
          </a:prstGeom>
          <a:solidFill>
            <a:srgbClr val="FFFFFF"/>
          </a:solidFill>
          <a:ln w="15875">
            <a:solidFill>
              <a:srgbClr val="E2E8F0"/>
            </a:solidFill>
            <a:prstDash val="solid"/>
          </a:ln>
          <a:effectLst>
            <a:outerShdw sx="100000" sy="100000" kx="0" ky="0" algn="bl" rotWithShape="0" blurRad="76200" dist="25400" dir="8100000">
              <a:srgbClr val="000000">
                <a:alpha val="12000"/>
              </a:srgbClr>
            </a:outerShdw>
          </a:effectLst>
        </p:spPr>
      </p:sp>
      <p:sp>
        <p:nvSpPr>
          <p:cNvPr id="9" name="Shape 7"/>
          <p:cNvSpPr/>
          <p:nvPr/>
        </p:nvSpPr>
        <p:spPr>
          <a:xfrm>
            <a:off x="6153912" y="1554480"/>
            <a:ext cx="91440" cy="3840480"/>
          </a:xfrm>
          <a:prstGeom prst="rect">
            <a:avLst/>
          </a:prstGeom>
          <a:solidFill>
            <a:srgbClr val="2C6E8F"/>
          </a:solidFill>
          <a:ln/>
        </p:spPr>
      </p:sp>
      <p:sp>
        <p:nvSpPr>
          <p:cNvPr id="10" name="Text 8"/>
          <p:cNvSpPr/>
          <p:nvPr/>
        </p:nvSpPr>
        <p:spPr>
          <a:xfrm>
            <a:off x="6473952" y="1828800"/>
            <a:ext cx="4754880" cy="45720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Techniques you keep</a:t>
            </a:r>
            <a:endParaRPr lang="en-US" sz="2200" dirty="0"/>
          </a:p>
        </p:txBody>
      </p:sp>
      <p:sp>
        <p:nvSpPr>
          <p:cNvPr id="11" name="Text 9"/>
          <p:cNvSpPr/>
          <p:nvPr/>
        </p:nvSpPr>
        <p:spPr>
          <a:xfrm>
            <a:off x="6473952" y="2331720"/>
            <a:ext cx="475488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the bigger half</a:t>
            </a:r>
            <a:endParaRPr lang="en-US" sz="1300" dirty="0"/>
          </a:p>
        </p:txBody>
      </p:sp>
      <p:sp>
        <p:nvSpPr>
          <p:cNvPr id="12" name="Text 10"/>
          <p:cNvSpPr/>
          <p:nvPr/>
        </p:nvSpPr>
        <p:spPr>
          <a:xfrm>
            <a:off x="6473952" y="2834640"/>
            <a:ext cx="4754880" cy="219456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A handful of Excel techniques that will make you faster — whether or not you ever download the tool.</a:t>
            </a:r>
            <a:endParaRPr lang="en-US" sz="1600" dirty="0"/>
          </a:p>
          <a:p>
            <a:pPr indent="0" marL="0">
              <a:buNone/>
            </a:pPr>
            <a:endParaRPr lang="en-US" sz="1600" dirty="0"/>
          </a:p>
          <a:p>
            <a:pPr indent="0" marL="0">
              <a:buNone/>
            </a:pPr>
            <a:r>
              <a:rPr lang="en-US" sz="1600" dirty="0">
                <a:solidFill>
                  <a:srgbClr val="334155"/>
                </a:solidFill>
                <a:latin typeface="Calibri" pitchFamily="34" charset="0"/>
                <a:ea typeface="Calibri" pitchFamily="34" charset="-122"/>
                <a:cs typeface="Calibri" pitchFamily="34" charset="-120"/>
              </a:rPr>
              <a:t>(Revealed in a few slides.)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93B"/>
                </a:solidFill>
                <a:latin typeface="Calibri" pitchFamily="34" charset="0"/>
                <a:ea typeface="Calibri" pitchFamily="34" charset="-122"/>
                <a:cs typeface="Calibri" pitchFamily="34" charset="-120"/>
              </a:rPr>
              <a:t>Why not just use what's out there?</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743200"/>
                <a:gridCol w="1673352"/>
                <a:gridCol w="1673352"/>
                <a:gridCol w="1673352"/>
                <a:gridCol w="1673352"/>
                <a:gridCol w="1655064"/>
              </a:tblGrid>
              <a:tr h="502920">
                <a:tc>
                  <a:txBody>
                    <a:bodyPr/>
                    <a:lstStyle/>
                    <a:p>
                      <a:pPr algn="ctr" indent="0" marL="0">
                        <a:buNone/>
                      </a:pP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Deployable here</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Power</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Dynamic</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Reproducibility</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Handoff</a:t>
                      </a:r>
                      <a:endParaRPr lang="en-US" sz="125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r>
              <a:tr h="777240">
                <a:tc>
                  <a:txBody>
                    <a:bodyPr/>
                    <a:lstStyle/>
                    <a:p>
                      <a:pPr algn="l" indent="0" marL="0">
                        <a:buNone/>
                      </a:pPr>
                      <a:r>
                        <a:rPr lang="en-US" sz="1300" b="1" dirty="0">
                          <a:solidFill>
                            <a:srgbClr val="1E293B"/>
                          </a:solidFill>
                          <a:latin typeface="Calibri" pitchFamily="34" charset="0"/>
                          <a:ea typeface="Calibri" pitchFamily="34" charset="-122"/>
                          <a:cs typeface="Calibri" pitchFamily="34" charset="-120"/>
                        </a:rPr>
                        <a:t>Analysis ToolPak</a:t>
                      </a:r>
                      <a:pPr algn="l" indent="0" marL="0">
                        <a:buNone/>
                      </a:pPr>
                      <a:endParaRPr lang="en-US" sz="1200" dirty="0">
                        <a:latin typeface="Calibri" charset="0"/>
                        <a:ea typeface="Calibri" charset="0"/>
                        <a:cs typeface="Calibri" charset="0"/>
                      </a:endParaRPr>
                    </a:p>
                    <a:p>
                      <a:pPr algn="l" indent="0" marL="0">
                        <a:buNone/>
                      </a:pPr>
                      <a:r>
                        <a:rPr lang="en-US" sz="1000" i="1" dirty="0">
                          <a:solidFill>
                            <a:srgbClr val="64748B"/>
                          </a:solidFill>
                          <a:latin typeface="Calibri" pitchFamily="34" charset="0"/>
                          <a:ea typeface="Calibri" pitchFamily="34" charset="-122"/>
                          <a:cs typeface="Calibri" pitchFamily="34" charset="-120"/>
                        </a:rPr>
                        <a:t>in Excel, but static</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2C6E8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dirty="0">
                          <a:solidFill>
                            <a:srgbClr val="64748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dirty="0">
                          <a:solidFill>
                            <a:srgbClr val="64748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77240">
                <a:tc>
                  <a:txBody>
                    <a:bodyPr/>
                    <a:lstStyle/>
                    <a:p>
                      <a:pPr algn="l" indent="0" marL="0">
                        <a:buNone/>
                      </a:pPr>
                      <a:r>
                        <a:rPr lang="en-US" sz="1300" b="1" dirty="0">
                          <a:solidFill>
                            <a:srgbClr val="1E293B"/>
                          </a:solidFill>
                          <a:latin typeface="Calibri" pitchFamily="34" charset="0"/>
                          <a:ea typeface="Calibri" pitchFamily="34" charset="-122"/>
                          <a:cs typeface="Calibri" pitchFamily="34" charset="-120"/>
                        </a:rPr>
                        <a:t>R / Python</a:t>
                      </a:r>
                      <a:pPr algn="l" indent="0" marL="0">
                        <a:buNone/>
                      </a:pPr>
                      <a:endParaRPr lang="en-US" sz="1200" dirty="0">
                        <a:latin typeface="Calibri" charset="0"/>
                        <a:ea typeface="Calibri" charset="0"/>
                        <a:cs typeface="Calibri" charset="0"/>
                      </a:endParaRPr>
                    </a:p>
                    <a:p>
                      <a:pPr algn="l" indent="0" marL="0">
                        <a:buNone/>
                      </a:pPr>
                      <a:r>
                        <a:rPr lang="en-US" sz="1000" i="1" dirty="0">
                          <a:solidFill>
                            <a:srgbClr val="64748B"/>
                          </a:solidFill>
                          <a:latin typeface="Calibri" pitchFamily="34" charset="0"/>
                          <a:ea typeface="Calibri" pitchFamily="34" charset="-122"/>
                          <a:cs typeface="Calibri" pitchFamily="34" charset="-120"/>
                        </a:rPr>
                        <a:t>(+ Quarto)</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2C6E8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dirty="0">
                          <a:solidFill>
                            <a:srgbClr val="64748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2C6E8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dirty="0">
                          <a:solidFill>
                            <a:srgbClr val="94A3B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77240">
                <a:tc>
                  <a:txBody>
                    <a:bodyPr/>
                    <a:lstStyle/>
                    <a:p>
                      <a:pPr algn="l" indent="0" marL="0">
                        <a:buNone/>
                      </a:pPr>
                      <a:r>
                        <a:rPr lang="en-US" sz="1300" b="1" dirty="0">
                          <a:solidFill>
                            <a:srgbClr val="1E293B"/>
                          </a:solidFill>
                          <a:latin typeface="Calibri" pitchFamily="34" charset="0"/>
                          <a:ea typeface="Calibri" pitchFamily="34" charset="-122"/>
                          <a:cs typeface="Calibri" pitchFamily="34" charset="-120"/>
                        </a:rPr>
                        <a:t>This library</a:t>
                      </a:r>
                      <a:pPr algn="l" indent="0" marL="0">
                        <a:buNone/>
                      </a:pPr>
                      <a:endParaRPr lang="en-US" sz="1200" dirty="0">
                        <a:latin typeface="Calibri" charset="0"/>
                        <a:ea typeface="Calibri" charset="0"/>
                        <a:cs typeface="Calibri" charset="0"/>
                      </a:endParaRPr>
                    </a:p>
                    <a:p>
                      <a:pPr algn="l" indent="0" marL="0">
                        <a:buNone/>
                      </a:pPr>
                      <a:r>
                        <a:rPr lang="en-US" sz="1000" i="1" dirty="0">
                          <a:solidFill>
                            <a:srgbClr val="64748B"/>
                          </a:solidFill>
                          <a:latin typeface="Calibri" pitchFamily="34" charset="0"/>
                          <a:ea typeface="Calibri" pitchFamily="34" charset="-122"/>
                          <a:cs typeface="Calibri" pitchFamily="34" charset="-120"/>
                        </a:rPr>
                        <a:t>Excel 365</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2C6E8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dirty="0">
                          <a:solidFill>
                            <a:srgbClr val="64748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2C6E8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dirty="0">
                          <a:solidFill>
                            <a:srgbClr val="64748B"/>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500" b="1" dirty="0">
                          <a:solidFill>
                            <a:srgbClr val="2C6E8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4" name="Text 1"/>
          <p:cNvSpPr/>
          <p:nvPr/>
        </p:nvSpPr>
        <p:spPr>
          <a:xfrm>
            <a:off x="548640" y="5074920"/>
            <a:ext cx="11091672" cy="45720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Complementary, not competing.</a:t>
            </a:r>
            <a:pPr indent="0" marL="0">
              <a:buNone/>
            </a:pPr>
            <a:r>
              <a:rPr lang="en-US" sz="1400" dirty="0">
                <a:solidFill>
                  <a:srgbClr val="334155"/>
                </a:solidFill>
                <a:latin typeface="Calibri" pitchFamily="34" charset="0"/>
                <a:ea typeface="Calibri" pitchFamily="34" charset="-122"/>
                <a:cs typeface="Calibri" pitchFamily="34" charset="-120"/>
              </a:rPr>
              <a:t>  In our environment, deployability and handoff gate the work most of the time.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93B"/>
                </a:solidFill>
                <a:latin typeface="Calibri" pitchFamily="34" charset="0"/>
                <a:ea typeface="Calibri" pitchFamily="34" charset="-122"/>
                <a:cs typeface="Calibri" pitchFamily="34" charset="-120"/>
              </a:rPr>
              <a:t>What this is</a:t>
            </a:r>
            <a:endParaRPr lang="en-US" sz="3000" dirty="0"/>
          </a:p>
        </p:txBody>
      </p:sp>
      <p:sp>
        <p:nvSpPr>
          <p:cNvPr id="3" name="Shape 1"/>
          <p:cNvSpPr/>
          <p:nvPr/>
        </p:nvSpPr>
        <p:spPr>
          <a:xfrm>
            <a:off x="548640" y="1234440"/>
            <a:ext cx="11091672" cy="914400"/>
          </a:xfrm>
          <a:prstGeom prst="roundRect">
            <a:avLst>
              <a:gd name="adj" fmla="val 6000"/>
            </a:avLst>
          </a:prstGeom>
          <a:solidFill>
            <a:srgbClr val="2C6E8F"/>
          </a:solidFill>
          <a:ln/>
          <a:effectLst>
            <a:outerShdw sx="100000" sy="100000" kx="0" ky="0" algn="bl" rotWithShape="0" blurRad="76200" dist="25400" dir="8100000">
              <a:srgbClr val="000000">
                <a:alpha val="12000"/>
              </a:srgbClr>
            </a:outerShdw>
          </a:effectLst>
        </p:spPr>
      </p:sp>
      <p:sp>
        <p:nvSpPr>
          <p:cNvPr id="4" name="Text 2"/>
          <p:cNvSpPr/>
          <p:nvPr/>
        </p:nvSpPr>
        <p:spPr>
          <a:xfrm>
            <a:off x="822960" y="1234440"/>
            <a:ext cx="10543032" cy="9144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No macros. No add-ins. Nothing to accredit — real programmability in the platform you already have.</a:t>
            </a:r>
            <a:endParaRPr lang="en-US" sz="1800" dirty="0"/>
          </a:p>
        </p:txBody>
      </p:sp>
      <p:sp>
        <p:nvSpPr>
          <p:cNvPr id="5" name="Shape 3"/>
          <p:cNvSpPr/>
          <p:nvPr/>
        </p:nvSpPr>
        <p:spPr>
          <a:xfrm>
            <a:off x="548640" y="2377440"/>
            <a:ext cx="5349240" cy="1600200"/>
          </a:xfrm>
          <a:prstGeom prst="rect">
            <a:avLst/>
          </a:prstGeom>
          <a:solidFill>
            <a:srgbClr val="FFFFFF"/>
          </a:solidFill>
          <a:ln w="22225">
            <a:solidFill>
              <a:srgbClr val="2C6E8F"/>
            </a:solidFill>
            <a:prstDash val="solid"/>
          </a:ln>
          <a:effectLst>
            <a:outerShdw sx="100000" sy="100000" kx="0" ky="0" algn="bl" rotWithShape="0" blurRad="76200" dist="25400" dir="8100000">
              <a:srgbClr val="000000">
                <a:alpha val="12000"/>
              </a:srgbClr>
            </a:outerShdw>
          </a:effectLst>
        </p:spPr>
      </p:sp>
      <p:sp>
        <p:nvSpPr>
          <p:cNvPr id="6" name="Text 4"/>
          <p:cNvSpPr/>
          <p:nvPr/>
        </p:nvSpPr>
        <p:spPr>
          <a:xfrm>
            <a:off x="822960" y="2542032"/>
            <a:ext cx="4800600" cy="457200"/>
          </a:xfrm>
          <a:prstGeom prst="rect">
            <a:avLst/>
          </a:prstGeom>
          <a:noFill/>
          <a:ln/>
        </p:spPr>
        <p:txBody>
          <a:bodyPr wrap="square" lIns="0" tIns="0" rIns="0" bIns="0" rtlCol="0" anchor="ctr"/>
          <a:lstStyle/>
          <a:p>
            <a:pPr indent="0" marL="0">
              <a:buNone/>
            </a:pPr>
            <a:r>
              <a:rPr lang="en-US" sz="1600" b="1" dirty="0">
                <a:solidFill>
                  <a:srgbClr val="2C6E8F"/>
                </a:solidFill>
                <a:latin typeface="Calibri" pitchFamily="34" charset="0"/>
                <a:ea typeface="Calibri" pitchFamily="34" charset="-122"/>
                <a:cs typeface="Calibri" pitchFamily="34" charset="-120"/>
              </a:rPr>
              <a:t>1 · Native, nothing to procure</a:t>
            </a:r>
            <a:endParaRPr lang="en-US" sz="1600" dirty="0"/>
          </a:p>
        </p:txBody>
      </p:sp>
      <p:sp>
        <p:nvSpPr>
          <p:cNvPr id="7" name="Text 5"/>
          <p:cNvSpPr/>
          <p:nvPr/>
        </p:nvSpPr>
        <p:spPr>
          <a:xfrm>
            <a:off x="822960" y="2999232"/>
            <a:ext cx="4800600" cy="8686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Pure 365 formulas. No add-in, interpreter, license, or macros — programmability without the hurdles a secure environment blocks.</a:t>
            </a:r>
            <a:endParaRPr lang="en-US" sz="1300" dirty="0"/>
          </a:p>
        </p:txBody>
      </p:sp>
      <p:sp>
        <p:nvSpPr>
          <p:cNvPr id="8" name="Shape 6"/>
          <p:cNvSpPr/>
          <p:nvPr/>
        </p:nvSpPr>
        <p:spPr>
          <a:xfrm>
            <a:off x="6153912" y="2377440"/>
            <a:ext cx="5349240" cy="1600200"/>
          </a:xfrm>
          <a:prstGeom prst="rect">
            <a:avLst/>
          </a:prstGeom>
          <a:solidFill>
            <a:srgbClr val="FFFFFF"/>
          </a:solidFill>
          <a:ln w="22225">
            <a:solidFill>
              <a:srgbClr val="2C6E8F"/>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6428232" y="2542032"/>
            <a:ext cx="4800600" cy="457200"/>
          </a:xfrm>
          <a:prstGeom prst="rect">
            <a:avLst/>
          </a:prstGeom>
          <a:noFill/>
          <a:ln/>
        </p:spPr>
        <p:txBody>
          <a:bodyPr wrap="square" lIns="0" tIns="0" rIns="0" bIns="0" rtlCol="0" anchor="ctr"/>
          <a:lstStyle/>
          <a:p>
            <a:pPr indent="0" marL="0">
              <a:buNone/>
            </a:pPr>
            <a:r>
              <a:rPr lang="en-US" sz="1600" b="1" dirty="0">
                <a:solidFill>
                  <a:srgbClr val="2C6E8F"/>
                </a:solidFill>
                <a:latin typeface="Calibri" pitchFamily="34" charset="0"/>
                <a:ea typeface="Calibri" pitchFamily="34" charset="-122"/>
                <a:cs typeface="Calibri" pitchFamily="34" charset="-120"/>
              </a:rPr>
              <a:t>4 · Uncertainty-ready</a:t>
            </a:r>
            <a:endParaRPr lang="en-US" sz="1600" dirty="0"/>
          </a:p>
        </p:txBody>
      </p:sp>
      <p:sp>
        <p:nvSpPr>
          <p:cNvPr id="10" name="Text 8"/>
          <p:cNvSpPr/>
          <p:nvPr/>
        </p:nvSpPr>
        <p:spPr>
          <a:xfrm>
            <a:off x="6428232" y="2999232"/>
            <a:ext cx="4800600" cy="8686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 point estimate and a predictive standard error — a samplable distribution, ready for Monte Carlo cost-risk.</a:t>
            </a:r>
            <a:endParaRPr lang="en-US" sz="1300" dirty="0"/>
          </a:p>
        </p:txBody>
      </p:sp>
      <p:sp>
        <p:nvSpPr>
          <p:cNvPr id="11" name="Shape 9"/>
          <p:cNvSpPr/>
          <p:nvPr/>
        </p:nvSpPr>
        <p:spPr>
          <a:xfrm>
            <a:off x="548640" y="4114800"/>
            <a:ext cx="5349240" cy="1600200"/>
          </a:xfrm>
          <a:prstGeom prst="rect">
            <a:avLst/>
          </a:prstGeom>
          <a:solidFill>
            <a:srgbClr val="F1F5F9"/>
          </a:solidFill>
          <a:ln w="12700">
            <a:solidFill>
              <a:srgbClr val="E2E8F0"/>
            </a:solidFill>
            <a:prstDash val="solid"/>
          </a:ln>
        </p:spPr>
      </p:sp>
      <p:sp>
        <p:nvSpPr>
          <p:cNvPr id="12" name="Text 10"/>
          <p:cNvSpPr/>
          <p:nvPr/>
        </p:nvSpPr>
        <p:spPr>
          <a:xfrm>
            <a:off x="822960" y="4279392"/>
            <a:ext cx="4800600" cy="45720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2 · Transparent &amp; self-documenting</a:t>
            </a:r>
            <a:endParaRPr lang="en-US" sz="1600" dirty="0"/>
          </a:p>
        </p:txBody>
      </p:sp>
      <p:sp>
        <p:nvSpPr>
          <p:cNvPr id="13" name="Text 11"/>
          <p:cNvSpPr/>
          <p:nvPr/>
        </p:nvSpPr>
        <p:spPr>
          <a:xfrm>
            <a:off x="822960" y="4736592"/>
            <a:ext cx="4800600" cy="8686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Every statistic is a visible formula with a plain-language definition in the workbook.</a:t>
            </a:r>
            <a:endParaRPr lang="en-US" sz="1300" dirty="0"/>
          </a:p>
        </p:txBody>
      </p:sp>
      <p:sp>
        <p:nvSpPr>
          <p:cNvPr id="14" name="Shape 12"/>
          <p:cNvSpPr/>
          <p:nvPr/>
        </p:nvSpPr>
        <p:spPr>
          <a:xfrm>
            <a:off x="6153912" y="4114800"/>
            <a:ext cx="5349240" cy="1600200"/>
          </a:xfrm>
          <a:prstGeom prst="rect">
            <a:avLst/>
          </a:prstGeom>
          <a:solidFill>
            <a:srgbClr val="F1F5F9"/>
          </a:solidFill>
          <a:ln w="12700">
            <a:solidFill>
              <a:srgbClr val="E2E8F0"/>
            </a:solidFill>
            <a:prstDash val="solid"/>
          </a:ln>
        </p:spPr>
      </p:sp>
      <p:sp>
        <p:nvSpPr>
          <p:cNvPr id="15" name="Text 13"/>
          <p:cNvSpPr/>
          <p:nvPr/>
        </p:nvSpPr>
        <p:spPr>
          <a:xfrm>
            <a:off x="6428232" y="4279392"/>
            <a:ext cx="4800600" cy="45720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3 · Live</a:t>
            </a:r>
            <a:endParaRPr lang="en-US" sz="1600" dirty="0"/>
          </a:p>
        </p:txBody>
      </p:sp>
      <p:sp>
        <p:nvSpPr>
          <p:cNvPr id="16" name="Text 14"/>
          <p:cNvSpPr/>
          <p:nvPr/>
        </p:nvSpPr>
        <p:spPr>
          <a:xfrm>
            <a:off x="6428232" y="4736592"/>
            <a:ext cx="4800600" cy="8686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Recalculates the instant any input changes.</a:t>
            </a:r>
            <a:endParaRPr lang="en-US" sz="1300" dirty="0"/>
          </a:p>
        </p:txBody>
      </p:sp>
      <p:sp>
        <p:nvSpPr>
          <p:cNvPr id="17" name="Shape 15"/>
          <p:cNvSpPr/>
          <p:nvPr/>
        </p:nvSpPr>
        <p:spPr>
          <a:xfrm>
            <a:off x="8869680" y="457200"/>
            <a:ext cx="2770632" cy="566928"/>
          </a:xfrm>
          <a:prstGeom prst="rect">
            <a:avLst/>
          </a:prstGeom>
          <a:solidFill>
            <a:srgbClr val="F1F5F9"/>
          </a:solidFill>
          <a:ln w="12700">
            <a:solidFill>
              <a:srgbClr val="94A3B8"/>
            </a:solidFill>
            <a:prstDash val="dash"/>
          </a:ln>
        </p:spPr>
      </p:sp>
      <p:sp>
        <p:nvSpPr>
          <p:cNvPr id="18" name="Text 16"/>
          <p:cNvSpPr/>
          <p:nvPr/>
        </p:nvSpPr>
        <p:spPr>
          <a:xfrm>
            <a:off x="8869680" y="457200"/>
            <a:ext cx="2770632" cy="566928"/>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  tight crop: formula bar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93B"/>
                </a:solidFill>
                <a:latin typeface="Calibri" pitchFamily="34" charset="0"/>
                <a:ea typeface="Calibri" pitchFamily="34" charset="-122"/>
                <a:cs typeface="Calibri" pitchFamily="34" charset="-120"/>
              </a:rPr>
              <a:t>Modern Excel: two pillars you're probably underusing</a:t>
            </a:r>
            <a:endParaRPr lang="en-US" sz="3000" dirty="0"/>
          </a:p>
        </p:txBody>
      </p:sp>
      <p:sp>
        <p:nvSpPr>
          <p:cNvPr id="3" name="Shape 1"/>
          <p:cNvSpPr/>
          <p:nvPr/>
        </p:nvSpPr>
        <p:spPr>
          <a:xfrm>
            <a:off x="548640" y="1554480"/>
            <a:ext cx="5349240" cy="3108960"/>
          </a:xfrm>
          <a:prstGeom prst="rect">
            <a:avLst/>
          </a:prstGeom>
          <a:solidFill>
            <a:srgbClr val="FFFFFF"/>
          </a:solidFill>
          <a:ln w="15875">
            <a:solidFill>
              <a:srgbClr val="E2E8F0"/>
            </a:solidFill>
            <a:prstDash val="solid"/>
          </a:ln>
          <a:effectLst>
            <a:outerShdw sx="100000" sy="100000" kx="0" ky="0" algn="bl" rotWithShape="0" blurRad="76200" dist="25400" dir="8100000">
              <a:srgbClr val="000000">
                <a:alpha val="12000"/>
              </a:srgbClr>
            </a:outerShdw>
          </a:effectLst>
        </p:spPr>
      </p:sp>
      <p:sp>
        <p:nvSpPr>
          <p:cNvPr id="4" name="Text 2"/>
          <p:cNvSpPr/>
          <p:nvPr/>
        </p:nvSpPr>
        <p:spPr>
          <a:xfrm>
            <a:off x="868680" y="1828800"/>
            <a:ext cx="4754880" cy="457200"/>
          </a:xfrm>
          <a:prstGeom prst="rect">
            <a:avLst/>
          </a:prstGeom>
          <a:noFill/>
          <a:ln/>
        </p:spPr>
        <p:txBody>
          <a:bodyPr wrap="square" lIns="0" tIns="0" rIns="0" bIns="0"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Tables &amp; structured references</a:t>
            </a:r>
            <a:endParaRPr lang="en-US" sz="1900" dirty="0"/>
          </a:p>
        </p:txBody>
      </p:sp>
      <p:sp>
        <p:nvSpPr>
          <p:cNvPr id="5" name="Text 3"/>
          <p:cNvSpPr/>
          <p:nvPr/>
        </p:nvSpPr>
        <p:spPr>
          <a:xfrm>
            <a:off x="868680" y="2377440"/>
            <a:ext cx="4754880" cy="11887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Formulas that read like English and survive row inserts.</a:t>
            </a:r>
            <a:endParaRPr lang="en-US" sz="1500" dirty="0"/>
          </a:p>
        </p:txBody>
      </p:sp>
      <p:sp>
        <p:nvSpPr>
          <p:cNvPr id="6" name="Shape 4"/>
          <p:cNvSpPr/>
          <p:nvPr/>
        </p:nvSpPr>
        <p:spPr>
          <a:xfrm>
            <a:off x="868680" y="3840480"/>
            <a:ext cx="4709160" cy="548640"/>
          </a:xfrm>
          <a:prstGeom prst="roundRect">
            <a:avLst>
              <a:gd name="adj" fmla="val 8333"/>
            </a:avLst>
          </a:prstGeom>
          <a:solidFill>
            <a:srgbClr val="F1F5F9"/>
          </a:solidFill>
          <a:ln/>
        </p:spPr>
      </p:sp>
      <p:sp>
        <p:nvSpPr>
          <p:cNvPr id="7" name="Text 5"/>
          <p:cNvSpPr/>
          <p:nvPr/>
        </p:nvSpPr>
        <p:spPr>
          <a:xfrm>
            <a:off x="960120" y="3840480"/>
            <a:ext cx="4526280" cy="548640"/>
          </a:xfrm>
          <a:prstGeom prst="rect">
            <a:avLst/>
          </a:prstGeom>
          <a:noFill/>
          <a:ln/>
        </p:spPr>
        <p:txBody>
          <a:bodyPr wrap="square" lIns="0" tIns="0" rIns="0" bIns="0" rtlCol="0" anchor="ctr"/>
          <a:lstStyle/>
          <a:p>
            <a:pPr algn="l" indent="0" marL="0">
              <a:buNone/>
            </a:pPr>
            <a:r>
              <a:rPr lang="en-US" sz="1300" dirty="0">
                <a:solidFill>
                  <a:srgbClr val="0F172A"/>
                </a:solidFill>
                <a:latin typeface="Consolas" pitchFamily="34" charset="0"/>
                <a:ea typeface="Consolas" pitchFamily="34" charset="-122"/>
                <a:cs typeface="Consolas" pitchFamily="34" charset="-120"/>
              </a:rPr>
              <a:t>=Table[Sales]</a:t>
            </a:r>
            <a:endParaRPr lang="en-US" sz="1300" dirty="0"/>
          </a:p>
        </p:txBody>
      </p:sp>
      <p:sp>
        <p:nvSpPr>
          <p:cNvPr id="8" name="Shape 6"/>
          <p:cNvSpPr/>
          <p:nvPr/>
        </p:nvSpPr>
        <p:spPr>
          <a:xfrm>
            <a:off x="6153912" y="1554480"/>
            <a:ext cx="5349240" cy="3108960"/>
          </a:xfrm>
          <a:prstGeom prst="rect">
            <a:avLst/>
          </a:prstGeom>
          <a:solidFill>
            <a:srgbClr val="FFFFFF"/>
          </a:solidFill>
          <a:ln w="15875">
            <a:solidFill>
              <a:srgbClr val="E2E8F0"/>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6473952" y="1828800"/>
            <a:ext cx="4754880" cy="457200"/>
          </a:xfrm>
          <a:prstGeom prst="rect">
            <a:avLst/>
          </a:prstGeom>
          <a:noFill/>
          <a:ln/>
        </p:spPr>
        <p:txBody>
          <a:bodyPr wrap="square" lIns="0" tIns="0" rIns="0" bIns="0"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Dynamic arrays &amp; spill</a:t>
            </a:r>
            <a:endParaRPr lang="en-US" sz="1900" dirty="0"/>
          </a:p>
        </p:txBody>
      </p:sp>
      <p:sp>
        <p:nvSpPr>
          <p:cNvPr id="10" name="Text 8"/>
          <p:cNvSpPr/>
          <p:nvPr/>
        </p:nvSpPr>
        <p:spPr>
          <a:xfrm>
            <a:off x="6473952" y="2377440"/>
            <a:ext cx="4754880" cy="11887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One formula fills a range; grab the whole result with one #.</a:t>
            </a:r>
            <a:endParaRPr lang="en-US" sz="1500" dirty="0"/>
          </a:p>
        </p:txBody>
      </p:sp>
      <p:sp>
        <p:nvSpPr>
          <p:cNvPr id="11" name="Shape 9"/>
          <p:cNvSpPr/>
          <p:nvPr/>
        </p:nvSpPr>
        <p:spPr>
          <a:xfrm>
            <a:off x="6473952" y="3840480"/>
            <a:ext cx="4709160" cy="548640"/>
          </a:xfrm>
          <a:prstGeom prst="roundRect">
            <a:avLst>
              <a:gd name="adj" fmla="val 8333"/>
            </a:avLst>
          </a:prstGeom>
          <a:solidFill>
            <a:srgbClr val="F1F5F9"/>
          </a:solidFill>
          <a:ln/>
        </p:spPr>
      </p:sp>
      <p:sp>
        <p:nvSpPr>
          <p:cNvPr id="12" name="Text 10"/>
          <p:cNvSpPr/>
          <p:nvPr/>
        </p:nvSpPr>
        <p:spPr>
          <a:xfrm>
            <a:off x="6565392" y="3840480"/>
            <a:ext cx="4526280" cy="548640"/>
          </a:xfrm>
          <a:prstGeom prst="rect">
            <a:avLst/>
          </a:prstGeom>
          <a:noFill/>
          <a:ln/>
        </p:spPr>
        <p:txBody>
          <a:bodyPr wrap="square" lIns="0" tIns="0" rIns="0" bIns="0" rtlCol="0" anchor="ctr"/>
          <a:lstStyle/>
          <a:p>
            <a:pPr algn="l" indent="0" marL="0">
              <a:buNone/>
            </a:pPr>
            <a:r>
              <a:rPr lang="en-US" sz="1300" dirty="0">
                <a:solidFill>
                  <a:srgbClr val="0F172A"/>
                </a:solidFill>
                <a:latin typeface="Consolas" pitchFamily="34" charset="0"/>
                <a:ea typeface="Consolas" pitchFamily="34" charset="-122"/>
                <a:cs typeface="Consolas" pitchFamily="34" charset="-120"/>
              </a:rPr>
              <a:t>=SEQUENCE(5)   →   A1#</a:t>
            </a:r>
            <a:endParaRPr lang="en-US" sz="1300" dirty="0"/>
          </a:p>
        </p:txBody>
      </p:sp>
      <p:sp>
        <p:nvSpPr>
          <p:cNvPr id="13" name="Text 11"/>
          <p:cNvSpPr/>
          <p:nvPr/>
        </p:nvSpPr>
        <p:spPr>
          <a:xfrm>
            <a:off x="548640" y="4983480"/>
            <a:ext cx="11091672" cy="365760"/>
          </a:xfrm>
          <a:prstGeom prst="rect">
            <a:avLst/>
          </a:prstGeom>
          <a:noFill/>
          <a:ln/>
        </p:spPr>
        <p:txBody>
          <a:bodyPr wrap="square" lIns="0" tIns="0" rIns="0" bIns="0" rtlCol="0" anchor="ctr"/>
          <a:lstStyle/>
          <a:p>
            <a:pPr indent="0" marL="0">
              <a:buNone/>
            </a:pPr>
            <a:r>
              <a:rPr lang="en-US" sz="1400" i="1" dirty="0">
                <a:solidFill>
                  <a:srgbClr val="2C6E8F"/>
                </a:solidFill>
                <a:latin typeface="Calibri" pitchFamily="34" charset="0"/>
                <a:ea typeface="Calibri" pitchFamily="34" charset="-122"/>
                <a:cs typeface="Calibri" pitchFamily="34" charset="-120"/>
              </a:rPr>
              <a:t>Watch for these in the live demo.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93B"/>
                </a:solidFill>
                <a:latin typeface="Calibri" pitchFamily="34" charset="0"/>
                <a:ea typeface="Calibri" pitchFamily="34" charset="-122"/>
                <a:cs typeface="Calibri" pitchFamily="34" charset="-120"/>
              </a:rPr>
              <a:t>LET → LAMBDA: programmability, no macros</a:t>
            </a:r>
            <a:endParaRPr lang="en-US" sz="3000" dirty="0"/>
          </a:p>
        </p:txBody>
      </p:sp>
      <p:sp>
        <p:nvSpPr>
          <p:cNvPr id="3" name="Text 1"/>
          <p:cNvSpPr/>
          <p:nvPr/>
        </p:nvSpPr>
        <p:spPr>
          <a:xfrm>
            <a:off x="548640" y="1234440"/>
            <a:ext cx="11091672" cy="36576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Three steps — a formula becomes a reusable, named function:</a:t>
            </a:r>
            <a:endParaRPr lang="en-US" sz="1400" dirty="0"/>
          </a:p>
        </p:txBody>
      </p:sp>
      <p:sp>
        <p:nvSpPr>
          <p:cNvPr id="4" name="Shape 2"/>
          <p:cNvSpPr/>
          <p:nvPr/>
        </p:nvSpPr>
        <p:spPr>
          <a:xfrm>
            <a:off x="548640" y="1691640"/>
            <a:ext cx="6035040" cy="502920"/>
          </a:xfrm>
          <a:prstGeom prst="roundRect">
            <a:avLst>
              <a:gd name="adj" fmla="val 9091"/>
            </a:avLst>
          </a:prstGeom>
          <a:solidFill>
            <a:srgbClr val="F1F5F9"/>
          </a:solidFill>
          <a:ln/>
        </p:spPr>
      </p:sp>
      <p:sp>
        <p:nvSpPr>
          <p:cNvPr id="5" name="Text 3"/>
          <p:cNvSpPr/>
          <p:nvPr/>
        </p:nvSpPr>
        <p:spPr>
          <a:xfrm>
            <a:off x="640080" y="1691640"/>
            <a:ext cx="5852160" cy="502920"/>
          </a:xfrm>
          <a:prstGeom prst="rect">
            <a:avLst/>
          </a:prstGeom>
          <a:noFill/>
          <a:ln/>
        </p:spPr>
        <p:txBody>
          <a:bodyPr wrap="square" lIns="0" tIns="0" rIns="0" bIns="0" rtlCol="0" anchor="ctr"/>
          <a:lstStyle/>
          <a:p>
            <a:pPr algn="l" indent="0" marL="0">
              <a:buNone/>
            </a:pPr>
            <a:r>
              <a:rPr lang="en-US" sz="1300" dirty="0">
                <a:solidFill>
                  <a:srgbClr val="0F172A"/>
                </a:solidFill>
                <a:latin typeface="Consolas" pitchFamily="34" charset="0"/>
                <a:ea typeface="Consolas" pitchFamily="34" charset="-122"/>
                <a:cs typeface="Consolas" pitchFamily="34" charset="-120"/>
              </a:rPr>
              <a:t>1   =(value - mean) / sd</a:t>
            </a:r>
            <a:endParaRPr lang="en-US" sz="1300" dirty="0"/>
          </a:p>
        </p:txBody>
      </p:sp>
      <p:sp>
        <p:nvSpPr>
          <p:cNvPr id="6" name="Shape 4"/>
          <p:cNvSpPr/>
          <p:nvPr/>
        </p:nvSpPr>
        <p:spPr>
          <a:xfrm>
            <a:off x="548640" y="2286000"/>
            <a:ext cx="6035040" cy="502920"/>
          </a:xfrm>
          <a:prstGeom prst="roundRect">
            <a:avLst>
              <a:gd name="adj" fmla="val 9091"/>
            </a:avLst>
          </a:prstGeom>
          <a:solidFill>
            <a:srgbClr val="F1F5F9"/>
          </a:solidFill>
          <a:ln/>
        </p:spPr>
      </p:sp>
      <p:sp>
        <p:nvSpPr>
          <p:cNvPr id="7" name="Text 5"/>
          <p:cNvSpPr/>
          <p:nvPr/>
        </p:nvSpPr>
        <p:spPr>
          <a:xfrm>
            <a:off x="640080" y="2286000"/>
            <a:ext cx="5852160" cy="502920"/>
          </a:xfrm>
          <a:prstGeom prst="rect">
            <a:avLst/>
          </a:prstGeom>
          <a:noFill/>
          <a:ln/>
        </p:spPr>
        <p:txBody>
          <a:bodyPr wrap="square" lIns="0" tIns="0" rIns="0" bIns="0" rtlCol="0" anchor="ctr"/>
          <a:lstStyle/>
          <a:p>
            <a:pPr algn="l" indent="0" marL="0">
              <a:buNone/>
            </a:pPr>
            <a:r>
              <a:rPr lang="en-US" sz="1300" dirty="0">
                <a:solidFill>
                  <a:srgbClr val="0F172A"/>
                </a:solidFill>
                <a:latin typeface="Consolas" pitchFamily="34" charset="0"/>
                <a:ea typeface="Consolas" pitchFamily="34" charset="-122"/>
                <a:cs typeface="Consolas" pitchFamily="34" charset="-120"/>
              </a:rPr>
              <a:t>2   =LET(z, (value-mean)/sd, z)</a:t>
            </a:r>
            <a:endParaRPr lang="en-US" sz="1300" dirty="0"/>
          </a:p>
        </p:txBody>
      </p:sp>
      <p:sp>
        <p:nvSpPr>
          <p:cNvPr id="8" name="Shape 6"/>
          <p:cNvSpPr/>
          <p:nvPr/>
        </p:nvSpPr>
        <p:spPr>
          <a:xfrm>
            <a:off x="548640" y="2880360"/>
            <a:ext cx="6035040" cy="502920"/>
          </a:xfrm>
          <a:prstGeom prst="roundRect">
            <a:avLst>
              <a:gd name="adj" fmla="val 9091"/>
            </a:avLst>
          </a:prstGeom>
          <a:solidFill>
            <a:srgbClr val="F1F5F9"/>
          </a:solidFill>
          <a:ln/>
        </p:spPr>
      </p:sp>
      <p:sp>
        <p:nvSpPr>
          <p:cNvPr id="9" name="Text 7"/>
          <p:cNvSpPr/>
          <p:nvPr/>
        </p:nvSpPr>
        <p:spPr>
          <a:xfrm>
            <a:off x="640080" y="2880360"/>
            <a:ext cx="5852160" cy="502920"/>
          </a:xfrm>
          <a:prstGeom prst="rect">
            <a:avLst/>
          </a:prstGeom>
          <a:noFill/>
          <a:ln/>
        </p:spPr>
        <p:txBody>
          <a:bodyPr wrap="square" lIns="0" tIns="0" rIns="0" bIns="0" rtlCol="0" anchor="ctr"/>
          <a:lstStyle/>
          <a:p>
            <a:pPr algn="l" indent="0" marL="0">
              <a:buNone/>
            </a:pPr>
            <a:r>
              <a:rPr lang="en-US" sz="1200" dirty="0">
                <a:solidFill>
                  <a:srgbClr val="0F172A"/>
                </a:solidFill>
                <a:latin typeface="Consolas" pitchFamily="34" charset="0"/>
                <a:ea typeface="Consolas" pitchFamily="34" charset="-122"/>
                <a:cs typeface="Consolas" pitchFamily="34" charset="-120"/>
              </a:rPr>
              <a:t>3   =LAMBDA(x, x^2)   →  name it SQ  →  =SQ(5) = 25</a:t>
            </a:r>
            <a:endParaRPr lang="en-US" sz="1200" dirty="0"/>
          </a:p>
        </p:txBody>
      </p:sp>
      <p:sp>
        <p:nvSpPr>
          <p:cNvPr id="10" name="Text 8"/>
          <p:cNvSpPr/>
          <p:nvPr/>
        </p:nvSpPr>
        <p:spPr>
          <a:xfrm>
            <a:off x="548640" y="3657600"/>
            <a:ext cx="6035040" cy="548640"/>
          </a:xfrm>
          <a:prstGeom prst="rect">
            <a:avLst/>
          </a:prstGeom>
          <a:noFill/>
          <a:ln/>
        </p:spPr>
        <p:txBody>
          <a:bodyPr wrap="square" lIns="0" tIns="0" rIns="0" bIns="0" rtlCol="0" anchor="t"/>
          <a:lstStyle/>
          <a:p>
            <a:pPr indent="0" marL="0">
              <a:buNone/>
            </a:pPr>
            <a:r>
              <a:rPr lang="en-US" sz="1400" b="1" dirty="0">
                <a:solidFill>
                  <a:srgbClr val="1E293B"/>
                </a:solidFill>
                <a:latin typeface="Calibri" pitchFamily="34" charset="0"/>
                <a:ea typeface="Calibri" pitchFamily="34" charset="-122"/>
                <a:cs typeface="Calibri" pitchFamily="34" charset="-120"/>
              </a:rPr>
              <a:t>~50 of these, and they compose</a:t>
            </a:r>
            <a:pPr indent="0" marL="0">
              <a:buNone/>
            </a:pPr>
            <a:r>
              <a:rPr lang="en-US" sz="1400" dirty="0">
                <a:solidFill>
                  <a:srgbClr val="334155"/>
                </a:solidFill>
                <a:latin typeface="Calibri" pitchFamily="34" charset="0"/>
                <a:ea typeface="Calibri" pitchFamily="34" charset="-122"/>
                <a:cs typeface="Calibri" pitchFamily="34" charset="-120"/>
              </a:rPr>
              <a:t> — bigger functions built from smaller ones.</a:t>
            </a:r>
            <a:endParaRPr lang="en-US" sz="1400" dirty="0"/>
          </a:p>
        </p:txBody>
      </p:sp>
      <p:sp>
        <p:nvSpPr>
          <p:cNvPr id="11" name="Shape 9"/>
          <p:cNvSpPr/>
          <p:nvPr/>
        </p:nvSpPr>
        <p:spPr>
          <a:xfrm>
            <a:off x="6949440" y="1691640"/>
            <a:ext cx="4690872" cy="2743200"/>
          </a:xfrm>
          <a:prstGeom prst="rect">
            <a:avLst/>
          </a:prstGeom>
          <a:solidFill>
            <a:srgbClr val="F1F5F9"/>
          </a:solidFill>
          <a:ln w="12700">
            <a:solidFill>
              <a:srgbClr val="94A3B8"/>
            </a:solidFill>
            <a:prstDash val="dash"/>
          </a:ln>
        </p:spPr>
      </p:sp>
      <p:sp>
        <p:nvSpPr>
          <p:cNvPr id="12" name="Text 10"/>
          <p:cNvSpPr/>
          <p:nvPr/>
        </p:nvSpPr>
        <p:spPr>
          <a:xfrm>
            <a:off x="6949440" y="1691640"/>
            <a:ext cx="4690872" cy="274320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  money shot: formula autocomplete dropdown — Coefficients / R_squared / PRESS listed right alongside SUM and AVERAGE</a:t>
            </a:r>
            <a:endParaRPr lang="en-US" sz="1100" dirty="0"/>
          </a:p>
        </p:txBody>
      </p:sp>
      <p:sp>
        <p:nvSpPr>
          <p:cNvPr id="13" name="Shape 11"/>
          <p:cNvSpPr/>
          <p:nvPr/>
        </p:nvSpPr>
        <p:spPr>
          <a:xfrm>
            <a:off x="548640" y="4617720"/>
            <a:ext cx="3657600" cy="502920"/>
          </a:xfrm>
          <a:prstGeom prst="roundRect">
            <a:avLst>
              <a:gd name="adj" fmla="val 14545"/>
            </a:avLst>
          </a:prstGeom>
          <a:solidFill>
            <a:srgbClr val="1F2A44"/>
          </a:solidFill>
          <a:ln/>
        </p:spPr>
      </p:sp>
      <p:sp>
        <p:nvSpPr>
          <p:cNvPr id="14" name="Text 12"/>
          <p:cNvSpPr/>
          <p:nvPr/>
        </p:nvSpPr>
        <p:spPr>
          <a:xfrm>
            <a:off x="548640" y="4617720"/>
            <a:ext cx="36576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All formulas — zero macros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93B"/>
                </a:solidFill>
                <a:latin typeface="Calibri" pitchFamily="34" charset="0"/>
                <a:ea typeface="Calibri" pitchFamily="34" charset="-122"/>
                <a:cs typeface="Calibri" pitchFamily="34" charset="-120"/>
              </a:rPr>
              <a:t>We don't ask you to trust us — we match the tools you already trust</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772400" cy="914400"/>
        </p:xfrm>
        <a:graphic>
          <a:graphicData uri="http://schemas.openxmlformats.org/drawingml/2006/table">
            <a:tbl>
              <a:tblPr/>
              <a:tblGrid>
                <a:gridCol w="2377440"/>
                <a:gridCol w="1801368"/>
                <a:gridCol w="1801368"/>
                <a:gridCol w="1792224"/>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Statistic</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This library</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Analysis ToolPak</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statsmodels</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F2A44"/>
                    </a:solidFill>
                  </a:tcPr>
                </a:tc>
              </a:tr>
              <a:tr h="457200">
                <a:tc>
                  <a:txBody>
                    <a:bodyPr/>
                    <a:lstStyle/>
                    <a:p>
                      <a:pPr algn="l" indent="0" marL="0">
                        <a:buNone/>
                      </a:pPr>
                      <a:r>
                        <a:rPr lang="en-US" sz="1300" b="1" dirty="0">
                          <a:solidFill>
                            <a:srgbClr val="1E293B"/>
                          </a:solidFill>
                          <a:latin typeface="Calibri" pitchFamily="34" charset="0"/>
                          <a:ea typeface="Calibri" pitchFamily="34" charset="-122"/>
                          <a:cs typeface="Calibri" pitchFamily="34" charset="-120"/>
                        </a:rPr>
                        <a:t>R²</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algn="l" indent="0" marL="0">
                        <a:buNone/>
                      </a:pPr>
                      <a:r>
                        <a:rPr lang="en-US" sz="1300" b="1" dirty="0">
                          <a:solidFill>
                            <a:srgbClr val="1E293B"/>
                          </a:solidFill>
                          <a:latin typeface="Calibri" pitchFamily="34" charset="0"/>
                          <a:ea typeface="Calibri" pitchFamily="34" charset="-122"/>
                          <a:cs typeface="Calibri" pitchFamily="34" charset="-120"/>
                        </a:rPr>
                        <a:t>a coefficient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algn="l" indent="0" marL="0">
                        <a:buNone/>
                      </a:pPr>
                      <a:r>
                        <a:rPr lang="en-US" sz="1300" b="1" dirty="0">
                          <a:solidFill>
                            <a:srgbClr val="1E293B"/>
                          </a:solidFill>
                          <a:latin typeface="Calibri" pitchFamily="34" charset="0"/>
                          <a:ea typeface="Calibri" pitchFamily="34" charset="-122"/>
                          <a:cs typeface="Calibri" pitchFamily="34" charset="-120"/>
                        </a:rPr>
                        <a:t>its SE / p-value</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57200">
                <a:tc>
                  <a:txBody>
                    <a:bodyPr/>
                    <a:lstStyle/>
                    <a:p>
                      <a:pPr algn="l" indent="0" marL="0">
                        <a:buNone/>
                      </a:pPr>
                      <a:r>
                        <a:rPr lang="en-US" sz="1300" b="1" dirty="0">
                          <a:solidFill>
                            <a:srgbClr val="1E293B"/>
                          </a:solidFill>
                          <a:latin typeface="Calibri" pitchFamily="34" charset="0"/>
                          <a:ea typeface="Calibri" pitchFamily="34" charset="-122"/>
                          <a:cs typeface="Calibri" pitchFamily="34" charset="-120"/>
                        </a:rPr>
                        <a:t>PRESS / adj. R²</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4" name="Text 1"/>
          <p:cNvSpPr/>
          <p:nvPr/>
        </p:nvSpPr>
        <p:spPr>
          <a:xfrm>
            <a:off x="548640" y="3840480"/>
            <a:ext cx="7772400" cy="3657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Values pending CSV analysis — identical across all three columns, matched to ~1e-10.</a:t>
            </a:r>
            <a:endParaRPr lang="en-US" sz="1100" dirty="0"/>
          </a:p>
        </p:txBody>
      </p:sp>
      <p:sp>
        <p:nvSpPr>
          <p:cNvPr id="5" name="Text 2"/>
          <p:cNvSpPr/>
          <p:nvPr/>
        </p:nvSpPr>
        <p:spPr>
          <a:xfrm>
            <a:off x="8778240" y="1463040"/>
            <a:ext cx="2862072" cy="2743200"/>
          </a:xfrm>
          <a:prstGeom prst="rect">
            <a:avLst/>
          </a:prstGeom>
          <a:noFill/>
          <a:ln/>
        </p:spPr>
        <p:txBody>
          <a:bodyPr wrap="square" lIns="0" tIns="0" rIns="0" bIns="0" rtlCol="0" anchor="t"/>
          <a:lstStyle/>
          <a:p>
            <a:pPr indent="0" marL="0">
              <a:spcAft>
                <a:spcPts val="600"/>
              </a:spcAft>
              <a:buNone/>
            </a:pPr>
            <a:r>
              <a:rPr lang="en-US" sz="1300" b="1" dirty="0">
                <a:solidFill>
                  <a:srgbClr val="1E293B"/>
                </a:solidFill>
                <a:latin typeface="Calibri" pitchFamily="34" charset="0"/>
                <a:ea typeface="Calibri" pitchFamily="34" charset="-122"/>
                <a:cs typeface="Calibri" pitchFamily="34" charset="-120"/>
              </a:rPr>
              <a:t>Every statistic is a visible formula</a:t>
            </a:r>
            <a:endParaRPr lang="en-US" sz="1300" dirty="0"/>
          </a:p>
          <a:p>
            <a:pPr indent="0" marL="0">
              <a:spcAft>
                <a:spcPts val="600"/>
              </a:spcAft>
              <a:buNone/>
            </a:pPr>
            <a:r>
              <a:rPr lang="en-US" sz="1300" dirty="0">
                <a:solidFill>
                  <a:srgbClr val="334155"/>
                </a:solidFill>
                <a:latin typeface="Calibri" pitchFamily="34" charset="0"/>
                <a:ea typeface="Calibri" pitchFamily="34" charset="-122"/>
                <a:cs typeface="Calibri" pitchFamily="34" charset="-120"/>
              </a:rPr>
              <a:t>— auditable, nothing hidden.</a:t>
            </a:r>
            <a:endParaRPr lang="en-US" sz="1300" dirty="0"/>
          </a:p>
          <a:p>
            <a:pPr indent="0" marL="0">
              <a:spcAft>
                <a:spcPts val="600"/>
              </a:spcAft>
              <a:buNone/>
            </a:pPr>
            <a:r>
              <a:rPr lang="en-US" sz="1300" b="1" dirty="0">
                <a:solidFill>
                  <a:srgbClr val="1E293B"/>
                </a:solidFill>
                <a:latin typeface="Calibri" pitchFamily="34" charset="0"/>
                <a:ea typeface="Calibri" pitchFamily="34" charset="-122"/>
                <a:cs typeface="Calibri" pitchFamily="34" charset="-120"/>
              </a:rPr>
              <a:t>Documented in the workbook</a:t>
            </a:r>
            <a:endParaRPr lang="en-US" sz="1300" dirty="0"/>
          </a:p>
          <a:p>
            <a:pPr indent="0" marL="0">
              <a:spcAft>
                <a:spcPts val="600"/>
              </a:spcAft>
              <a:buNone/>
            </a:pPr>
            <a:r>
              <a:rPr lang="en-US" sz="1300" dirty="0">
                <a:solidFill>
                  <a:srgbClr val="334155"/>
                </a:solidFill>
                <a:latin typeface="Calibri" pitchFamily="34" charset="0"/>
                <a:ea typeface="Calibri" pitchFamily="34" charset="-122"/>
                <a:cs typeface="Calibri" pitchFamily="34" charset="-120"/>
              </a:rPr>
              <a:t>— a reviewer reads the math AND the meaning without leaving the file.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57200"/>
            <a:ext cx="11091672" cy="731520"/>
          </a:xfrm>
          <a:prstGeom prst="rect">
            <a:avLst/>
          </a:prstGeom>
          <a:noFill/>
          <a:ln/>
        </p:spPr>
        <p:txBody>
          <a:bodyPr wrap="square" lIns="0" tIns="0" rIns="0" bIns="0" rtlCol="0" anchor="ctr"/>
          <a:lstStyle/>
          <a:p>
            <a:pPr algn="l" indent="0" marL="0">
              <a:buNone/>
            </a:pPr>
            <a:r>
              <a:rPr lang="en-US" sz="3000" b="1" dirty="0">
                <a:solidFill>
                  <a:srgbClr val="1E293B"/>
                </a:solidFill>
                <a:latin typeface="Calibri" pitchFamily="34" charset="0"/>
                <a:ea typeface="Calibri" pitchFamily="34" charset="-122"/>
                <a:cs typeface="Calibri" pitchFamily="34" charset="-120"/>
              </a:rPr>
              <a:t>The workflow a defensible CER follows</a:t>
            </a:r>
            <a:endParaRPr lang="en-US" sz="3000" dirty="0"/>
          </a:p>
        </p:txBody>
      </p:sp>
      <p:sp>
        <p:nvSpPr>
          <p:cNvPr id="3" name="Shape 1"/>
          <p:cNvSpPr/>
          <p:nvPr/>
        </p:nvSpPr>
        <p:spPr>
          <a:xfrm>
            <a:off x="548640" y="2468880"/>
            <a:ext cx="1365069" cy="1371600"/>
          </a:xfrm>
          <a:prstGeom prst="roundRect">
            <a:avLst>
              <a:gd name="adj" fmla="val 4019"/>
            </a:avLst>
          </a:prstGeom>
          <a:solidFill>
            <a:srgbClr val="FFFFFF"/>
          </a:solidFill>
          <a:ln w="15875">
            <a:solidFill>
              <a:srgbClr val="E2E8F0"/>
            </a:solidFill>
            <a:prstDash val="solid"/>
          </a:ln>
        </p:spPr>
      </p:sp>
      <p:sp>
        <p:nvSpPr>
          <p:cNvPr id="4" name="Text 2"/>
          <p:cNvSpPr/>
          <p:nvPr/>
        </p:nvSpPr>
        <p:spPr>
          <a:xfrm>
            <a:off x="548640" y="2578608"/>
            <a:ext cx="1365069" cy="365760"/>
          </a:xfrm>
          <a:prstGeom prst="rect">
            <a:avLst/>
          </a:prstGeom>
          <a:noFill/>
          <a:ln/>
        </p:spPr>
        <p:txBody>
          <a:bodyPr wrap="square" lIns="0" tIns="0" rIns="0" bIns="0" rtlCol="0" anchor="ctr"/>
          <a:lstStyle/>
          <a:p>
            <a:pPr algn="ctr" indent="0" marL="0">
              <a:buNone/>
            </a:pPr>
            <a:r>
              <a:rPr lang="en-US" sz="1400" b="1" dirty="0">
                <a:solidFill>
                  <a:srgbClr val="2C6E8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594360" y="2926080"/>
            <a:ext cx="1273629" cy="822960"/>
          </a:xfrm>
          <a:prstGeom prst="rect">
            <a:avLst/>
          </a:prstGeom>
          <a:noFill/>
          <a:ln/>
        </p:spPr>
        <p:txBody>
          <a:bodyPr wrap="square" lIns="0" tIns="0" rIns="0" bIns="0" rtlCol="0" anchor="t"/>
          <a:lstStyle/>
          <a:p>
            <a:pPr algn="ctr" indent="0" marL="0">
              <a:buNone/>
            </a:pPr>
            <a:r>
              <a:rPr lang="en-US" sz="1100" dirty="0">
                <a:solidFill>
                  <a:srgbClr val="1E293B"/>
                </a:solidFill>
                <a:latin typeface="Calibri" pitchFamily="34" charset="0"/>
                <a:ea typeface="Calibri" pitchFamily="34" charset="-122"/>
                <a:cs typeface="Calibri" pitchFamily="34" charset="-120"/>
              </a:rPr>
              <a:t>Data + filter</a:t>
            </a:r>
            <a:endParaRPr lang="en-US" sz="1100" dirty="0"/>
          </a:p>
        </p:txBody>
      </p:sp>
      <p:sp>
        <p:nvSpPr>
          <p:cNvPr id="6" name="Text 4"/>
          <p:cNvSpPr/>
          <p:nvPr/>
        </p:nvSpPr>
        <p:spPr>
          <a:xfrm>
            <a:off x="1913709" y="2468880"/>
            <a:ext cx="256032" cy="137160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2169741" y="2468880"/>
            <a:ext cx="1365069" cy="1371600"/>
          </a:xfrm>
          <a:prstGeom prst="roundRect">
            <a:avLst>
              <a:gd name="adj" fmla="val 4019"/>
            </a:avLst>
          </a:prstGeom>
          <a:solidFill>
            <a:srgbClr val="FFFFFF"/>
          </a:solidFill>
          <a:ln w="15875">
            <a:solidFill>
              <a:srgbClr val="E2E8F0"/>
            </a:solidFill>
            <a:prstDash val="solid"/>
          </a:ln>
        </p:spPr>
      </p:sp>
      <p:sp>
        <p:nvSpPr>
          <p:cNvPr id="8" name="Text 6"/>
          <p:cNvSpPr/>
          <p:nvPr/>
        </p:nvSpPr>
        <p:spPr>
          <a:xfrm>
            <a:off x="2169741" y="2578608"/>
            <a:ext cx="1365069" cy="365760"/>
          </a:xfrm>
          <a:prstGeom prst="rect">
            <a:avLst/>
          </a:prstGeom>
          <a:noFill/>
          <a:ln/>
        </p:spPr>
        <p:txBody>
          <a:bodyPr wrap="square" lIns="0" tIns="0" rIns="0" bIns="0" rtlCol="0" anchor="ctr"/>
          <a:lstStyle/>
          <a:p>
            <a:pPr algn="ctr" indent="0" marL="0">
              <a:buNone/>
            </a:pPr>
            <a:r>
              <a:rPr lang="en-US" sz="1400" b="1" dirty="0">
                <a:solidFill>
                  <a:srgbClr val="2C6E8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2215461" y="2926080"/>
            <a:ext cx="1273629" cy="822960"/>
          </a:xfrm>
          <a:prstGeom prst="rect">
            <a:avLst/>
          </a:prstGeom>
          <a:noFill/>
          <a:ln/>
        </p:spPr>
        <p:txBody>
          <a:bodyPr wrap="square" lIns="0" tIns="0" rIns="0" bIns="0" rtlCol="0" anchor="t"/>
          <a:lstStyle/>
          <a:p>
            <a:pPr algn="ctr" indent="0" marL="0">
              <a:buNone/>
            </a:pPr>
            <a:r>
              <a:rPr lang="en-US" sz="1100" dirty="0">
                <a:solidFill>
                  <a:srgbClr val="1E293B"/>
                </a:solidFill>
                <a:latin typeface="Calibri" pitchFamily="34" charset="0"/>
                <a:ea typeface="Calibri" pitchFamily="34" charset="-122"/>
                <a:cs typeface="Calibri" pitchFamily="34" charset="-120"/>
              </a:rPr>
              <a:t>Fit the CER</a:t>
            </a:r>
            <a:endParaRPr lang="en-US" sz="1100" dirty="0"/>
          </a:p>
        </p:txBody>
      </p:sp>
      <p:sp>
        <p:nvSpPr>
          <p:cNvPr id="10" name="Text 8"/>
          <p:cNvSpPr/>
          <p:nvPr/>
        </p:nvSpPr>
        <p:spPr>
          <a:xfrm>
            <a:off x="3534809" y="2468880"/>
            <a:ext cx="256032" cy="137160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3790841" y="2468880"/>
            <a:ext cx="1365069" cy="1371600"/>
          </a:xfrm>
          <a:prstGeom prst="roundRect">
            <a:avLst>
              <a:gd name="adj" fmla="val 4019"/>
            </a:avLst>
          </a:prstGeom>
          <a:solidFill>
            <a:srgbClr val="FFFFFF"/>
          </a:solidFill>
          <a:ln w="15875">
            <a:solidFill>
              <a:srgbClr val="E2E8F0"/>
            </a:solidFill>
            <a:prstDash val="solid"/>
          </a:ln>
        </p:spPr>
      </p:sp>
      <p:sp>
        <p:nvSpPr>
          <p:cNvPr id="12" name="Text 10"/>
          <p:cNvSpPr/>
          <p:nvPr/>
        </p:nvSpPr>
        <p:spPr>
          <a:xfrm>
            <a:off x="3790841" y="2578608"/>
            <a:ext cx="1365069" cy="365760"/>
          </a:xfrm>
          <a:prstGeom prst="rect">
            <a:avLst/>
          </a:prstGeom>
          <a:noFill/>
          <a:ln/>
        </p:spPr>
        <p:txBody>
          <a:bodyPr wrap="square" lIns="0" tIns="0" rIns="0" bIns="0" rtlCol="0" anchor="ctr"/>
          <a:lstStyle/>
          <a:p>
            <a:pPr algn="ctr" indent="0" marL="0">
              <a:buNone/>
            </a:pPr>
            <a:r>
              <a:rPr lang="en-US" sz="1400" b="1" dirty="0">
                <a:solidFill>
                  <a:srgbClr val="2C6E8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3836561" y="2926080"/>
            <a:ext cx="1273629" cy="822960"/>
          </a:xfrm>
          <a:prstGeom prst="rect">
            <a:avLst/>
          </a:prstGeom>
          <a:noFill/>
          <a:ln/>
        </p:spPr>
        <p:txBody>
          <a:bodyPr wrap="square" lIns="0" tIns="0" rIns="0" bIns="0" rtlCol="0" anchor="t"/>
          <a:lstStyle/>
          <a:p>
            <a:pPr algn="ctr" indent="0" marL="0">
              <a:buNone/>
            </a:pPr>
            <a:r>
              <a:rPr lang="en-US" sz="1100" dirty="0">
                <a:solidFill>
                  <a:srgbClr val="1E293B"/>
                </a:solidFill>
                <a:latin typeface="Calibri" pitchFamily="34" charset="0"/>
                <a:ea typeface="Calibri" pitchFamily="34" charset="-122"/>
                <a:cs typeface="Calibri" pitchFamily="34" charset="-120"/>
              </a:rPr>
              <a:t>Coefficient inference</a:t>
            </a:r>
            <a:endParaRPr lang="en-US" sz="1100" dirty="0"/>
          </a:p>
        </p:txBody>
      </p:sp>
      <p:sp>
        <p:nvSpPr>
          <p:cNvPr id="14" name="Text 12"/>
          <p:cNvSpPr/>
          <p:nvPr/>
        </p:nvSpPr>
        <p:spPr>
          <a:xfrm>
            <a:off x="5155910" y="2468880"/>
            <a:ext cx="256032" cy="137160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411942" y="2468880"/>
            <a:ext cx="1365069" cy="1371600"/>
          </a:xfrm>
          <a:prstGeom prst="roundRect">
            <a:avLst>
              <a:gd name="adj" fmla="val 4019"/>
            </a:avLst>
          </a:prstGeom>
          <a:solidFill>
            <a:srgbClr val="FFFFFF"/>
          </a:solidFill>
          <a:ln w="15875">
            <a:solidFill>
              <a:srgbClr val="E2E8F0"/>
            </a:solidFill>
            <a:prstDash val="solid"/>
          </a:ln>
        </p:spPr>
      </p:sp>
      <p:sp>
        <p:nvSpPr>
          <p:cNvPr id="16" name="Text 14"/>
          <p:cNvSpPr/>
          <p:nvPr/>
        </p:nvSpPr>
        <p:spPr>
          <a:xfrm>
            <a:off x="5411942" y="2578608"/>
            <a:ext cx="1365069" cy="365760"/>
          </a:xfrm>
          <a:prstGeom prst="rect">
            <a:avLst/>
          </a:prstGeom>
          <a:noFill/>
          <a:ln/>
        </p:spPr>
        <p:txBody>
          <a:bodyPr wrap="square" lIns="0" tIns="0" rIns="0" bIns="0" rtlCol="0" anchor="ctr"/>
          <a:lstStyle/>
          <a:p>
            <a:pPr algn="ctr" indent="0" marL="0">
              <a:buNone/>
            </a:pPr>
            <a:r>
              <a:rPr lang="en-US" sz="1400" b="1" dirty="0">
                <a:solidFill>
                  <a:srgbClr val="2C6E8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5457662" y="2926080"/>
            <a:ext cx="1273629" cy="822960"/>
          </a:xfrm>
          <a:prstGeom prst="rect">
            <a:avLst/>
          </a:prstGeom>
          <a:noFill/>
          <a:ln/>
        </p:spPr>
        <p:txBody>
          <a:bodyPr wrap="square" lIns="0" tIns="0" rIns="0" bIns="0" rtlCol="0" anchor="t"/>
          <a:lstStyle/>
          <a:p>
            <a:pPr algn="ctr" indent="0" marL="0">
              <a:buNone/>
            </a:pPr>
            <a:r>
              <a:rPr lang="en-US" sz="1100" dirty="0">
                <a:solidFill>
                  <a:srgbClr val="1E293B"/>
                </a:solidFill>
                <a:latin typeface="Calibri" pitchFamily="34" charset="0"/>
                <a:ea typeface="Calibri" pitchFamily="34" charset="-122"/>
                <a:cs typeface="Calibri" pitchFamily="34" charset="-120"/>
              </a:rPr>
              <a:t>Collinearity / trim (VIF)</a:t>
            </a:r>
            <a:endParaRPr lang="en-US" sz="1100" dirty="0"/>
          </a:p>
        </p:txBody>
      </p:sp>
      <p:sp>
        <p:nvSpPr>
          <p:cNvPr id="18" name="Text 16"/>
          <p:cNvSpPr/>
          <p:nvPr/>
        </p:nvSpPr>
        <p:spPr>
          <a:xfrm>
            <a:off x="6777010" y="2468880"/>
            <a:ext cx="256032" cy="137160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7033042" y="2468880"/>
            <a:ext cx="1365069" cy="1371600"/>
          </a:xfrm>
          <a:prstGeom prst="roundRect">
            <a:avLst>
              <a:gd name="adj" fmla="val 4019"/>
            </a:avLst>
          </a:prstGeom>
          <a:solidFill>
            <a:srgbClr val="FFFFFF"/>
          </a:solidFill>
          <a:ln w="15875">
            <a:solidFill>
              <a:srgbClr val="E2E8F0"/>
            </a:solidFill>
            <a:prstDash val="solid"/>
          </a:ln>
        </p:spPr>
      </p:sp>
      <p:sp>
        <p:nvSpPr>
          <p:cNvPr id="20" name="Text 18"/>
          <p:cNvSpPr/>
          <p:nvPr/>
        </p:nvSpPr>
        <p:spPr>
          <a:xfrm>
            <a:off x="7033042" y="2578608"/>
            <a:ext cx="1365069" cy="365760"/>
          </a:xfrm>
          <a:prstGeom prst="rect">
            <a:avLst/>
          </a:prstGeom>
          <a:noFill/>
          <a:ln/>
        </p:spPr>
        <p:txBody>
          <a:bodyPr wrap="square" lIns="0" tIns="0" rIns="0" bIns="0" rtlCol="0" anchor="ctr"/>
          <a:lstStyle/>
          <a:p>
            <a:pPr algn="ctr" indent="0" marL="0">
              <a:buNone/>
            </a:pPr>
            <a:r>
              <a:rPr lang="en-US" sz="1400" b="1" dirty="0">
                <a:solidFill>
                  <a:srgbClr val="2C6E8F"/>
                </a:solidFill>
                <a:latin typeface="Calibri" pitchFamily="34" charset="0"/>
                <a:ea typeface="Calibri" pitchFamily="34" charset="-122"/>
                <a:cs typeface="Calibri" pitchFamily="34" charset="-120"/>
              </a:rPr>
              <a:t>5</a:t>
            </a:r>
            <a:endParaRPr lang="en-US" sz="1400" dirty="0"/>
          </a:p>
        </p:txBody>
      </p:sp>
      <p:sp>
        <p:nvSpPr>
          <p:cNvPr id="21" name="Text 19"/>
          <p:cNvSpPr/>
          <p:nvPr/>
        </p:nvSpPr>
        <p:spPr>
          <a:xfrm>
            <a:off x="7078762" y="2926080"/>
            <a:ext cx="1273629" cy="822960"/>
          </a:xfrm>
          <a:prstGeom prst="rect">
            <a:avLst/>
          </a:prstGeom>
          <a:noFill/>
          <a:ln/>
        </p:spPr>
        <p:txBody>
          <a:bodyPr wrap="square" lIns="0" tIns="0" rIns="0" bIns="0" rtlCol="0" anchor="t"/>
          <a:lstStyle/>
          <a:p>
            <a:pPr algn="ctr" indent="0" marL="0">
              <a:buNone/>
            </a:pPr>
            <a:r>
              <a:rPr lang="en-US" sz="1100" dirty="0">
                <a:solidFill>
                  <a:srgbClr val="1E293B"/>
                </a:solidFill>
                <a:latin typeface="Calibri" pitchFamily="34" charset="0"/>
                <a:ea typeface="Calibri" pitchFamily="34" charset="-122"/>
                <a:cs typeface="Calibri" pitchFamily="34" charset="-120"/>
              </a:rPr>
              <a:t>Model selection (PRESS)</a:t>
            </a:r>
            <a:endParaRPr lang="en-US" sz="1100" dirty="0"/>
          </a:p>
        </p:txBody>
      </p:sp>
      <p:sp>
        <p:nvSpPr>
          <p:cNvPr id="22" name="Text 20"/>
          <p:cNvSpPr/>
          <p:nvPr/>
        </p:nvSpPr>
        <p:spPr>
          <a:xfrm>
            <a:off x="8398111" y="2468880"/>
            <a:ext cx="256032" cy="137160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8654143" y="2468880"/>
            <a:ext cx="1365069" cy="1371600"/>
          </a:xfrm>
          <a:prstGeom prst="roundRect">
            <a:avLst>
              <a:gd name="adj" fmla="val 4019"/>
            </a:avLst>
          </a:prstGeom>
          <a:solidFill>
            <a:srgbClr val="FFFFFF"/>
          </a:solidFill>
          <a:ln w="15875">
            <a:solidFill>
              <a:srgbClr val="E2E8F0"/>
            </a:solidFill>
            <a:prstDash val="solid"/>
          </a:ln>
        </p:spPr>
      </p:sp>
      <p:sp>
        <p:nvSpPr>
          <p:cNvPr id="24" name="Text 22"/>
          <p:cNvSpPr/>
          <p:nvPr/>
        </p:nvSpPr>
        <p:spPr>
          <a:xfrm>
            <a:off x="8654143" y="2578608"/>
            <a:ext cx="1365069" cy="365760"/>
          </a:xfrm>
          <a:prstGeom prst="rect">
            <a:avLst/>
          </a:prstGeom>
          <a:noFill/>
          <a:ln/>
        </p:spPr>
        <p:txBody>
          <a:bodyPr wrap="square" lIns="0" tIns="0" rIns="0" bIns="0" rtlCol="0" anchor="ctr"/>
          <a:lstStyle/>
          <a:p>
            <a:pPr algn="ctr" indent="0" marL="0">
              <a:buNone/>
            </a:pPr>
            <a:r>
              <a:rPr lang="en-US" sz="1400" b="1" dirty="0">
                <a:solidFill>
                  <a:srgbClr val="2C6E8F"/>
                </a:solidFill>
                <a:latin typeface="Calibri" pitchFamily="34" charset="0"/>
                <a:ea typeface="Calibri" pitchFamily="34" charset="-122"/>
                <a:cs typeface="Calibri" pitchFamily="34" charset="-120"/>
              </a:rPr>
              <a:t>6</a:t>
            </a:r>
            <a:endParaRPr lang="en-US" sz="1400" dirty="0"/>
          </a:p>
        </p:txBody>
      </p:sp>
      <p:sp>
        <p:nvSpPr>
          <p:cNvPr id="25" name="Text 23"/>
          <p:cNvSpPr/>
          <p:nvPr/>
        </p:nvSpPr>
        <p:spPr>
          <a:xfrm>
            <a:off x="8699863" y="2926080"/>
            <a:ext cx="1273629" cy="822960"/>
          </a:xfrm>
          <a:prstGeom prst="rect">
            <a:avLst/>
          </a:prstGeom>
          <a:noFill/>
          <a:ln/>
        </p:spPr>
        <p:txBody>
          <a:bodyPr wrap="square" lIns="0" tIns="0" rIns="0" bIns="0" rtlCol="0" anchor="t"/>
          <a:lstStyle/>
          <a:p>
            <a:pPr algn="ctr" indent="0" marL="0">
              <a:buNone/>
            </a:pPr>
            <a:r>
              <a:rPr lang="en-US" sz="1100" dirty="0">
                <a:solidFill>
                  <a:srgbClr val="1E293B"/>
                </a:solidFill>
                <a:latin typeface="Calibri" pitchFamily="34" charset="0"/>
                <a:ea typeface="Calibri" pitchFamily="34" charset="-122"/>
                <a:cs typeface="Calibri" pitchFamily="34" charset="-120"/>
              </a:rPr>
              <a:t>Diagnostics</a:t>
            </a:r>
            <a:endParaRPr lang="en-US" sz="1100" dirty="0"/>
          </a:p>
        </p:txBody>
      </p:sp>
      <p:sp>
        <p:nvSpPr>
          <p:cNvPr id="26" name="Text 24"/>
          <p:cNvSpPr/>
          <p:nvPr/>
        </p:nvSpPr>
        <p:spPr>
          <a:xfrm>
            <a:off x="10019211" y="2468880"/>
            <a:ext cx="256032" cy="137160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10275243" y="2468880"/>
            <a:ext cx="1365069" cy="1371600"/>
          </a:xfrm>
          <a:prstGeom prst="roundRect">
            <a:avLst>
              <a:gd name="adj" fmla="val 4019"/>
            </a:avLst>
          </a:prstGeom>
          <a:solidFill>
            <a:srgbClr val="2C6E8F"/>
          </a:solidFill>
          <a:ln w="12700">
            <a:solidFill>
              <a:srgbClr val="2C6E8F"/>
            </a:solidFill>
            <a:prstDash val="solid"/>
          </a:ln>
          <a:effectLst>
            <a:outerShdw sx="100000" sy="100000" kx="0" ky="0" algn="bl" rotWithShape="0" blurRad="76200" dist="25400" dir="8100000">
              <a:srgbClr val="000000">
                <a:alpha val="12000"/>
              </a:srgbClr>
            </a:outerShdw>
          </a:effectLst>
        </p:spPr>
      </p:sp>
      <p:sp>
        <p:nvSpPr>
          <p:cNvPr id="28" name="Text 26"/>
          <p:cNvSpPr/>
          <p:nvPr/>
        </p:nvSpPr>
        <p:spPr>
          <a:xfrm>
            <a:off x="10275243" y="2578608"/>
            <a:ext cx="1365069"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9" name="Text 27"/>
          <p:cNvSpPr/>
          <p:nvPr/>
        </p:nvSpPr>
        <p:spPr>
          <a:xfrm>
            <a:off x="10320963" y="2926080"/>
            <a:ext cx="1273629" cy="82296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Prediction + uncertainty</a:t>
            </a:r>
            <a:endParaRPr lang="en-US" sz="1100" dirty="0"/>
          </a:p>
        </p:txBody>
      </p:sp>
      <p:sp>
        <p:nvSpPr>
          <p:cNvPr id="30" name="Text 28"/>
          <p:cNvSpPr/>
          <p:nvPr/>
        </p:nvSpPr>
        <p:spPr>
          <a:xfrm>
            <a:off x="548640" y="4114800"/>
            <a:ext cx="11091672" cy="365760"/>
          </a:xfrm>
          <a:prstGeom prst="rect">
            <a:avLst/>
          </a:prstGeom>
          <a:noFill/>
          <a:ln/>
        </p:spPr>
        <p:txBody>
          <a:bodyPr wrap="square" lIns="0" tIns="0" rIns="0" bIns="0" rtlCol="0" anchor="ctr"/>
          <a:lstStyle/>
          <a:p>
            <a:pPr indent="0" marL="0">
              <a:buNone/>
            </a:pPr>
            <a:r>
              <a:rPr lang="en-US" sz="1400" i="1" dirty="0">
                <a:solidFill>
                  <a:srgbClr val="334155"/>
                </a:solidFill>
                <a:latin typeface="Calibri" pitchFamily="34" charset="0"/>
                <a:ea typeface="Calibri" pitchFamily="34" charset="-122"/>
                <a:cs typeface="Calibri" pitchFamily="34" charset="-120"/>
              </a:rPr>
              <a:t>The destination is a samplable cost distribution — promised from the first step.</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237744"/>
            <a:ext cx="1506147" cy="310896"/>
          </a:xfrm>
          <a:prstGeom prst="roundRect">
            <a:avLst>
              <a:gd name="adj" fmla="val 11765"/>
            </a:avLst>
          </a:prstGeom>
          <a:solidFill>
            <a:srgbClr val="2C6E8F"/>
          </a:solidFill>
          <a:ln/>
        </p:spPr>
      </p:sp>
      <p:sp>
        <p:nvSpPr>
          <p:cNvPr id="3" name="Text 1"/>
          <p:cNvSpPr/>
          <p:nvPr/>
        </p:nvSpPr>
        <p:spPr>
          <a:xfrm>
            <a:off x="548640" y="237744"/>
            <a:ext cx="1506147"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Data</a:t>
            </a:r>
            <a:endParaRPr lang="en-US" sz="950" dirty="0"/>
          </a:p>
        </p:txBody>
      </p:sp>
      <p:sp>
        <p:nvSpPr>
          <p:cNvPr id="4" name="Shape 2"/>
          <p:cNvSpPr/>
          <p:nvPr/>
        </p:nvSpPr>
        <p:spPr>
          <a:xfrm>
            <a:off x="2146227" y="237744"/>
            <a:ext cx="1506147" cy="310896"/>
          </a:xfrm>
          <a:prstGeom prst="roundRect">
            <a:avLst>
              <a:gd name="adj" fmla="val 11765"/>
            </a:avLst>
          </a:prstGeom>
          <a:solidFill>
            <a:srgbClr val="E2E8F0"/>
          </a:solidFill>
          <a:ln/>
        </p:spPr>
      </p:sp>
      <p:sp>
        <p:nvSpPr>
          <p:cNvPr id="5" name="Text 3"/>
          <p:cNvSpPr/>
          <p:nvPr/>
        </p:nvSpPr>
        <p:spPr>
          <a:xfrm>
            <a:off x="2146227"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2. Fit</a:t>
            </a:r>
            <a:endParaRPr lang="en-US" sz="950" dirty="0"/>
          </a:p>
        </p:txBody>
      </p:sp>
      <p:sp>
        <p:nvSpPr>
          <p:cNvPr id="6" name="Shape 4"/>
          <p:cNvSpPr/>
          <p:nvPr/>
        </p:nvSpPr>
        <p:spPr>
          <a:xfrm>
            <a:off x="3743815" y="237744"/>
            <a:ext cx="1506147" cy="310896"/>
          </a:xfrm>
          <a:prstGeom prst="roundRect">
            <a:avLst>
              <a:gd name="adj" fmla="val 11765"/>
            </a:avLst>
          </a:prstGeom>
          <a:solidFill>
            <a:srgbClr val="E2E8F0"/>
          </a:solidFill>
          <a:ln/>
        </p:spPr>
      </p:sp>
      <p:sp>
        <p:nvSpPr>
          <p:cNvPr id="7" name="Text 5"/>
          <p:cNvSpPr/>
          <p:nvPr/>
        </p:nvSpPr>
        <p:spPr>
          <a:xfrm>
            <a:off x="3743815"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3. Inference</a:t>
            </a:r>
            <a:endParaRPr lang="en-US" sz="950" dirty="0"/>
          </a:p>
        </p:txBody>
      </p:sp>
      <p:sp>
        <p:nvSpPr>
          <p:cNvPr id="8" name="Shape 6"/>
          <p:cNvSpPr/>
          <p:nvPr/>
        </p:nvSpPr>
        <p:spPr>
          <a:xfrm>
            <a:off x="5341402" y="237744"/>
            <a:ext cx="1506147" cy="310896"/>
          </a:xfrm>
          <a:prstGeom prst="roundRect">
            <a:avLst>
              <a:gd name="adj" fmla="val 11765"/>
            </a:avLst>
          </a:prstGeom>
          <a:solidFill>
            <a:srgbClr val="E2E8F0"/>
          </a:solidFill>
          <a:ln/>
        </p:spPr>
      </p:sp>
      <p:sp>
        <p:nvSpPr>
          <p:cNvPr id="9" name="Text 7"/>
          <p:cNvSpPr/>
          <p:nvPr/>
        </p:nvSpPr>
        <p:spPr>
          <a:xfrm>
            <a:off x="5341402"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4. Trim</a:t>
            </a:r>
            <a:endParaRPr lang="en-US" sz="950" dirty="0"/>
          </a:p>
        </p:txBody>
      </p:sp>
      <p:sp>
        <p:nvSpPr>
          <p:cNvPr id="10" name="Shape 8"/>
          <p:cNvSpPr/>
          <p:nvPr/>
        </p:nvSpPr>
        <p:spPr>
          <a:xfrm>
            <a:off x="6938990" y="237744"/>
            <a:ext cx="1506147" cy="310896"/>
          </a:xfrm>
          <a:prstGeom prst="roundRect">
            <a:avLst>
              <a:gd name="adj" fmla="val 11765"/>
            </a:avLst>
          </a:prstGeom>
          <a:solidFill>
            <a:srgbClr val="E2E8F0"/>
          </a:solidFill>
          <a:ln/>
        </p:spPr>
      </p:sp>
      <p:sp>
        <p:nvSpPr>
          <p:cNvPr id="11" name="Text 9"/>
          <p:cNvSpPr/>
          <p:nvPr/>
        </p:nvSpPr>
        <p:spPr>
          <a:xfrm>
            <a:off x="6938990"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5. Select</a:t>
            </a:r>
            <a:endParaRPr lang="en-US" sz="950" dirty="0"/>
          </a:p>
        </p:txBody>
      </p:sp>
      <p:sp>
        <p:nvSpPr>
          <p:cNvPr id="12" name="Shape 10"/>
          <p:cNvSpPr/>
          <p:nvPr/>
        </p:nvSpPr>
        <p:spPr>
          <a:xfrm>
            <a:off x="8536577" y="237744"/>
            <a:ext cx="1506147" cy="310896"/>
          </a:xfrm>
          <a:prstGeom prst="roundRect">
            <a:avLst>
              <a:gd name="adj" fmla="val 11765"/>
            </a:avLst>
          </a:prstGeom>
          <a:solidFill>
            <a:srgbClr val="E2E8F0"/>
          </a:solidFill>
          <a:ln/>
        </p:spPr>
      </p:sp>
      <p:sp>
        <p:nvSpPr>
          <p:cNvPr id="13" name="Text 11"/>
          <p:cNvSpPr/>
          <p:nvPr/>
        </p:nvSpPr>
        <p:spPr>
          <a:xfrm>
            <a:off x="8536577"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6. Diagnose</a:t>
            </a:r>
            <a:endParaRPr lang="en-US" sz="950" dirty="0"/>
          </a:p>
        </p:txBody>
      </p:sp>
      <p:sp>
        <p:nvSpPr>
          <p:cNvPr id="14" name="Shape 12"/>
          <p:cNvSpPr/>
          <p:nvPr/>
        </p:nvSpPr>
        <p:spPr>
          <a:xfrm>
            <a:off x="10134165" y="237744"/>
            <a:ext cx="1506147" cy="310896"/>
          </a:xfrm>
          <a:prstGeom prst="roundRect">
            <a:avLst>
              <a:gd name="adj" fmla="val 11765"/>
            </a:avLst>
          </a:prstGeom>
          <a:solidFill>
            <a:srgbClr val="E2E8F0"/>
          </a:solidFill>
          <a:ln/>
        </p:spPr>
      </p:sp>
      <p:sp>
        <p:nvSpPr>
          <p:cNvPr id="15" name="Text 13"/>
          <p:cNvSpPr/>
          <p:nvPr/>
        </p:nvSpPr>
        <p:spPr>
          <a:xfrm>
            <a:off x="10134165"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7. Predict</a:t>
            </a:r>
            <a:endParaRPr lang="en-US" sz="950" dirty="0"/>
          </a:p>
        </p:txBody>
      </p:sp>
      <p:sp>
        <p:nvSpPr>
          <p:cNvPr id="16" name="Text 14"/>
          <p:cNvSpPr/>
          <p:nvPr/>
        </p:nvSpPr>
        <p:spPr>
          <a:xfrm>
            <a:off x="548640" y="2011680"/>
            <a:ext cx="11091672" cy="1005840"/>
          </a:xfrm>
          <a:prstGeom prst="rect">
            <a:avLst/>
          </a:prstGeom>
          <a:noFill/>
          <a:ln/>
        </p:spPr>
        <p:txBody>
          <a:bodyPr wrap="square" lIns="0" tIns="0" rIns="0" bIns="0" rtlCol="0" anchor="ctr"/>
          <a:lstStyle/>
          <a:p>
            <a:pPr algn="ctr" indent="0" marL="0">
              <a:buNone/>
            </a:pPr>
            <a:r>
              <a:rPr lang="en-US" sz="3000" b="1" dirty="0">
                <a:solidFill>
                  <a:srgbClr val="1E293B"/>
                </a:solidFill>
                <a:latin typeface="Calibri" pitchFamily="34" charset="0"/>
                <a:ea typeface="Calibri" pitchFamily="34" charset="-122"/>
                <a:cs typeface="Calibri" pitchFamily="34" charset="-120"/>
              </a:rPr>
              <a:t>Which rows actually feed the model?</a:t>
            </a:r>
            <a:endParaRPr lang="en-US" sz="3000" dirty="0"/>
          </a:p>
        </p:txBody>
      </p:sp>
      <p:sp>
        <p:nvSpPr>
          <p:cNvPr id="17" name="Text 15"/>
          <p:cNvSpPr/>
          <p:nvPr/>
        </p:nvSpPr>
        <p:spPr>
          <a:xfrm>
            <a:off x="1645920" y="3108960"/>
            <a:ext cx="8897112" cy="822960"/>
          </a:xfrm>
          <a:prstGeom prst="rect">
            <a:avLst/>
          </a:prstGeom>
          <a:noFill/>
          <a:ln/>
        </p:spPr>
        <p:txBody>
          <a:bodyPr wrap="square" lIns="0" tIns="0" rIns="0" bIns="0" rtlCol="0" anchor="t"/>
          <a:lstStyle/>
          <a:p>
            <a:pPr algn="ctr" indent="0" marL="0">
              <a:buNone/>
            </a:pPr>
            <a:r>
              <a:rPr lang="en-US" sz="1700" dirty="0">
                <a:solidFill>
                  <a:srgbClr val="334155"/>
                </a:solidFill>
                <a:latin typeface="Calibri" pitchFamily="34" charset="0"/>
                <a:ea typeface="Calibri" pitchFamily="34" charset="-122"/>
                <a:cs typeface="Calibri" pitchFamily="34" charset="-120"/>
              </a:rPr>
              <a:t>Complete-case filter — you see exactly what's included, and it recomputes live.</a:t>
            </a:r>
            <a:endParaRPr lang="en-US" sz="1700" dirty="0"/>
          </a:p>
        </p:txBody>
      </p:sp>
      <p:sp>
        <p:nvSpPr>
          <p:cNvPr id="18" name="Shape 16"/>
          <p:cNvSpPr/>
          <p:nvPr/>
        </p:nvSpPr>
        <p:spPr>
          <a:xfrm>
            <a:off x="3717036" y="4114800"/>
            <a:ext cx="4754880" cy="548640"/>
          </a:xfrm>
          <a:prstGeom prst="roundRect">
            <a:avLst>
              <a:gd name="adj" fmla="val 8333"/>
            </a:avLst>
          </a:prstGeom>
          <a:solidFill>
            <a:srgbClr val="F1F5F9"/>
          </a:solidFill>
          <a:ln/>
        </p:spPr>
      </p:sp>
      <p:sp>
        <p:nvSpPr>
          <p:cNvPr id="19" name="Text 17"/>
          <p:cNvSpPr/>
          <p:nvPr/>
        </p:nvSpPr>
        <p:spPr>
          <a:xfrm>
            <a:off x="3808476" y="4114800"/>
            <a:ext cx="4572000" cy="548640"/>
          </a:xfrm>
          <a:prstGeom prst="rect">
            <a:avLst/>
          </a:prstGeom>
          <a:noFill/>
          <a:ln/>
        </p:spPr>
        <p:txBody>
          <a:bodyPr wrap="square" lIns="0" tIns="0" rIns="0" bIns="0" rtlCol="0" anchor="ctr"/>
          <a:lstStyle/>
          <a:p>
            <a:pPr algn="l" indent="0" marL="0">
              <a:buNone/>
            </a:pPr>
            <a:r>
              <a:rPr lang="en-US" sz="1300" dirty="0">
                <a:solidFill>
                  <a:srgbClr val="0F172A"/>
                </a:solidFill>
                <a:latin typeface="Consolas" pitchFamily="34" charset="0"/>
                <a:ea typeface="Consolas" pitchFamily="34" charset="-122"/>
                <a:cs typeface="Consolas" pitchFamily="34" charset="-120"/>
              </a:rPr>
              <a:t>=COUNT(... [Life expectancy]:[Schooling] ) = 19</a:t>
            </a:r>
            <a:endParaRPr lang="en-US" sz="1300" dirty="0"/>
          </a:p>
        </p:txBody>
      </p:sp>
      <p:sp>
        <p:nvSpPr>
          <p:cNvPr id="20" name="Text 18"/>
          <p:cNvSpPr/>
          <p:nvPr/>
        </p:nvSpPr>
        <p:spPr>
          <a:xfrm>
            <a:off x="548640" y="6126480"/>
            <a:ext cx="11091672" cy="365760"/>
          </a:xfrm>
          <a:prstGeom prst="rect">
            <a:avLst/>
          </a:prstGeom>
          <a:noFill/>
          <a:ln/>
        </p:spPr>
        <p:txBody>
          <a:bodyPr wrap="square" lIns="0" tIns="0" rIns="0" bIns="0" rtlCol="0" anchor="ctr"/>
          <a:lstStyle/>
          <a:p>
            <a:pPr algn="ctr" indent="0" marL="0">
              <a:buNone/>
            </a:pPr>
            <a:r>
              <a:rPr lang="en-US" sz="1200" i="1" dirty="0">
                <a:solidFill>
                  <a:srgbClr val="2C6E8F"/>
                </a:solidFill>
                <a:latin typeface="Calibri" pitchFamily="34" charset="0"/>
                <a:ea typeface="Calibri" pitchFamily="34" charset="-122"/>
                <a:cs typeface="Calibri" pitchFamily="34" charset="-120"/>
              </a:rPr>
              <a:t>▶  live in Excel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237744"/>
            <a:ext cx="1506147" cy="310896"/>
          </a:xfrm>
          <a:prstGeom prst="roundRect">
            <a:avLst>
              <a:gd name="adj" fmla="val 11765"/>
            </a:avLst>
          </a:prstGeom>
          <a:solidFill>
            <a:srgbClr val="E2E8F0"/>
          </a:solidFill>
          <a:ln/>
        </p:spPr>
      </p:sp>
      <p:sp>
        <p:nvSpPr>
          <p:cNvPr id="3" name="Text 1"/>
          <p:cNvSpPr/>
          <p:nvPr/>
        </p:nvSpPr>
        <p:spPr>
          <a:xfrm>
            <a:off x="548640"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1. Data</a:t>
            </a:r>
            <a:endParaRPr lang="en-US" sz="950" dirty="0"/>
          </a:p>
        </p:txBody>
      </p:sp>
      <p:sp>
        <p:nvSpPr>
          <p:cNvPr id="4" name="Shape 2"/>
          <p:cNvSpPr/>
          <p:nvPr/>
        </p:nvSpPr>
        <p:spPr>
          <a:xfrm>
            <a:off x="2146227" y="237744"/>
            <a:ext cx="1506147" cy="310896"/>
          </a:xfrm>
          <a:prstGeom prst="roundRect">
            <a:avLst>
              <a:gd name="adj" fmla="val 11765"/>
            </a:avLst>
          </a:prstGeom>
          <a:solidFill>
            <a:srgbClr val="E2E8F0"/>
          </a:solidFill>
          <a:ln/>
        </p:spPr>
      </p:sp>
      <p:sp>
        <p:nvSpPr>
          <p:cNvPr id="5" name="Text 3"/>
          <p:cNvSpPr/>
          <p:nvPr/>
        </p:nvSpPr>
        <p:spPr>
          <a:xfrm>
            <a:off x="2146227"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2. Fit</a:t>
            </a:r>
            <a:endParaRPr lang="en-US" sz="950" dirty="0"/>
          </a:p>
        </p:txBody>
      </p:sp>
      <p:sp>
        <p:nvSpPr>
          <p:cNvPr id="6" name="Shape 4"/>
          <p:cNvSpPr/>
          <p:nvPr/>
        </p:nvSpPr>
        <p:spPr>
          <a:xfrm>
            <a:off x="3743815" y="237744"/>
            <a:ext cx="1506147" cy="310896"/>
          </a:xfrm>
          <a:prstGeom prst="roundRect">
            <a:avLst>
              <a:gd name="adj" fmla="val 11765"/>
            </a:avLst>
          </a:prstGeom>
          <a:solidFill>
            <a:srgbClr val="E2E8F0"/>
          </a:solidFill>
          <a:ln/>
        </p:spPr>
      </p:sp>
      <p:sp>
        <p:nvSpPr>
          <p:cNvPr id="7" name="Text 5"/>
          <p:cNvSpPr/>
          <p:nvPr/>
        </p:nvSpPr>
        <p:spPr>
          <a:xfrm>
            <a:off x="3743815"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3. Inference</a:t>
            </a:r>
            <a:endParaRPr lang="en-US" sz="950" dirty="0"/>
          </a:p>
        </p:txBody>
      </p:sp>
      <p:sp>
        <p:nvSpPr>
          <p:cNvPr id="8" name="Shape 6"/>
          <p:cNvSpPr/>
          <p:nvPr/>
        </p:nvSpPr>
        <p:spPr>
          <a:xfrm>
            <a:off x="5341402" y="237744"/>
            <a:ext cx="1506147" cy="310896"/>
          </a:xfrm>
          <a:prstGeom prst="roundRect">
            <a:avLst>
              <a:gd name="adj" fmla="val 11765"/>
            </a:avLst>
          </a:prstGeom>
          <a:solidFill>
            <a:srgbClr val="E2E8F0"/>
          </a:solidFill>
          <a:ln/>
        </p:spPr>
      </p:sp>
      <p:sp>
        <p:nvSpPr>
          <p:cNvPr id="9" name="Text 7"/>
          <p:cNvSpPr/>
          <p:nvPr/>
        </p:nvSpPr>
        <p:spPr>
          <a:xfrm>
            <a:off x="5341402"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4. Trim</a:t>
            </a:r>
            <a:endParaRPr lang="en-US" sz="950" dirty="0"/>
          </a:p>
        </p:txBody>
      </p:sp>
      <p:sp>
        <p:nvSpPr>
          <p:cNvPr id="10" name="Shape 8"/>
          <p:cNvSpPr/>
          <p:nvPr/>
        </p:nvSpPr>
        <p:spPr>
          <a:xfrm>
            <a:off x="6938990" y="237744"/>
            <a:ext cx="1506147" cy="310896"/>
          </a:xfrm>
          <a:prstGeom prst="roundRect">
            <a:avLst>
              <a:gd name="adj" fmla="val 11765"/>
            </a:avLst>
          </a:prstGeom>
          <a:solidFill>
            <a:srgbClr val="E2E8F0"/>
          </a:solidFill>
          <a:ln/>
        </p:spPr>
      </p:sp>
      <p:sp>
        <p:nvSpPr>
          <p:cNvPr id="11" name="Text 9"/>
          <p:cNvSpPr/>
          <p:nvPr/>
        </p:nvSpPr>
        <p:spPr>
          <a:xfrm>
            <a:off x="6938990"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5. Select</a:t>
            </a:r>
            <a:endParaRPr lang="en-US" sz="950" dirty="0"/>
          </a:p>
        </p:txBody>
      </p:sp>
      <p:sp>
        <p:nvSpPr>
          <p:cNvPr id="12" name="Shape 10"/>
          <p:cNvSpPr/>
          <p:nvPr/>
        </p:nvSpPr>
        <p:spPr>
          <a:xfrm>
            <a:off x="8536577" y="237744"/>
            <a:ext cx="1506147" cy="310896"/>
          </a:xfrm>
          <a:prstGeom prst="roundRect">
            <a:avLst>
              <a:gd name="adj" fmla="val 11765"/>
            </a:avLst>
          </a:prstGeom>
          <a:solidFill>
            <a:srgbClr val="E2E8F0"/>
          </a:solidFill>
          <a:ln/>
        </p:spPr>
      </p:sp>
      <p:sp>
        <p:nvSpPr>
          <p:cNvPr id="13" name="Text 11"/>
          <p:cNvSpPr/>
          <p:nvPr/>
        </p:nvSpPr>
        <p:spPr>
          <a:xfrm>
            <a:off x="8536577"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6. Diagnose</a:t>
            </a:r>
            <a:endParaRPr lang="en-US" sz="950" dirty="0"/>
          </a:p>
        </p:txBody>
      </p:sp>
      <p:sp>
        <p:nvSpPr>
          <p:cNvPr id="14" name="Shape 12"/>
          <p:cNvSpPr/>
          <p:nvPr/>
        </p:nvSpPr>
        <p:spPr>
          <a:xfrm>
            <a:off x="10134165" y="237744"/>
            <a:ext cx="1506147" cy="310896"/>
          </a:xfrm>
          <a:prstGeom prst="roundRect">
            <a:avLst>
              <a:gd name="adj" fmla="val 11765"/>
            </a:avLst>
          </a:prstGeom>
          <a:solidFill>
            <a:srgbClr val="E2E8F0"/>
          </a:solidFill>
          <a:ln/>
        </p:spPr>
      </p:sp>
      <p:sp>
        <p:nvSpPr>
          <p:cNvPr id="15" name="Text 13"/>
          <p:cNvSpPr/>
          <p:nvPr/>
        </p:nvSpPr>
        <p:spPr>
          <a:xfrm>
            <a:off x="10134165"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7. Predict</a:t>
            </a:r>
            <a:endParaRPr lang="en-US" sz="950" dirty="0"/>
          </a:p>
        </p:txBody>
      </p:sp>
      <p:sp>
        <p:nvSpPr>
          <p:cNvPr id="16" name="Text 14"/>
          <p:cNvSpPr/>
          <p:nvPr/>
        </p:nvSpPr>
        <p:spPr>
          <a:xfrm>
            <a:off x="548640" y="585216"/>
            <a:ext cx="11091672" cy="228600"/>
          </a:xfrm>
          <a:prstGeom prst="rect">
            <a:avLst/>
          </a:prstGeom>
          <a:noFill/>
          <a:ln/>
        </p:spPr>
        <p:txBody>
          <a:bodyPr wrap="square" lIns="0" tIns="0" rIns="0" bIns="0" rtlCol="0" anchor="ctr"/>
          <a:lstStyle/>
          <a:p>
            <a:pPr algn="l" indent="0" marL="0">
              <a:buNone/>
            </a:pPr>
            <a:r>
              <a:rPr lang="en-US" sz="1000" i="1" dirty="0">
                <a:solidFill>
                  <a:srgbClr val="2C6E8F"/>
                </a:solidFill>
                <a:latin typeface="Calibri" pitchFamily="34" charset="0"/>
                <a:ea typeface="Calibri" pitchFamily="34" charset="-122"/>
                <a:cs typeface="Calibri" pitchFamily="34" charset="-120"/>
              </a:rPr>
              <a:t>↳ Reference — available at every step</a:t>
            </a:r>
            <a:endParaRPr lang="en-US" sz="1000" dirty="0"/>
          </a:p>
        </p:txBody>
      </p:sp>
      <p:sp>
        <p:nvSpPr>
          <p:cNvPr id="17" name="Text 15"/>
          <p:cNvSpPr/>
          <p:nvPr/>
        </p:nvSpPr>
        <p:spPr>
          <a:xfrm>
            <a:off x="548640" y="2103120"/>
            <a:ext cx="11091672" cy="914400"/>
          </a:xfrm>
          <a:prstGeom prst="rect">
            <a:avLst/>
          </a:prstGeom>
          <a:noFill/>
          <a:ln/>
        </p:spPr>
        <p:txBody>
          <a:bodyPr wrap="square" lIns="0" tIns="0" rIns="0" bIns="0" rtlCol="0" anchor="ctr"/>
          <a:lstStyle/>
          <a:p>
            <a:pPr algn="ctr" indent="0" marL="0">
              <a:buNone/>
            </a:pPr>
            <a:r>
              <a:rPr lang="en-US" sz="3000" b="1" dirty="0">
                <a:solidFill>
                  <a:srgbClr val="1E293B"/>
                </a:solidFill>
                <a:latin typeface="Calibri" pitchFamily="34" charset="0"/>
                <a:ea typeface="Calibri" pitchFamily="34" charset="-122"/>
                <a:cs typeface="Calibri" pitchFamily="34" charset="-120"/>
              </a:rPr>
              <a:t>The library documents itself</a:t>
            </a:r>
            <a:endParaRPr lang="en-US" sz="3000" dirty="0"/>
          </a:p>
        </p:txBody>
      </p:sp>
      <p:sp>
        <p:nvSpPr>
          <p:cNvPr id="18" name="Text 16"/>
          <p:cNvSpPr/>
          <p:nvPr/>
        </p:nvSpPr>
        <p:spPr>
          <a:xfrm>
            <a:off x="1645920" y="3108960"/>
            <a:ext cx="8897112" cy="822960"/>
          </a:xfrm>
          <a:prstGeom prst="rect">
            <a:avLst/>
          </a:prstGeom>
          <a:noFill/>
          <a:ln/>
        </p:spPr>
        <p:txBody>
          <a:bodyPr wrap="square" lIns="0" tIns="0" rIns="0" bIns="0" rtlCol="0" anchor="t"/>
          <a:lstStyle/>
          <a:p>
            <a:pPr algn="ctr" indent="0" marL="0">
              <a:buNone/>
            </a:pPr>
            <a:r>
              <a:rPr lang="en-US" sz="1700" dirty="0">
                <a:solidFill>
                  <a:srgbClr val="334155"/>
                </a:solidFill>
                <a:latin typeface="Calibri" pitchFamily="34" charset="0"/>
                <a:ea typeface="Calibri" pitchFamily="34" charset="-122"/>
                <a:cs typeface="Calibri" pitchFamily="34" charset="-120"/>
              </a:rPr>
              <a:t>Forget what a statistic means, or where its cutoff is? It's in the workbook, beside the function that computes it.</a:t>
            </a:r>
            <a:endParaRPr lang="en-US" sz="1700" dirty="0"/>
          </a:p>
        </p:txBody>
      </p:sp>
      <p:sp>
        <p:nvSpPr>
          <p:cNvPr id="19" name="Text 17"/>
          <p:cNvSpPr/>
          <p:nvPr/>
        </p:nvSpPr>
        <p:spPr>
          <a:xfrm>
            <a:off x="548640" y="6126480"/>
            <a:ext cx="11091672" cy="365760"/>
          </a:xfrm>
          <a:prstGeom prst="rect">
            <a:avLst/>
          </a:prstGeom>
          <a:noFill/>
          <a:ln/>
        </p:spPr>
        <p:txBody>
          <a:bodyPr wrap="square" lIns="0" tIns="0" rIns="0" bIns="0" rtlCol="0" anchor="ctr"/>
          <a:lstStyle/>
          <a:p>
            <a:pPr algn="ctr" indent="0" marL="0">
              <a:buNone/>
            </a:pPr>
            <a:r>
              <a:rPr lang="en-US" sz="1200" i="1" dirty="0">
                <a:solidFill>
                  <a:srgbClr val="2C6E8F"/>
                </a:solidFill>
                <a:latin typeface="Calibri" pitchFamily="34" charset="0"/>
                <a:ea typeface="Calibri" pitchFamily="34" charset="-122"/>
                <a:cs typeface="Calibri" pitchFamily="34" charset="-120"/>
              </a:rPr>
              <a:t>▶  live in Excel — open the Cooks_Distance entry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237744"/>
            <a:ext cx="1506147" cy="310896"/>
          </a:xfrm>
          <a:prstGeom prst="roundRect">
            <a:avLst>
              <a:gd name="adj" fmla="val 11765"/>
            </a:avLst>
          </a:prstGeom>
          <a:solidFill>
            <a:srgbClr val="E2E8F0"/>
          </a:solidFill>
          <a:ln/>
        </p:spPr>
      </p:sp>
      <p:sp>
        <p:nvSpPr>
          <p:cNvPr id="3" name="Text 1"/>
          <p:cNvSpPr/>
          <p:nvPr/>
        </p:nvSpPr>
        <p:spPr>
          <a:xfrm>
            <a:off x="548640"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1. Data</a:t>
            </a:r>
            <a:endParaRPr lang="en-US" sz="950" dirty="0"/>
          </a:p>
        </p:txBody>
      </p:sp>
      <p:sp>
        <p:nvSpPr>
          <p:cNvPr id="4" name="Shape 2"/>
          <p:cNvSpPr/>
          <p:nvPr/>
        </p:nvSpPr>
        <p:spPr>
          <a:xfrm>
            <a:off x="2146227" y="237744"/>
            <a:ext cx="1506147" cy="310896"/>
          </a:xfrm>
          <a:prstGeom prst="roundRect">
            <a:avLst>
              <a:gd name="adj" fmla="val 11765"/>
            </a:avLst>
          </a:prstGeom>
          <a:solidFill>
            <a:srgbClr val="2C6E8F"/>
          </a:solidFill>
          <a:ln/>
        </p:spPr>
      </p:sp>
      <p:sp>
        <p:nvSpPr>
          <p:cNvPr id="5" name="Text 3"/>
          <p:cNvSpPr/>
          <p:nvPr/>
        </p:nvSpPr>
        <p:spPr>
          <a:xfrm>
            <a:off x="2146227" y="237744"/>
            <a:ext cx="1506147"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Fit</a:t>
            </a:r>
            <a:endParaRPr lang="en-US" sz="950" dirty="0"/>
          </a:p>
        </p:txBody>
      </p:sp>
      <p:sp>
        <p:nvSpPr>
          <p:cNvPr id="6" name="Shape 4"/>
          <p:cNvSpPr/>
          <p:nvPr/>
        </p:nvSpPr>
        <p:spPr>
          <a:xfrm>
            <a:off x="3743815" y="237744"/>
            <a:ext cx="1506147" cy="310896"/>
          </a:xfrm>
          <a:prstGeom prst="roundRect">
            <a:avLst>
              <a:gd name="adj" fmla="val 11765"/>
            </a:avLst>
          </a:prstGeom>
          <a:solidFill>
            <a:srgbClr val="E2E8F0"/>
          </a:solidFill>
          <a:ln/>
        </p:spPr>
      </p:sp>
      <p:sp>
        <p:nvSpPr>
          <p:cNvPr id="7" name="Text 5"/>
          <p:cNvSpPr/>
          <p:nvPr/>
        </p:nvSpPr>
        <p:spPr>
          <a:xfrm>
            <a:off x="3743815"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3. Inference</a:t>
            </a:r>
            <a:endParaRPr lang="en-US" sz="950" dirty="0"/>
          </a:p>
        </p:txBody>
      </p:sp>
      <p:sp>
        <p:nvSpPr>
          <p:cNvPr id="8" name="Shape 6"/>
          <p:cNvSpPr/>
          <p:nvPr/>
        </p:nvSpPr>
        <p:spPr>
          <a:xfrm>
            <a:off x="5341402" y="237744"/>
            <a:ext cx="1506147" cy="310896"/>
          </a:xfrm>
          <a:prstGeom prst="roundRect">
            <a:avLst>
              <a:gd name="adj" fmla="val 11765"/>
            </a:avLst>
          </a:prstGeom>
          <a:solidFill>
            <a:srgbClr val="E2E8F0"/>
          </a:solidFill>
          <a:ln/>
        </p:spPr>
      </p:sp>
      <p:sp>
        <p:nvSpPr>
          <p:cNvPr id="9" name="Text 7"/>
          <p:cNvSpPr/>
          <p:nvPr/>
        </p:nvSpPr>
        <p:spPr>
          <a:xfrm>
            <a:off x="5341402"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4. Trim</a:t>
            </a:r>
            <a:endParaRPr lang="en-US" sz="950" dirty="0"/>
          </a:p>
        </p:txBody>
      </p:sp>
      <p:sp>
        <p:nvSpPr>
          <p:cNvPr id="10" name="Shape 8"/>
          <p:cNvSpPr/>
          <p:nvPr/>
        </p:nvSpPr>
        <p:spPr>
          <a:xfrm>
            <a:off x="6938990" y="237744"/>
            <a:ext cx="1506147" cy="310896"/>
          </a:xfrm>
          <a:prstGeom prst="roundRect">
            <a:avLst>
              <a:gd name="adj" fmla="val 11765"/>
            </a:avLst>
          </a:prstGeom>
          <a:solidFill>
            <a:srgbClr val="E2E8F0"/>
          </a:solidFill>
          <a:ln/>
        </p:spPr>
      </p:sp>
      <p:sp>
        <p:nvSpPr>
          <p:cNvPr id="11" name="Text 9"/>
          <p:cNvSpPr/>
          <p:nvPr/>
        </p:nvSpPr>
        <p:spPr>
          <a:xfrm>
            <a:off x="6938990"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5. Select</a:t>
            </a:r>
            <a:endParaRPr lang="en-US" sz="950" dirty="0"/>
          </a:p>
        </p:txBody>
      </p:sp>
      <p:sp>
        <p:nvSpPr>
          <p:cNvPr id="12" name="Shape 10"/>
          <p:cNvSpPr/>
          <p:nvPr/>
        </p:nvSpPr>
        <p:spPr>
          <a:xfrm>
            <a:off x="8536577" y="237744"/>
            <a:ext cx="1506147" cy="310896"/>
          </a:xfrm>
          <a:prstGeom prst="roundRect">
            <a:avLst>
              <a:gd name="adj" fmla="val 11765"/>
            </a:avLst>
          </a:prstGeom>
          <a:solidFill>
            <a:srgbClr val="E2E8F0"/>
          </a:solidFill>
          <a:ln/>
        </p:spPr>
      </p:sp>
      <p:sp>
        <p:nvSpPr>
          <p:cNvPr id="13" name="Text 11"/>
          <p:cNvSpPr/>
          <p:nvPr/>
        </p:nvSpPr>
        <p:spPr>
          <a:xfrm>
            <a:off x="8536577"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6. Diagnose</a:t>
            </a:r>
            <a:endParaRPr lang="en-US" sz="950" dirty="0"/>
          </a:p>
        </p:txBody>
      </p:sp>
      <p:sp>
        <p:nvSpPr>
          <p:cNvPr id="14" name="Shape 12"/>
          <p:cNvSpPr/>
          <p:nvPr/>
        </p:nvSpPr>
        <p:spPr>
          <a:xfrm>
            <a:off x="10134165" y="237744"/>
            <a:ext cx="1506147" cy="310896"/>
          </a:xfrm>
          <a:prstGeom prst="roundRect">
            <a:avLst>
              <a:gd name="adj" fmla="val 11765"/>
            </a:avLst>
          </a:prstGeom>
          <a:solidFill>
            <a:srgbClr val="E2E8F0"/>
          </a:solidFill>
          <a:ln/>
        </p:spPr>
      </p:sp>
      <p:sp>
        <p:nvSpPr>
          <p:cNvPr id="15" name="Text 13"/>
          <p:cNvSpPr/>
          <p:nvPr/>
        </p:nvSpPr>
        <p:spPr>
          <a:xfrm>
            <a:off x="10134165"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7. Predict</a:t>
            </a:r>
            <a:endParaRPr lang="en-US" sz="950" dirty="0"/>
          </a:p>
        </p:txBody>
      </p:sp>
      <p:sp>
        <p:nvSpPr>
          <p:cNvPr id="16" name="Text 14"/>
          <p:cNvSpPr/>
          <p:nvPr/>
        </p:nvSpPr>
        <p:spPr>
          <a:xfrm>
            <a:off x="548640" y="2011680"/>
            <a:ext cx="11091672" cy="1005840"/>
          </a:xfrm>
          <a:prstGeom prst="rect">
            <a:avLst/>
          </a:prstGeom>
          <a:noFill/>
          <a:ln/>
        </p:spPr>
        <p:txBody>
          <a:bodyPr wrap="square" lIns="0" tIns="0" rIns="0" bIns="0" rtlCol="0" anchor="ctr"/>
          <a:lstStyle/>
          <a:p>
            <a:pPr algn="ctr" indent="0" marL="0">
              <a:buNone/>
            </a:pPr>
            <a:r>
              <a:rPr lang="en-US" sz="3000" b="1" dirty="0">
                <a:solidFill>
                  <a:srgbClr val="1E293B"/>
                </a:solidFill>
                <a:latin typeface="Calibri" pitchFamily="34" charset="0"/>
                <a:ea typeface="Calibri" pitchFamily="34" charset="-122"/>
                <a:cs typeface="Calibri" pitchFamily="34" charset="-120"/>
              </a:rPr>
              <a:t>A CER is a few keystrokes</a:t>
            </a:r>
            <a:endParaRPr lang="en-US" sz="3000" dirty="0"/>
          </a:p>
        </p:txBody>
      </p:sp>
      <p:sp>
        <p:nvSpPr>
          <p:cNvPr id="17" name="Text 15"/>
          <p:cNvSpPr/>
          <p:nvPr/>
        </p:nvSpPr>
        <p:spPr>
          <a:xfrm>
            <a:off x="1645920" y="3108960"/>
            <a:ext cx="8897112" cy="822960"/>
          </a:xfrm>
          <a:prstGeom prst="rect">
            <a:avLst/>
          </a:prstGeom>
          <a:noFill/>
          <a:ln/>
        </p:spPr>
        <p:txBody>
          <a:bodyPr wrap="square" lIns="0" tIns="0" rIns="0" bIns="0" rtlCol="0" anchor="t"/>
          <a:lstStyle/>
          <a:p>
            <a:pPr algn="ctr" indent="0" marL="0">
              <a:buNone/>
            </a:pPr>
            <a:r>
              <a:rPr lang="en-US" sz="1700" dirty="0">
                <a:solidFill>
                  <a:srgbClr val="334155"/>
                </a:solidFill>
                <a:latin typeface="Calibri" pitchFamily="34" charset="0"/>
                <a:ea typeface="Calibri" pitchFamily="34" charset="-122"/>
                <a:cs typeface="Calibri" pitchFamily="34" charset="-120"/>
              </a:rPr>
              <a:t>One driver to many — named functions composed over your columns, no setup.</a:t>
            </a:r>
            <a:endParaRPr lang="en-US" sz="1700" dirty="0"/>
          </a:p>
        </p:txBody>
      </p:sp>
      <p:sp>
        <p:nvSpPr>
          <p:cNvPr id="18" name="Shape 16"/>
          <p:cNvSpPr/>
          <p:nvPr/>
        </p:nvSpPr>
        <p:spPr>
          <a:xfrm>
            <a:off x="3717036" y="4114800"/>
            <a:ext cx="4754880" cy="548640"/>
          </a:xfrm>
          <a:prstGeom prst="roundRect">
            <a:avLst>
              <a:gd name="adj" fmla="val 8333"/>
            </a:avLst>
          </a:prstGeom>
          <a:solidFill>
            <a:srgbClr val="F1F5F9"/>
          </a:solidFill>
          <a:ln/>
        </p:spPr>
      </p:sp>
      <p:sp>
        <p:nvSpPr>
          <p:cNvPr id="19" name="Text 17"/>
          <p:cNvSpPr/>
          <p:nvPr/>
        </p:nvSpPr>
        <p:spPr>
          <a:xfrm>
            <a:off x="3808476" y="4114800"/>
            <a:ext cx="4572000" cy="548640"/>
          </a:xfrm>
          <a:prstGeom prst="rect">
            <a:avLst/>
          </a:prstGeom>
          <a:noFill/>
          <a:ln/>
        </p:spPr>
        <p:txBody>
          <a:bodyPr wrap="square" lIns="0" tIns="0" rIns="0" bIns="0" rtlCol="0" anchor="ctr"/>
          <a:lstStyle/>
          <a:p>
            <a:pPr algn="l" indent="0" marL="0">
              <a:buNone/>
            </a:pPr>
            <a:r>
              <a:rPr lang="en-US" sz="1300" dirty="0">
                <a:solidFill>
                  <a:srgbClr val="0F172A"/>
                </a:solidFill>
                <a:latin typeface="Consolas" pitchFamily="34" charset="0"/>
                <a:ea typeface="Consolas" pitchFamily="34" charset="-122"/>
                <a:cs typeface="Consolas" pitchFamily="34" charset="-120"/>
              </a:rPr>
              <a:t>=Coefficients( [Adult Mortality], y, TRUE, fil )</a:t>
            </a:r>
            <a:endParaRPr lang="en-US" sz="1300" dirty="0"/>
          </a:p>
        </p:txBody>
      </p:sp>
      <p:sp>
        <p:nvSpPr>
          <p:cNvPr id="20" name="Text 18"/>
          <p:cNvSpPr/>
          <p:nvPr/>
        </p:nvSpPr>
        <p:spPr>
          <a:xfrm>
            <a:off x="548640" y="6126480"/>
            <a:ext cx="11091672" cy="365760"/>
          </a:xfrm>
          <a:prstGeom prst="rect">
            <a:avLst/>
          </a:prstGeom>
          <a:noFill/>
          <a:ln/>
        </p:spPr>
        <p:txBody>
          <a:bodyPr wrap="square" lIns="0" tIns="0" rIns="0" bIns="0" rtlCol="0" anchor="ctr"/>
          <a:lstStyle/>
          <a:p>
            <a:pPr algn="ctr" indent="0" marL="0">
              <a:buNone/>
            </a:pPr>
            <a:r>
              <a:rPr lang="en-US" sz="1200" i="1" dirty="0">
                <a:solidFill>
                  <a:srgbClr val="2C6E8F"/>
                </a:solidFill>
                <a:latin typeface="Calibri" pitchFamily="34" charset="0"/>
                <a:ea typeface="Calibri" pitchFamily="34" charset="-122"/>
                <a:cs typeface="Calibri" pitchFamily="34" charset="-120"/>
              </a:rPr>
              <a:t>▶  live in Excel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237744"/>
            <a:ext cx="1506147" cy="310896"/>
          </a:xfrm>
          <a:prstGeom prst="roundRect">
            <a:avLst>
              <a:gd name="adj" fmla="val 11765"/>
            </a:avLst>
          </a:prstGeom>
          <a:solidFill>
            <a:srgbClr val="E2E8F0"/>
          </a:solidFill>
          <a:ln/>
        </p:spPr>
      </p:sp>
      <p:sp>
        <p:nvSpPr>
          <p:cNvPr id="3" name="Text 1"/>
          <p:cNvSpPr/>
          <p:nvPr/>
        </p:nvSpPr>
        <p:spPr>
          <a:xfrm>
            <a:off x="548640"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1. Data</a:t>
            </a:r>
            <a:endParaRPr lang="en-US" sz="950" dirty="0"/>
          </a:p>
        </p:txBody>
      </p:sp>
      <p:sp>
        <p:nvSpPr>
          <p:cNvPr id="4" name="Shape 2"/>
          <p:cNvSpPr/>
          <p:nvPr/>
        </p:nvSpPr>
        <p:spPr>
          <a:xfrm>
            <a:off x="2146227" y="237744"/>
            <a:ext cx="1506147" cy="310896"/>
          </a:xfrm>
          <a:prstGeom prst="roundRect">
            <a:avLst>
              <a:gd name="adj" fmla="val 11765"/>
            </a:avLst>
          </a:prstGeom>
          <a:solidFill>
            <a:srgbClr val="E2E8F0"/>
          </a:solidFill>
          <a:ln/>
        </p:spPr>
      </p:sp>
      <p:sp>
        <p:nvSpPr>
          <p:cNvPr id="5" name="Text 3"/>
          <p:cNvSpPr/>
          <p:nvPr/>
        </p:nvSpPr>
        <p:spPr>
          <a:xfrm>
            <a:off x="2146227"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2. Fit</a:t>
            </a:r>
            <a:endParaRPr lang="en-US" sz="950" dirty="0"/>
          </a:p>
        </p:txBody>
      </p:sp>
      <p:sp>
        <p:nvSpPr>
          <p:cNvPr id="6" name="Shape 4"/>
          <p:cNvSpPr/>
          <p:nvPr/>
        </p:nvSpPr>
        <p:spPr>
          <a:xfrm>
            <a:off x="3743815" y="237744"/>
            <a:ext cx="1506147" cy="310896"/>
          </a:xfrm>
          <a:prstGeom prst="roundRect">
            <a:avLst>
              <a:gd name="adj" fmla="val 11765"/>
            </a:avLst>
          </a:prstGeom>
          <a:solidFill>
            <a:srgbClr val="2C6E8F"/>
          </a:solidFill>
          <a:ln/>
        </p:spPr>
      </p:sp>
      <p:sp>
        <p:nvSpPr>
          <p:cNvPr id="7" name="Text 5"/>
          <p:cNvSpPr/>
          <p:nvPr/>
        </p:nvSpPr>
        <p:spPr>
          <a:xfrm>
            <a:off x="3743815" y="237744"/>
            <a:ext cx="1506147"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Inference</a:t>
            </a:r>
            <a:endParaRPr lang="en-US" sz="950" dirty="0"/>
          </a:p>
        </p:txBody>
      </p:sp>
      <p:sp>
        <p:nvSpPr>
          <p:cNvPr id="8" name="Shape 6"/>
          <p:cNvSpPr/>
          <p:nvPr/>
        </p:nvSpPr>
        <p:spPr>
          <a:xfrm>
            <a:off x="5341402" y="237744"/>
            <a:ext cx="1506147" cy="310896"/>
          </a:xfrm>
          <a:prstGeom prst="roundRect">
            <a:avLst>
              <a:gd name="adj" fmla="val 11765"/>
            </a:avLst>
          </a:prstGeom>
          <a:solidFill>
            <a:srgbClr val="E2E8F0"/>
          </a:solidFill>
          <a:ln/>
        </p:spPr>
      </p:sp>
      <p:sp>
        <p:nvSpPr>
          <p:cNvPr id="9" name="Text 7"/>
          <p:cNvSpPr/>
          <p:nvPr/>
        </p:nvSpPr>
        <p:spPr>
          <a:xfrm>
            <a:off x="5341402"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4. Trim</a:t>
            </a:r>
            <a:endParaRPr lang="en-US" sz="950" dirty="0"/>
          </a:p>
        </p:txBody>
      </p:sp>
      <p:sp>
        <p:nvSpPr>
          <p:cNvPr id="10" name="Shape 8"/>
          <p:cNvSpPr/>
          <p:nvPr/>
        </p:nvSpPr>
        <p:spPr>
          <a:xfrm>
            <a:off x="6938990" y="237744"/>
            <a:ext cx="1506147" cy="310896"/>
          </a:xfrm>
          <a:prstGeom prst="roundRect">
            <a:avLst>
              <a:gd name="adj" fmla="val 11765"/>
            </a:avLst>
          </a:prstGeom>
          <a:solidFill>
            <a:srgbClr val="E2E8F0"/>
          </a:solidFill>
          <a:ln/>
        </p:spPr>
      </p:sp>
      <p:sp>
        <p:nvSpPr>
          <p:cNvPr id="11" name="Text 9"/>
          <p:cNvSpPr/>
          <p:nvPr/>
        </p:nvSpPr>
        <p:spPr>
          <a:xfrm>
            <a:off x="6938990"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5. Select</a:t>
            </a:r>
            <a:endParaRPr lang="en-US" sz="950" dirty="0"/>
          </a:p>
        </p:txBody>
      </p:sp>
      <p:sp>
        <p:nvSpPr>
          <p:cNvPr id="12" name="Shape 10"/>
          <p:cNvSpPr/>
          <p:nvPr/>
        </p:nvSpPr>
        <p:spPr>
          <a:xfrm>
            <a:off x="8536577" y="237744"/>
            <a:ext cx="1506147" cy="310896"/>
          </a:xfrm>
          <a:prstGeom prst="roundRect">
            <a:avLst>
              <a:gd name="adj" fmla="val 11765"/>
            </a:avLst>
          </a:prstGeom>
          <a:solidFill>
            <a:srgbClr val="E2E8F0"/>
          </a:solidFill>
          <a:ln/>
        </p:spPr>
      </p:sp>
      <p:sp>
        <p:nvSpPr>
          <p:cNvPr id="13" name="Text 11"/>
          <p:cNvSpPr/>
          <p:nvPr/>
        </p:nvSpPr>
        <p:spPr>
          <a:xfrm>
            <a:off x="8536577"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6. Diagnose</a:t>
            </a:r>
            <a:endParaRPr lang="en-US" sz="950" dirty="0"/>
          </a:p>
        </p:txBody>
      </p:sp>
      <p:sp>
        <p:nvSpPr>
          <p:cNvPr id="14" name="Shape 12"/>
          <p:cNvSpPr/>
          <p:nvPr/>
        </p:nvSpPr>
        <p:spPr>
          <a:xfrm>
            <a:off x="10134165" y="237744"/>
            <a:ext cx="1506147" cy="310896"/>
          </a:xfrm>
          <a:prstGeom prst="roundRect">
            <a:avLst>
              <a:gd name="adj" fmla="val 11765"/>
            </a:avLst>
          </a:prstGeom>
          <a:solidFill>
            <a:srgbClr val="E2E8F0"/>
          </a:solidFill>
          <a:ln/>
        </p:spPr>
      </p:sp>
      <p:sp>
        <p:nvSpPr>
          <p:cNvPr id="15" name="Text 13"/>
          <p:cNvSpPr/>
          <p:nvPr/>
        </p:nvSpPr>
        <p:spPr>
          <a:xfrm>
            <a:off x="10134165"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7. Predict</a:t>
            </a:r>
            <a:endParaRPr lang="en-US" sz="950" dirty="0"/>
          </a:p>
        </p:txBody>
      </p:sp>
      <p:sp>
        <p:nvSpPr>
          <p:cNvPr id="16" name="Text 14"/>
          <p:cNvSpPr/>
          <p:nvPr/>
        </p:nvSpPr>
        <p:spPr>
          <a:xfrm>
            <a:off x="548640" y="2011680"/>
            <a:ext cx="11091672" cy="1005840"/>
          </a:xfrm>
          <a:prstGeom prst="rect">
            <a:avLst/>
          </a:prstGeom>
          <a:noFill/>
          <a:ln/>
        </p:spPr>
        <p:txBody>
          <a:bodyPr wrap="square" lIns="0" tIns="0" rIns="0" bIns="0" rtlCol="0" anchor="ctr"/>
          <a:lstStyle/>
          <a:p>
            <a:pPr algn="ctr" indent="0" marL="0">
              <a:buNone/>
            </a:pPr>
            <a:r>
              <a:rPr lang="en-US" sz="3000" b="1" dirty="0">
                <a:solidFill>
                  <a:srgbClr val="1E293B"/>
                </a:solidFill>
                <a:latin typeface="Calibri" pitchFamily="34" charset="0"/>
                <a:ea typeface="Calibri" pitchFamily="34" charset="-122"/>
                <a:cs typeface="Calibri" pitchFamily="34" charset="-120"/>
              </a:rPr>
              <a:t>Is each driver real?</a:t>
            </a:r>
            <a:endParaRPr lang="en-US" sz="3000" dirty="0"/>
          </a:p>
        </p:txBody>
      </p:sp>
      <p:sp>
        <p:nvSpPr>
          <p:cNvPr id="17" name="Text 15"/>
          <p:cNvSpPr/>
          <p:nvPr/>
        </p:nvSpPr>
        <p:spPr>
          <a:xfrm>
            <a:off x="1645920" y="3108960"/>
            <a:ext cx="8897112" cy="822960"/>
          </a:xfrm>
          <a:prstGeom prst="rect">
            <a:avLst/>
          </a:prstGeom>
          <a:noFill/>
          <a:ln/>
        </p:spPr>
        <p:txBody>
          <a:bodyPr wrap="square" lIns="0" tIns="0" rIns="0" bIns="0" rtlCol="0" anchor="t"/>
          <a:lstStyle/>
          <a:p>
            <a:pPr algn="ctr" indent="0" marL="0">
              <a:buNone/>
            </a:pPr>
            <a:r>
              <a:rPr lang="en-US" sz="1700" dirty="0">
                <a:solidFill>
                  <a:srgbClr val="334155"/>
                </a:solidFill>
                <a:latin typeface="Calibri" pitchFamily="34" charset="0"/>
                <a:ea typeface="Calibri" pitchFamily="34" charset="-122"/>
                <a:cs typeface="Calibri" pitchFamily="34" charset="-120"/>
              </a:rPr>
              <a:t>Estimate, standard error, t, p, and a 95% interval for every coefficient.</a:t>
            </a:r>
            <a:endParaRPr lang="en-US" sz="1700" dirty="0"/>
          </a:p>
        </p:txBody>
      </p:sp>
      <p:sp>
        <p:nvSpPr>
          <p:cNvPr id="18" name="Shape 16"/>
          <p:cNvSpPr/>
          <p:nvPr/>
        </p:nvSpPr>
        <p:spPr>
          <a:xfrm>
            <a:off x="3717036" y="4114800"/>
            <a:ext cx="4754880" cy="548640"/>
          </a:xfrm>
          <a:prstGeom prst="roundRect">
            <a:avLst>
              <a:gd name="adj" fmla="val 8333"/>
            </a:avLst>
          </a:prstGeom>
          <a:solidFill>
            <a:srgbClr val="F1F5F9"/>
          </a:solidFill>
          <a:ln/>
        </p:spPr>
      </p:sp>
      <p:sp>
        <p:nvSpPr>
          <p:cNvPr id="19" name="Text 17"/>
          <p:cNvSpPr/>
          <p:nvPr/>
        </p:nvSpPr>
        <p:spPr>
          <a:xfrm>
            <a:off x="3808476" y="4114800"/>
            <a:ext cx="4572000" cy="548640"/>
          </a:xfrm>
          <a:prstGeom prst="rect">
            <a:avLst/>
          </a:prstGeom>
          <a:noFill/>
          <a:ln/>
        </p:spPr>
        <p:txBody>
          <a:bodyPr wrap="square" lIns="0" tIns="0" rIns="0" bIns="0" rtlCol="0" anchor="ctr"/>
          <a:lstStyle/>
          <a:p>
            <a:pPr algn="l" indent="0" marL="0">
              <a:buNone/>
            </a:pPr>
            <a:r>
              <a:rPr lang="en-US" sz="1300" dirty="0">
                <a:solidFill>
                  <a:srgbClr val="0F172A"/>
                </a:solidFill>
                <a:latin typeface="Consolas" pitchFamily="34" charset="0"/>
                <a:ea typeface="Consolas" pitchFamily="34" charset="-122"/>
                <a:cs typeface="Consolas" pitchFamily="34" charset="-120"/>
              </a:rPr>
              <a:t>toggle  Allow_Intercept (D2)  →  whole sheet recomputes</a:t>
            </a:r>
            <a:endParaRPr lang="en-US" sz="1300" dirty="0"/>
          </a:p>
        </p:txBody>
      </p:sp>
      <p:sp>
        <p:nvSpPr>
          <p:cNvPr id="20" name="Text 18"/>
          <p:cNvSpPr/>
          <p:nvPr/>
        </p:nvSpPr>
        <p:spPr>
          <a:xfrm>
            <a:off x="548640" y="6126480"/>
            <a:ext cx="11091672" cy="365760"/>
          </a:xfrm>
          <a:prstGeom prst="rect">
            <a:avLst/>
          </a:prstGeom>
          <a:noFill/>
          <a:ln/>
        </p:spPr>
        <p:txBody>
          <a:bodyPr wrap="square" lIns="0" tIns="0" rIns="0" bIns="0" rtlCol="0" anchor="ctr"/>
          <a:lstStyle/>
          <a:p>
            <a:pPr algn="ctr" indent="0" marL="0">
              <a:buNone/>
            </a:pPr>
            <a:r>
              <a:rPr lang="en-US" sz="1200" i="1" dirty="0">
                <a:solidFill>
                  <a:srgbClr val="2C6E8F"/>
                </a:solidFill>
                <a:latin typeface="Calibri" pitchFamily="34" charset="0"/>
                <a:ea typeface="Calibri" pitchFamily="34" charset="-122"/>
                <a:cs typeface="Calibri" pitchFamily="34" charset="-120"/>
              </a:rPr>
              <a:t>▶  live in Excel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237744"/>
            <a:ext cx="1506147" cy="310896"/>
          </a:xfrm>
          <a:prstGeom prst="roundRect">
            <a:avLst>
              <a:gd name="adj" fmla="val 11765"/>
            </a:avLst>
          </a:prstGeom>
          <a:solidFill>
            <a:srgbClr val="E2E8F0"/>
          </a:solidFill>
          <a:ln/>
        </p:spPr>
      </p:sp>
      <p:sp>
        <p:nvSpPr>
          <p:cNvPr id="3" name="Text 1"/>
          <p:cNvSpPr/>
          <p:nvPr/>
        </p:nvSpPr>
        <p:spPr>
          <a:xfrm>
            <a:off x="548640"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1. Data</a:t>
            </a:r>
            <a:endParaRPr lang="en-US" sz="950" dirty="0"/>
          </a:p>
        </p:txBody>
      </p:sp>
      <p:sp>
        <p:nvSpPr>
          <p:cNvPr id="4" name="Shape 2"/>
          <p:cNvSpPr/>
          <p:nvPr/>
        </p:nvSpPr>
        <p:spPr>
          <a:xfrm>
            <a:off x="2146227" y="237744"/>
            <a:ext cx="1506147" cy="310896"/>
          </a:xfrm>
          <a:prstGeom prst="roundRect">
            <a:avLst>
              <a:gd name="adj" fmla="val 11765"/>
            </a:avLst>
          </a:prstGeom>
          <a:solidFill>
            <a:srgbClr val="E2E8F0"/>
          </a:solidFill>
          <a:ln/>
        </p:spPr>
      </p:sp>
      <p:sp>
        <p:nvSpPr>
          <p:cNvPr id="5" name="Text 3"/>
          <p:cNvSpPr/>
          <p:nvPr/>
        </p:nvSpPr>
        <p:spPr>
          <a:xfrm>
            <a:off x="2146227"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2. Fit</a:t>
            </a:r>
            <a:endParaRPr lang="en-US" sz="950" dirty="0"/>
          </a:p>
        </p:txBody>
      </p:sp>
      <p:sp>
        <p:nvSpPr>
          <p:cNvPr id="6" name="Shape 4"/>
          <p:cNvSpPr/>
          <p:nvPr/>
        </p:nvSpPr>
        <p:spPr>
          <a:xfrm>
            <a:off x="3743815" y="237744"/>
            <a:ext cx="1506147" cy="310896"/>
          </a:xfrm>
          <a:prstGeom prst="roundRect">
            <a:avLst>
              <a:gd name="adj" fmla="val 11765"/>
            </a:avLst>
          </a:prstGeom>
          <a:solidFill>
            <a:srgbClr val="E2E8F0"/>
          </a:solidFill>
          <a:ln/>
        </p:spPr>
      </p:sp>
      <p:sp>
        <p:nvSpPr>
          <p:cNvPr id="7" name="Text 5"/>
          <p:cNvSpPr/>
          <p:nvPr/>
        </p:nvSpPr>
        <p:spPr>
          <a:xfrm>
            <a:off x="3743815"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3. Inference</a:t>
            </a:r>
            <a:endParaRPr lang="en-US" sz="950" dirty="0"/>
          </a:p>
        </p:txBody>
      </p:sp>
      <p:sp>
        <p:nvSpPr>
          <p:cNvPr id="8" name="Shape 6"/>
          <p:cNvSpPr/>
          <p:nvPr/>
        </p:nvSpPr>
        <p:spPr>
          <a:xfrm>
            <a:off x="5341402" y="237744"/>
            <a:ext cx="1506147" cy="310896"/>
          </a:xfrm>
          <a:prstGeom prst="roundRect">
            <a:avLst>
              <a:gd name="adj" fmla="val 11765"/>
            </a:avLst>
          </a:prstGeom>
          <a:solidFill>
            <a:srgbClr val="2C6E8F"/>
          </a:solidFill>
          <a:ln/>
        </p:spPr>
      </p:sp>
      <p:sp>
        <p:nvSpPr>
          <p:cNvPr id="9" name="Text 7"/>
          <p:cNvSpPr/>
          <p:nvPr/>
        </p:nvSpPr>
        <p:spPr>
          <a:xfrm>
            <a:off x="5341402" y="237744"/>
            <a:ext cx="1506147"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Trim</a:t>
            </a:r>
            <a:endParaRPr lang="en-US" sz="950" dirty="0"/>
          </a:p>
        </p:txBody>
      </p:sp>
      <p:sp>
        <p:nvSpPr>
          <p:cNvPr id="10" name="Shape 8"/>
          <p:cNvSpPr/>
          <p:nvPr/>
        </p:nvSpPr>
        <p:spPr>
          <a:xfrm>
            <a:off x="6938990" y="237744"/>
            <a:ext cx="1506147" cy="310896"/>
          </a:xfrm>
          <a:prstGeom prst="roundRect">
            <a:avLst>
              <a:gd name="adj" fmla="val 11765"/>
            </a:avLst>
          </a:prstGeom>
          <a:solidFill>
            <a:srgbClr val="E2E8F0"/>
          </a:solidFill>
          <a:ln/>
        </p:spPr>
      </p:sp>
      <p:sp>
        <p:nvSpPr>
          <p:cNvPr id="11" name="Text 9"/>
          <p:cNvSpPr/>
          <p:nvPr/>
        </p:nvSpPr>
        <p:spPr>
          <a:xfrm>
            <a:off x="6938990"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5. Select</a:t>
            </a:r>
            <a:endParaRPr lang="en-US" sz="950" dirty="0"/>
          </a:p>
        </p:txBody>
      </p:sp>
      <p:sp>
        <p:nvSpPr>
          <p:cNvPr id="12" name="Shape 10"/>
          <p:cNvSpPr/>
          <p:nvPr/>
        </p:nvSpPr>
        <p:spPr>
          <a:xfrm>
            <a:off x="8536577" y="237744"/>
            <a:ext cx="1506147" cy="310896"/>
          </a:xfrm>
          <a:prstGeom prst="roundRect">
            <a:avLst>
              <a:gd name="adj" fmla="val 11765"/>
            </a:avLst>
          </a:prstGeom>
          <a:solidFill>
            <a:srgbClr val="E2E8F0"/>
          </a:solidFill>
          <a:ln/>
        </p:spPr>
      </p:sp>
      <p:sp>
        <p:nvSpPr>
          <p:cNvPr id="13" name="Text 11"/>
          <p:cNvSpPr/>
          <p:nvPr/>
        </p:nvSpPr>
        <p:spPr>
          <a:xfrm>
            <a:off x="8536577"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6. Diagnose</a:t>
            </a:r>
            <a:endParaRPr lang="en-US" sz="950" dirty="0"/>
          </a:p>
        </p:txBody>
      </p:sp>
      <p:sp>
        <p:nvSpPr>
          <p:cNvPr id="14" name="Shape 12"/>
          <p:cNvSpPr/>
          <p:nvPr/>
        </p:nvSpPr>
        <p:spPr>
          <a:xfrm>
            <a:off x="10134165" y="237744"/>
            <a:ext cx="1506147" cy="310896"/>
          </a:xfrm>
          <a:prstGeom prst="roundRect">
            <a:avLst>
              <a:gd name="adj" fmla="val 11765"/>
            </a:avLst>
          </a:prstGeom>
          <a:solidFill>
            <a:srgbClr val="E2E8F0"/>
          </a:solidFill>
          <a:ln/>
        </p:spPr>
      </p:sp>
      <p:sp>
        <p:nvSpPr>
          <p:cNvPr id="15" name="Text 13"/>
          <p:cNvSpPr/>
          <p:nvPr/>
        </p:nvSpPr>
        <p:spPr>
          <a:xfrm>
            <a:off x="10134165" y="237744"/>
            <a:ext cx="1506147" cy="31089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7. Predict</a:t>
            </a:r>
            <a:endParaRPr lang="en-US" sz="950" dirty="0"/>
          </a:p>
        </p:txBody>
      </p:sp>
      <p:sp>
        <p:nvSpPr>
          <p:cNvPr id="16" name="Text 14"/>
          <p:cNvSpPr/>
          <p:nvPr/>
        </p:nvSpPr>
        <p:spPr>
          <a:xfrm>
            <a:off x="548640" y="2011680"/>
            <a:ext cx="11091672" cy="1005840"/>
          </a:xfrm>
          <a:prstGeom prst="rect">
            <a:avLst/>
          </a:prstGeom>
          <a:noFill/>
          <a:ln/>
        </p:spPr>
        <p:txBody>
          <a:bodyPr wrap="square" lIns="0" tIns="0" rIns="0" bIns="0" rtlCol="0" anchor="ctr"/>
          <a:lstStyle/>
          <a:p>
            <a:pPr algn="ctr" indent="0" marL="0">
              <a:buNone/>
            </a:pPr>
            <a:r>
              <a:rPr lang="en-US" sz="3000" b="1" dirty="0">
                <a:solidFill>
                  <a:srgbClr val="1E293B"/>
                </a:solidFill>
                <a:latin typeface="Calibri" pitchFamily="34" charset="0"/>
                <a:ea typeface="Calibri" pitchFamily="34" charset="-122"/>
                <a:cs typeface="Calibri" pitchFamily="34" charset="-120"/>
              </a:rPr>
              <a:t>Correlated drivers, flagged — trimmed in one edit</a:t>
            </a:r>
            <a:endParaRPr lang="en-US" sz="3000" dirty="0"/>
          </a:p>
        </p:txBody>
      </p:sp>
      <p:sp>
        <p:nvSpPr>
          <p:cNvPr id="17" name="Text 15"/>
          <p:cNvSpPr/>
          <p:nvPr/>
        </p:nvSpPr>
        <p:spPr>
          <a:xfrm>
            <a:off x="1645920" y="3108960"/>
            <a:ext cx="8897112" cy="822960"/>
          </a:xfrm>
          <a:prstGeom prst="rect">
            <a:avLst/>
          </a:prstGeom>
          <a:noFill/>
          <a:ln/>
        </p:spPr>
        <p:txBody>
          <a:bodyPr wrap="square" lIns="0" tIns="0" rIns="0" bIns="0" rtlCol="0" anchor="t"/>
          <a:lstStyle/>
          <a:p>
            <a:pPr algn="ctr" indent="0" marL="0">
              <a:buNone/>
            </a:pPr>
            <a:r>
              <a:rPr lang="en-US" sz="1700" dirty="0">
                <a:solidFill>
                  <a:srgbClr val="334155"/>
                </a:solidFill>
                <a:latin typeface="Calibri" pitchFamily="34" charset="0"/>
                <a:ea typeface="Calibri" pitchFamily="34" charset="-122"/>
                <a:cs typeface="Calibri" pitchFamily="34" charset="-120"/>
              </a:rPr>
              <a:t>VIF surfaces redundant drivers; dropping them is a single change, and everything recomputes.</a:t>
            </a:r>
            <a:endParaRPr lang="en-US" sz="1700" dirty="0"/>
          </a:p>
        </p:txBody>
      </p:sp>
      <p:sp>
        <p:nvSpPr>
          <p:cNvPr id="18" name="Shape 16"/>
          <p:cNvSpPr/>
          <p:nvPr/>
        </p:nvSpPr>
        <p:spPr>
          <a:xfrm>
            <a:off x="3717036" y="4114800"/>
            <a:ext cx="4754880" cy="548640"/>
          </a:xfrm>
          <a:prstGeom prst="roundRect">
            <a:avLst>
              <a:gd name="adj" fmla="val 8333"/>
            </a:avLst>
          </a:prstGeom>
          <a:solidFill>
            <a:srgbClr val="F1F5F9"/>
          </a:solidFill>
          <a:ln/>
        </p:spPr>
      </p:sp>
      <p:sp>
        <p:nvSpPr>
          <p:cNvPr id="19" name="Text 17"/>
          <p:cNvSpPr/>
          <p:nvPr/>
        </p:nvSpPr>
        <p:spPr>
          <a:xfrm>
            <a:off x="3808476" y="4114800"/>
            <a:ext cx="4572000" cy="548640"/>
          </a:xfrm>
          <a:prstGeom prst="rect">
            <a:avLst/>
          </a:prstGeom>
          <a:noFill/>
          <a:ln/>
        </p:spPr>
        <p:txBody>
          <a:bodyPr wrap="square" lIns="0" tIns="0" rIns="0" bIns="0" rtlCol="0" anchor="ctr"/>
          <a:lstStyle/>
          <a:p>
            <a:pPr algn="l" indent="0" marL="0">
              <a:buNone/>
            </a:pPr>
            <a:r>
              <a:rPr lang="en-US" sz="1300" dirty="0">
                <a:solidFill>
                  <a:srgbClr val="0F172A"/>
                </a:solidFill>
                <a:latin typeface="Consolas" pitchFamily="34" charset="0"/>
                <a:ea typeface="Consolas" pitchFamily="34" charset="-122"/>
                <a:cs typeface="Consolas" pitchFamily="34" charset="-120"/>
              </a:rPr>
              <a:t>VIF &gt; 10  →  drop  →  edit x_s</a:t>
            </a:r>
            <a:endParaRPr lang="en-US" sz="1300" dirty="0"/>
          </a:p>
        </p:txBody>
      </p:sp>
      <p:sp>
        <p:nvSpPr>
          <p:cNvPr id="20" name="Text 18"/>
          <p:cNvSpPr/>
          <p:nvPr/>
        </p:nvSpPr>
        <p:spPr>
          <a:xfrm>
            <a:off x="548640" y="6126480"/>
            <a:ext cx="11091672" cy="365760"/>
          </a:xfrm>
          <a:prstGeom prst="rect">
            <a:avLst/>
          </a:prstGeom>
          <a:noFill/>
          <a:ln/>
        </p:spPr>
        <p:txBody>
          <a:bodyPr wrap="square" lIns="0" tIns="0" rIns="0" bIns="0" rtlCol="0" anchor="ctr"/>
          <a:lstStyle/>
          <a:p>
            <a:pPr algn="ctr" indent="0" marL="0">
              <a:buNone/>
            </a:pPr>
            <a:r>
              <a:rPr lang="en-US" sz="1200" i="1" dirty="0">
                <a:solidFill>
                  <a:srgbClr val="2C6E8F"/>
                </a:solidFill>
                <a:latin typeface="Calibri" pitchFamily="34" charset="0"/>
                <a:ea typeface="Calibri" pitchFamily="34" charset="-122"/>
                <a:cs typeface="Calibri" pitchFamily="34" charset="-120"/>
              </a:rPr>
              <a:t>▶  live in Excel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Lambda Library</dc:title>
  <dc:subject>PptxGenJS Presentation</dc:subject>
  <dc:creator>[Presenter]</dc:creator>
  <cp:lastModifiedBy>[Presenter]</cp:lastModifiedBy>
  <cp:revision>1</cp:revision>
  <dcterms:created xsi:type="dcterms:W3CDTF">2026-06-06T15:41:34Z</dcterms:created>
  <dcterms:modified xsi:type="dcterms:W3CDTF">2026-06-06T15:41:34Z</dcterms:modified>
</cp:coreProperties>
</file>