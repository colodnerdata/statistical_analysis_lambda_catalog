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50"/>
  </p:notesMasterIdLst>
  <p:handoutMasterIdLst>
    <p:handoutMasterId r:id="rId51"/>
  </p:handoutMasterIdLst>
  <p:sldIdLst>
    <p:sldId id="301" r:id="rId8"/>
    <p:sldId id="257" r:id="rId9"/>
    <p:sldId id="258" r:id="rId10"/>
    <p:sldId id="259" r:id="rId11"/>
    <p:sldId id="261" r:id="rId12"/>
    <p:sldId id="262" r:id="rId13"/>
    <p:sldId id="284" r:id="rId14"/>
    <p:sldId id="285" r:id="rId15"/>
    <p:sldId id="297" r:id="rId16"/>
    <p:sldId id="282" r:id="rId17"/>
    <p:sldId id="288" r:id="rId18"/>
    <p:sldId id="298" r:id="rId19"/>
    <p:sldId id="289" r:id="rId20"/>
    <p:sldId id="299" r:id="rId21"/>
    <p:sldId id="291" r:id="rId22"/>
    <p:sldId id="287" r:id="rId23"/>
    <p:sldId id="281" r:id="rId24"/>
    <p:sldId id="264" r:id="rId25"/>
    <p:sldId id="265" r:id="rId26"/>
    <p:sldId id="266" r:id="rId27"/>
    <p:sldId id="267" r:id="rId28"/>
    <p:sldId id="300" r:id="rId29"/>
    <p:sldId id="268" r:id="rId30"/>
    <p:sldId id="269" r:id="rId31"/>
    <p:sldId id="270" r:id="rId32"/>
    <p:sldId id="272" r:id="rId33"/>
    <p:sldId id="293" r:id="rId34"/>
    <p:sldId id="296" r:id="rId35"/>
    <p:sldId id="286" r:id="rId36"/>
    <p:sldId id="294" r:id="rId37"/>
    <p:sldId id="263" r:id="rId38"/>
    <p:sldId id="276" r:id="rId39"/>
    <p:sldId id="277" r:id="rId40"/>
    <p:sldId id="260" r:id="rId41"/>
    <p:sldId id="273" r:id="rId42"/>
    <p:sldId id="274" r:id="rId43"/>
    <p:sldId id="290" r:id="rId44"/>
    <p:sldId id="292" r:id="rId45"/>
    <p:sldId id="295" r:id="rId46"/>
    <p:sldId id="278" r:id="rId47"/>
    <p:sldId id="302" r:id="rId48"/>
    <p:sldId id="28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3"/>
    <p:restoredTop sz="79661" autoAdjust="0"/>
  </p:normalViewPr>
  <p:slideViewPr>
    <p:cSldViewPr snapToGrid="0">
      <p:cViewPr varScale="1">
        <p:scale>
          <a:sx n="88" d="100"/>
          <a:sy n="88" d="100"/>
        </p:scale>
        <p:origin x="732" y="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7/27/2026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[0:30] Motivation.</a:t>
            </a:r>
          </a:p>
          <a:p>
            <a:r>
              <a:rPr lang="en-US" dirty="0"/>
              <a:t>You may have had a tool pulled out from under a model. A license doesn't get renewed, a language version falls out of support, an add-in stops passing security review. When that happens the model doesn't just lose a feature — sometimes it can't be opened at all.</a:t>
            </a:r>
          </a:p>
          <a:p>
            <a:r>
              <a:rPr lang="en-US" dirty="0"/>
              <a:t>Excel has been on our machines for decades and is already cleared. Excel 365 added LAMBDA, which changes what you can build in it. Everything today rides on a platform that isn't going anywhere.</a:t>
            </a:r>
          </a:p>
          <a:p>
            <a:r>
              <a:rPr lang="en-US" dirty="0"/>
              <a:t>Don't oversell this. The point is availability and clearance, not that Excel is better than 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[1:30] What's in this talk.</a:t>
            </a:r>
          </a:p>
          <a:p>
            <a:r>
              <a:rPr lang="en-US" dirty="0"/>
              <a:t>Two arcs. First, the modeling interface: you declare what each column of your table IS, and the sheet constructs the design matrix. That's what makes categorical drivers and panel fixed effects a dropdown choice instead of a morning of helper columns.</a:t>
            </a:r>
          </a:p>
          <a:p>
            <a:r>
              <a:rPr lang="en-US" dirty="0"/>
              <a:t>Second, the workflow: screening, diagnostics, cross-validation, and prediction intervals, all as live formulas a reviewer can click through.</a:t>
            </a:r>
          </a:p>
          <a:p>
            <a:r>
              <a:rPr lang="en-US" dirty="0"/>
              <a:t>Say plainly: if you never open this workbook, arc two is still the method you should be following in whatever tool you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[2:30] Tradeoffs.</a:t>
            </a:r>
          </a:p>
          <a:p>
            <a:r>
              <a:rPr lang="en-US" dirty="0"/>
              <a:t>Be honest here — this room has people who use R and Python. For raw modeling power, code wins. If you need a random forest or a hierarchical model, write code.</a:t>
            </a:r>
          </a:p>
          <a:p>
            <a:r>
              <a:rPr lang="en-US" dirty="0"/>
              <a:t>The column to highlight is Traceability. With code, the analysis reads a file or an export, and the result lives somewhere outside the data. Here, every formula points at the source table. Change a number and everything updates; a reviewer clicks a cell and follows it to the raw data.</a:t>
            </a:r>
          </a:p>
          <a:p>
            <a:r>
              <a:rPr lang="en-US" dirty="0"/>
              <a:t>The real scenario: you inherit a model, or you open your own model six months later, and you have to follow the logic. That's the case this is built for.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[3:45] Two Excel features.</a:t>
            </a:r>
          </a:p>
          <a:p>
            <a:r>
              <a:rPr lang="en-US" dirty="0"/>
              <a:t>Worth knowing regardless of this library.</a:t>
            </a:r>
          </a:p>
          <a:p>
            <a:r>
              <a:rPr lang="en-US" dirty="0"/>
              <a:t>Structured references: point at a table column by name, not K2:K3000. The formula says what it means, and the reference survives inserted rows and sorts. That is what makes the analysis traceable.</a:t>
            </a:r>
          </a:p>
          <a:p>
            <a:r>
              <a:rPr lang="en-US" dirty="0"/>
              <a:t>Dynamic arrays: one formula returns a whole table of results that sizes itself. Write it in the corner cell; it fills the rest and shrinks when the model does.</a:t>
            </a:r>
          </a:p>
          <a:p>
            <a:r>
              <a:rPr lang="en-US" dirty="0"/>
              <a:t>Keep this fast — most of the room knows it. Two minutes maximum.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[4:45] LET to LAMBDA.</a:t>
            </a:r>
          </a:p>
          <a:p>
            <a:r>
              <a:rPr lang="en-US" dirty="0"/>
              <a:t>How 112 functions exist with no macros. Four steps, and the last two are the ones people haven't seen.</a:t>
            </a:r>
          </a:p>
          <a:p>
            <a:r>
              <a:rPr lang="en-US" dirty="0"/>
              <a:t>Step 1 is ordinary math. Step 2, LET names the intermediate parts — the analogy for this room is a table alias in SQL. You alias a table once so you can refer to it cleanly for the rest of the query; LET does the same thing for values inside a formula. Same motive, same payoff in readability.</a:t>
            </a:r>
          </a:p>
          <a:p>
            <a:r>
              <a:rPr lang="en-US" dirty="0"/>
              <a:t>Step 3 is the one worth pausing on. LAMBDA by itself defines a function but doesn't call it. Put the arguments in parentheses right after the definition and it executes in place — that trailing (3, 4) is the call, and the cell returns 5. This is how you test a LAMBDA before you commit to it, and most people have never been shown it. Type it in a blank cell and it just works.</a:t>
            </a:r>
          </a:p>
          <a:p>
            <a:r>
              <a:rPr lang="en-US" dirty="0"/>
              <a:t>Step 4: paste the same definition into the Name Manager under the name Hypotenuse, and now =Hypotenuse(3,4) returns 5 from any cell in the workbook. Nothing else changed. That is the entire mechanism behind all 112 functions.</a:t>
            </a:r>
          </a:p>
          <a:p>
            <a:r>
              <a:rPr lang="en-US" dirty="0"/>
              <a:t>If you want an audience moment, do step 3 live in a blank cell — it lands better than the slide does.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[5:45] What ships in the workbook.</a:t>
            </a:r>
          </a:p>
          <a:p>
            <a:r>
              <a:rPr lang="en-US" dirty="0"/>
              <a:t>One .xlsx. Eight sheets. Orient them to the shape of the file before the demo so they aren't lost when we switch to Excel.</a:t>
            </a:r>
          </a:p>
          <a:p>
            <a:r>
              <a:rPr lang="en-US" dirty="0"/>
              <a:t>The catalog sheet is the one to call out: it's generated from the same source as the workbook, so the documentation cannot drift from the code.</a:t>
            </a:r>
          </a:p>
          <a:p>
            <a:r>
              <a:rPr lang="en-US" dirty="0"/>
              <a:t>The dataset is the WHO life-expectancy panel — public, so anything you see today you can reproduce. I use it because I can host it; the methods are the same ones I'd run on cost data.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[7:00] You declare; the sheet constructs.</a:t>
            </a:r>
          </a:p>
          <a:p>
            <a:r>
              <a:rPr lang="en-US" dirty="0"/>
              <a:t>This is the conceptual center of the talk. Slow down, and let people actually read the grid.</a:t>
            </a:r>
          </a:p>
          <a:p>
            <a:r>
              <a:rPr lang="en-US" dirty="0"/>
              <a:t>Point at the left box first: one column of the source table, Role Predictor, Type Categorical. Two dropdowns.</a:t>
            </a:r>
          </a:p>
          <a:p>
            <a:r>
              <a:rPr lang="en-US" dirty="0"/>
              <a:t>Then the grid on the right. That is the design matrix. It is the object the regression actually runs on, and most people have never seen theirs. Four projects, and the construction type column has become three numeric columns.</a:t>
            </a:r>
          </a:p>
          <a:p>
            <a:r>
              <a:rPr lang="en-US" dirty="0"/>
              <a:t>Walk one row. PRJ-014 is steel frame, so it carries a 1 in the Steel column and zeros elsewhere. PRJ-037 is reinforced concrete, 1 in that column.</a:t>
            </a:r>
          </a:p>
          <a:p>
            <a:r>
              <a:rPr lang="en-US" dirty="0"/>
              <a:t>Now the row that matters, PRJ-022, highlighted. It is masonry, and it is all zeros. Masonry did not get a column. That is not an omission — the all-zero row IS masonry. Four levels became three columns, and the level that got dropped is the baseline every other coefficient is measured against. When you read "Steel Frame, plus 1.2 million," the unstated end of that sentence is "compared to masonry."</a:t>
            </a:r>
          </a:p>
          <a:p>
            <a:r>
              <a:rPr lang="en-US" dirty="0"/>
              <a:t>Then the bottom strip. The ToolPak takes a contiguous block of numbers, and that is the entire interface. It cannot take a text column and it cannot build this grid. Everything you are looking at is work it leaves to you, in helper columns you maintain by hand.</a:t>
            </a:r>
          </a:p>
          <a:p>
            <a:r>
              <a:rPr lang="en-US" dirty="0"/>
              <a:t>If one slide has to land, it is this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[8:00] Three axes.</a:t>
            </a:r>
          </a:p>
          <a:p>
            <a:r>
              <a:rPr lang="en-US" dirty="0"/>
              <a:t>The axes are deliberately orthogonal. A column's value on one says nothing about its value on another.</a:t>
            </a:r>
          </a:p>
          <a:p>
            <a:r>
              <a:rPr lang="en-US" dirty="0"/>
              <a:t>Role is what the column IS. Type is how a predictor ENTERS the matrix. Sequence is a structural flag: which column orders the data.</a:t>
            </a:r>
          </a:p>
          <a:p>
            <a:r>
              <a:rPr lang="en-US" dirty="0"/>
              <a:t>The bottom-right card is the justification. Fiscal Year is often an Identifier, a Continuous predictor, and the ordering axis all at once. A single combined dropdown would force you to pick one and lose the others.</a:t>
            </a:r>
          </a:p>
          <a:p>
            <a:r>
              <a:rPr lang="en-US" dirty="0"/>
              <a:t>If someone asks: this is essentially the tidymodels recipes role system plus Stata's factor-variable notation.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[9:15] The model spec block.</a:t>
            </a:r>
          </a:p>
          <a:p>
            <a:r>
              <a:rPr lang="en-US" dirty="0"/>
              <a:t>One row per column of your source table, and four things you declare.</a:t>
            </a:r>
          </a:p>
          <a:p>
            <a:r>
              <a:rPr lang="en-US" dirty="0"/>
              <a:t>Role is what the column is. Include is whether it is a candidate in this run. Type is how a predictor enters the design matrix. Sequence is which column orders the data.</a:t>
            </a:r>
          </a:p>
          <a:p>
            <a:r>
              <a:rPr lang="en-US" dirty="0"/>
              <a:t>That is deliberately all of it. Anything that only makes sense once another column has a particular value stays off this slide — you will see the categorical-specific controls on the next slide, in the context where they apply.</a:t>
            </a:r>
          </a:p>
          <a:p>
            <a:r>
              <a:rPr lang="en-US" dirty="0"/>
              <a:t>The bottom row is the point: X_s, Response_Column and Sample_Include are derived. There is nothing to hard-wire and no ranges to maintain. Swapping the dependent variable — cost, log cost, cost per unit — is a dropdown change, not a re-plumbing job.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[10:30] Categorical drivers.</a:t>
            </a:r>
          </a:p>
          <a:p>
            <a:r>
              <a:rPr lang="en-US" dirty="0"/>
              <a:t>Left side is what most of us have done: a block of IF columns, maintained by hand, redone every time a new level shows up in the data.</a:t>
            </a:r>
          </a:p>
          <a:p>
            <a:r>
              <a:rPr lang="en-US" dirty="0"/>
              <a:t>Right side: set Type to Categorical. You get k-1 reference-dropped indicator columns, named for their levels, and a live level count that respects your row filters.</a:t>
            </a:r>
          </a:p>
          <a:p>
            <a:r>
              <a:rPr lang="en-US" dirty="0"/>
              <a:t>The sentence that matters most is about prediction. The same encoder runs at prediction time against the same TRAINING level vector. A level that never appeared in the fit fails loudly with an error rather than quietly becoming a row of zeros. Hand-built dummy columns get that wrong silently, and it is very hard to catch in review.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[11:45] FIGURE — one dropdown, two models.</a:t>
            </a:r>
          </a:p>
          <a:p>
            <a:r>
              <a:rPr lang="en-US" dirty="0"/>
              <a:t>Walk the two charts. Everything is held constant except Type on a single spec row.</a:t>
            </a:r>
          </a:p>
          <a:p>
            <a:r>
              <a:rPr lang="en-US" dirty="0"/>
              <a:t>On the left the level codes are being treated as a continuous quantity, so the model fits one slope through them and the fit is forced into a line that means nothing. This is the mistake that ordinal-coded variables invite, and it is common in real estimates.</a:t>
            </a:r>
          </a:p>
          <a:p>
            <a:r>
              <a:rPr lang="en-US" dirty="0"/>
              <a:t>On the right, Type is Categorical. Each level gets its own intercept, the reference level is dropped, and the k-1 columns were built for you.</a:t>
            </a:r>
          </a:p>
          <a:p>
            <a:r>
              <a:rPr lang="en-US" dirty="0"/>
              <a:t>Ask the room how long the right-hand chart would take them by hand today. That question does more work than anything I could say 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[12:30] Fixed effects: absorb the group.</a:t>
            </a:r>
          </a:p>
          <a:p>
            <a:r>
              <a:rPr lang="en-US" dirty="0"/>
              <a:t>For panel data — the same programs observed over several years. Role equals Fixed Effects, and the column produces no coefficient. The response and every design column are demeaned within group.</a:t>
            </a:r>
          </a:p>
          <a:p>
            <a:r>
              <a:rPr lang="en-US" dirty="0"/>
              <a:t>What you are left with is the within-group relationship: how cost moves with a driver INSIDE a program, not across programs.</a:t>
            </a:r>
          </a:p>
          <a:p>
            <a:r>
              <a:rPr lang="en-US" dirty="0"/>
              <a:t>Two things to stress. The degrees of freedom correct automatically, threaded as an optional argument that defaults to zero, so a model with no fixed effects computes exactly as it otherwise would. And when it cannot do something it says so: two Fixed Effects columns is a visible error on the status block, not a wrong number. Two-way absorption is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[13:45] FIGURE — absorbing the group.</a:t>
            </a:r>
          </a:p>
          <a:p>
            <a:r>
              <a:rPr lang="en-US" dirty="0"/>
              <a:t>Same panel, same drivers, one column's Role changed.</a:t>
            </a:r>
          </a:p>
          <a:p>
            <a:r>
              <a:rPr lang="en-US" dirty="0"/>
              <a:t>On the left, programs sit at different cost levels and that between-program spread is being absorbed into the slope. The relationship you are estimating is a blend of within-program and across-program variation, and only one of those is what you meant to measure.</a:t>
            </a:r>
          </a:p>
          <a:p>
            <a:r>
              <a:rPr lang="en-US" dirty="0"/>
              <a:t>On the right, Fixed Effects on the program column. Everything is demeaned within group, and what is left is the within-program relationship.</a:t>
            </a:r>
          </a:p>
          <a:p>
            <a:r>
              <a:rPr lang="en-US" dirty="0"/>
              <a:t>Note that the degrees of freedom corrected themselves — the standard errors on the right already account for the absorbed groups.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[14:30] Sequence and serial correlation.</a:t>
            </a:r>
          </a:p>
          <a:p>
            <a:r>
              <a:rPr lang="en-US" dirty="0"/>
              <a:t>If your rows are a time series, flag the ordering axis and this machinery comes on.</a:t>
            </a:r>
          </a:p>
          <a:p>
            <a:r>
              <a:rPr lang="en-US" dirty="0"/>
              <a:t>The gap-awareness is the part to emphasize. Lag_By matches on the actual period value within group. If a year is missing, you get #N/A — never the value from three years back, and never a fake zero. That failure mode is common in hand-built lag columns and it biases everything downstream.</a:t>
            </a:r>
          </a:p>
          <a:p>
            <a:r>
              <a:rPr lang="en-US" dirty="0"/>
              <a:t>Durbin-Watson walks the DECLARED order, not row order. An ordinary DW statistic becomes meaningless the moment someone sorts the table by cost, and nothing warns you.</a:t>
            </a:r>
          </a:p>
          <a:p>
            <a:r>
              <a:rPr lang="en-US" dirty="0"/>
              <a:t>Skip the calendar-warning card if you're behind 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[15:30] What the declaration replaces.</a:t>
            </a:r>
          </a:p>
          <a:p>
            <a:r>
              <a:rPr lang="en-US" dirty="0"/>
              <a:t>The summary slide for this section. Three ways to do it: the ToolPak can't, hand-built columns can but fragilely, and the declaration does it by construction.</a:t>
            </a:r>
          </a:p>
          <a:p>
            <a:r>
              <a:rPr lang="en-US" dirty="0"/>
              <a:t>The row to point at is Prediction encoding. Hand-built indicator columns give you no mechanism to guarantee the prediction encoding matches the training encoding. That's the column where the manual approach doesn't just cost time — it's actually unsafe.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[16:15] DEMO 1 — five minutes. Declaring a model.</a:t>
            </a:r>
          </a:p>
          <a:p>
            <a:r>
              <a:rPr lang="en-US" dirty="0"/>
              <a:t>Run order:</a:t>
            </a:r>
          </a:p>
          <a:p>
            <a:r>
              <a:rPr lang="en-US" dirty="0"/>
              <a:t>1. Show the source table, then the spec block beside it. One row per column.</a:t>
            </a:r>
          </a:p>
          <a:p>
            <a:r>
              <a:rPr lang="en-US" dirty="0"/>
              <a:t>2. Change a Role. Point out the status block updating — response in effect, constructed column count, included rows.</a:t>
            </a:r>
          </a:p>
          <a:p>
            <a:r>
              <a:rPr lang="en-US" dirty="0"/>
              <a:t>3. Set a categorical predictor's Type to Categorical. Show Levels populating and the constructed column names becoming level-qualified.</a:t>
            </a:r>
          </a:p>
          <a:p>
            <a:r>
              <a:rPr lang="en-US" dirty="0"/>
              <a:t>4. Change the Reference level. Show the coefficients reinterpreting against the new baseline.</a:t>
            </a:r>
          </a:p>
          <a:p>
            <a:r>
              <a:rPr lang="en-US" dirty="0"/>
              <a:t>5. Set a Fixed Effects role. Show the df correcting.</a:t>
            </a:r>
          </a:p>
          <a:p>
            <a:r>
              <a:rPr lang="en-US" dirty="0"/>
              <a:t>Have a fallback screenshot ready. If Excel is slow to recalculate, talk over it rather than waiting in silence.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[20:15] Full workflow on one worksheet.</a:t>
            </a:r>
          </a:p>
          <a:p>
            <a:r>
              <a:rPr lang="en-US" dirty="0"/>
              <a:t>Orientation before the detail slides. Five zones, and the spec block drives all of them.</a:t>
            </a:r>
          </a:p>
          <a:p>
            <a:r>
              <a:rPr lang="en-US" dirty="0"/>
              <a:t>The line to land: there are no named ranges to maintain and no cell addresses anywhere in the workbook. Everything points at the source table by name or is derived from the declaration.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[21:00] Look before you model.</a:t>
            </a:r>
          </a:p>
          <a:p>
            <a:r>
              <a:rPr lang="en-US" dirty="0"/>
              <a:t>Six diagnostics on every predictor at once, before anything is fit.</a:t>
            </a:r>
          </a:p>
          <a:p>
            <a:r>
              <a:rPr lang="en-US" dirty="0"/>
              <a:t>Two correlations: Pearson for straight-line strength, Spearman for any consistent monotonic relationship. When they disagree, the relationship is real but nonlinear — that's your flag to consider a transform.</a:t>
            </a:r>
          </a:p>
          <a:p>
            <a:r>
              <a:rPr lang="en-US" dirty="0"/>
              <a:t>Skewness and kurtosis describe shape. VIF and tolerance measure overlap among predictors.</a:t>
            </a:r>
          </a:p>
          <a:p>
            <a:r>
              <a:rPr lang="en-US" dirty="0"/>
              <a:t>We haven't fit anything.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[21:45] Fit, with confidence intervals.</a:t>
            </a:r>
          </a:p>
          <a:p>
            <a:r>
              <a:rPr lang="en-US" dirty="0"/>
              <a:t>Full regression in one call: each coefficient with standard error, t, p, and confidence interval.</a:t>
            </a:r>
          </a:p>
          <a:p>
            <a:r>
              <a:rPr lang="en-US" dirty="0"/>
              <a:t>The line worth saying out loud: a coefficient without a confidence interval is an opinion.</a:t>
            </a:r>
          </a:p>
          <a:p>
            <a:r>
              <a:rPr lang="en-US" dirty="0"/>
              <a:t>Note the formula now reads X_s(), Response_Column(), Sample_Include() — no ranges. The intercept switch re-fits the whole table live.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Trim collinearity.</a:t>
            </a:r>
          </a:p>
          <a:p>
            <a:r>
              <a:rPr lang="en-US" dirty="0"/>
              <a:t>When two drivers move together the model cannot separate their effects, and the coefficients get unstable. VIF flags it; the Include toggle acts on it.</a:t>
            </a:r>
          </a:p>
          <a:p>
            <a:r>
              <a:rPr lang="en-US" dirty="0"/>
              <a:t>Work the two cards, then drop to the formula strip, which is the part worth adding.</a:t>
            </a:r>
          </a:p>
          <a:p>
            <a:r>
              <a:rPr lang="en-US" dirty="0"/>
              <a:t>VIF is one over one minus R-squared, where that R-squared comes from regressing one predictor on all the others. So it is not a mystical threshold — it is a direct readout of how much of this driver is already explained by the rest of your model. At 0.87, the other predictors already account for 87 percent of this one.</a:t>
            </a:r>
          </a:p>
          <a:p>
            <a:r>
              <a:rPr lang="en-US" dirty="0"/>
              <a:t>The right-hand end is what it costs you. VIF multiplies the VARIANCE of the coefficient, so the standard error moves by the square root. VIF of 7.6 means the standard error is about 2.8 times wider than it would be with independent drivers. Same coefficient, confidence interval nearly three times as wide.</a:t>
            </a:r>
          </a:p>
          <a:p>
            <a:r>
              <a:rPr lang="en-US" dirty="0"/>
              <a:t>That reframes the rule of thumb. People memorize "VIF above 5, or above 10" without knowing where it comes from. Now you can say: at VIF 10 your error bars are three times wider than they need to be, and that is the reason to care, not the number itself.</a:t>
            </a:r>
          </a:p>
          <a:p>
            <a:r>
              <a:rPr lang="en-US" dirty="0"/>
              <a:t>Turn the offender off, VIFs settle, coefficients update, and every interval downstream tightens.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[23:15] FIGURE — three views of the same fit.</a:t>
            </a:r>
          </a:p>
          <a:p>
            <a:r>
              <a:rPr lang="en-US" dirty="0"/>
              <a:t>These are the three Tier 1 plots the workbook builds automatically for every model. The Diagnostic Guide sheet says: review these three every time, and only go to the Tier 2 plots if one of them raises a concern.</a:t>
            </a:r>
          </a:p>
          <a:p>
            <a:r>
              <a:rPr lang="en-US" dirty="0"/>
              <a:t>Left, Residuals vs. Fitted — you want a shapeless cloud sitting on zero. A funnel means the error variance grows with the fitted value; a curve means you've missed nonlinearity.</a:t>
            </a:r>
          </a:p>
          <a:p>
            <a:r>
              <a:rPr lang="en-US" dirty="0"/>
              <a:t>Middle, Normal Q-Q — studentized residuals against normal scores. On the diagonal means normal errors, which is what lets the prediction intervals mean what they claim. The QQ correlation cell puts a number on it.</a:t>
            </a:r>
          </a:p>
          <a:p>
            <a:r>
              <a:rPr lang="en-US" dirty="0"/>
              <a:t>Right, Actual vs. Predicted — the same information as the residual plot but from an angle anyone can read: dots on the 45-degree line is a good fit.</a:t>
            </a:r>
          </a:p>
          <a:p>
            <a:r>
              <a:rPr lang="en-US" dirty="0"/>
              <a:t>The point for this room: you didn't build any of these. They're pre-wired to the model, so they re-draw the instant the spec block changes. That's three standard diagnostics with zero setup, versus assembling them by hand off the ToolPak output.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The honest metric.</a:t>
            </a:r>
          </a:p>
          <a:p>
            <a:r>
              <a:rPr lang="en-US" dirty="0"/>
              <a:t>R-squared measures fit to data the model already saw — it always looks good, that's its job. PRESS R-squared predicts each point with that point removed. It's an honesty check.</a:t>
            </a:r>
          </a:p>
          <a:p>
            <a:r>
              <a:rPr lang="en-US" dirty="0"/>
              <a:t>Here 0.827 versus 0.822 — barely moves, so the model generalizes. A wide gap means the fit is too sensitive to the sample, and it is much better to find that here than in the review.</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health check on the fit.</a:t>
            </a:r>
          </a:p>
          <a:p>
            <a:r>
              <a:rPr lang="en-US" dirty="0"/>
              <a:t>Residuals against fitted values. Want a shapeless cloud on zero -- no funnel, no curve.</a:t>
            </a:r>
          </a:p>
          <a:p>
            <a:r>
              <a:rPr lang="en-US" dirty="0"/>
              <a:t>Q-Q correlation of 0.994 means residuals are close to normal, which is what lets the prediction intervals mean what they claim.</a:t>
            </a:r>
          </a:p>
          <a:p>
            <a:r>
              <a:rPr lang="en-US" dirty="0"/>
              <a:t>Leverage and Cook's D are the two outlier cards, and they answer different questions -- say this explicitly, because people conflate them. Leverage, the hat-matrix diagonal, measures how UNUSUAL a row's predictor values are, nothing about the response. High leverage alone is not a problem: a row can sit far out on the predictor axis and still land right on the fitted line. The flag threshold is 2p over n -- with p equal to 16 parameters and n equal to 1,649 rows here, that is 0.019, and our average of 0.0097 sits comfortably under it.</a:t>
            </a:r>
          </a:p>
          <a:p>
            <a:r>
              <a:rPr lang="en-US" dirty="0"/>
              <a:t>Cook's D is the one that matters on its own: it measures how much a row actually MOVES the fit if you drop it. The formula is the squared residual times leverage over one minus leverage squared, scaled by p and the residual variance -- so it only gets large when a row has both unusual predictors AND a residual the model does not explain. Flag threshold is 4 over n, which is 0.0024 at this n; anything above 0.9 is severe regardless of sample size.</a:t>
            </a:r>
          </a:p>
          <a:p>
            <a:r>
              <a:rPr lang="en-US" dirty="0"/>
              <a:t>The one-sentence version for the room: leverage tells you a row COULD be influential; Cook's D tells you it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[25:30] Predict, with uncertainty.</a:t>
            </a:r>
          </a:p>
          <a:p>
            <a:r>
              <a:rPr lang="en-US" dirty="0"/>
              <a:t>The piece that matters most for our work. Type a new case, get a prediction and the uncertainty around it.</a:t>
            </a:r>
          </a:p>
          <a:p>
            <a:r>
              <a:rPr lang="en-US" dirty="0"/>
              <a:t>This is a prediction interval for an actual new case — wider than a confidence interval on the mean, because it includes real-world scatter. The key output is the standard error of prediction.</a:t>
            </a:r>
          </a:p>
          <a:p>
            <a:r>
              <a:rPr lang="en-US" dirty="0"/>
              <a:t>It grows as the new case moves away from your data. The model penalizes extrapolation automatically, without you remembering to.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[26:30] Log the cost.</a:t>
            </a:r>
          </a:p>
          <a:p>
            <a:r>
              <a:rPr lang="en-US" dirty="0"/>
              <a:t>One refinement for cost specifically. Costs can't go below zero and have a long right tail. A normal band around an estimate can run negative, which is nonsense for dollars.</a:t>
            </a:r>
          </a:p>
          <a:p>
            <a:r>
              <a:rPr lang="en-US" dirty="0"/>
              <a:t>Fit on the log of cost — these functions don't care what's in the column, so it's a one-line change. Exponentiate and the distribution is lognormal: always positive, realistic tail.</a:t>
            </a:r>
          </a:p>
          <a:p>
            <a:r>
              <a:rPr lang="en-US" dirty="0"/>
              <a:t>The skewness column from the screening panel is what tells you when you're in this situation.</a:t>
            </a:r>
          </a:p>
          <a:p>
            <a:r>
              <a:rPr lang="en-US" dirty="0"/>
              <a:t>Flag it: a Transform dropdown on the spec block is the next release, so this becomes a declaration too.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[27:15] DEMO 2 — five minutes. Screening, diagnostics, prediction.</a:t>
            </a:r>
          </a:p>
          <a:p>
            <a:r>
              <a:rPr lang="en-US" dirty="0"/>
              <a:t>Work the Regression sheet left to right:</a:t>
            </a:r>
          </a:p>
          <a:p>
            <a:r>
              <a:rPr lang="en-US" dirty="0"/>
              <a:t>1. Screening panel — point at the highest VIF and the biggest Pearson/Spearman split.</a:t>
            </a:r>
          </a:p>
          <a:p>
            <a:r>
              <a:rPr lang="en-US" dirty="0"/>
              <a:t>2. Toggle the offending predictor off. Watch VIF, coefficients, PRESS all move together.</a:t>
            </a:r>
          </a:p>
          <a:p>
            <a:r>
              <a:rPr lang="en-US" dirty="0"/>
              <a:t>3. Flip the intercept switch. Whole table re-fits.</a:t>
            </a:r>
          </a:p>
          <a:p>
            <a:r>
              <a:rPr lang="en-US" dirty="0"/>
              <a:t>4. Residual plot and Q-Q. Point at one high-Cook's-D row in the residual table.</a:t>
            </a:r>
          </a:p>
          <a:p>
            <a:r>
              <a:rPr lang="en-US" dirty="0"/>
              <a:t>5. Enter a new case in the prediction block. Then move it far from the data and show the SE of prediction growing.</a:t>
            </a:r>
          </a:p>
          <a:p>
            <a:r>
              <a:rPr lang="en-US" dirty="0"/>
              <a:t>Step 5 is the one to protect if you're short on time — it's the most persuasive thing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[31:15] Describe, visualize, formalize.</a:t>
            </a:r>
          </a:p>
          <a:p>
            <a:r>
              <a:rPr lang="en-US" dirty="0"/>
              <a:t>Switching sheets. The Univariate sheet is one input column driving three sections in the order you'd actually work.</a:t>
            </a:r>
          </a:p>
          <a:p>
            <a:r>
              <a:rPr lang="en-US" dirty="0"/>
              <a:t>Descriptive statistics returns all twelve at once including a prominent missing count — a silent n is how bad estimates happen.</a:t>
            </a:r>
          </a:p>
          <a:p>
            <a:r>
              <a:rPr lang="en-US" dirty="0"/>
              <a:t>Three binning methods side by side: Sturges, Scott, Freedman-Diaconis. Three defensible answers to "how many bins" rather than one arbitrary one.</a:t>
            </a:r>
          </a:p>
          <a:p>
            <a:r>
              <a:rPr lang="en-US" dirty="0"/>
              <a:t>Then formalize the shape you just looked at. Say it directly: this is where a three-point estimate stops being a guess.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[32:15] Distribution fitting without Solver.</a:t>
            </a:r>
          </a:p>
          <a:p>
            <a:r>
              <a:rPr lang="en-US" dirty="0"/>
              <a:t>Eight candidates: Normal, Lognormal, Exponential, Weibull, Gamma, Triangular, Beta, BetaPERT. Maximum likelihood throughout — not method of moments.</a:t>
            </a:r>
          </a:p>
          <a:p>
            <a:r>
              <a:rPr lang="en-US" dirty="0"/>
              <a:t>Closed form where it exists. Where it doesn't, grid search over a native two-input Data Table.</a:t>
            </a:r>
          </a:p>
          <a:p>
            <a:r>
              <a:rPr lang="en-US" dirty="0"/>
              <a:t>The reframing is the interesting bit: the wall was never "MLE without Solver," it was "MLE in closed form." A Data Table over the likelihood surface clears that bar, with no add-in and no optimizer — and it gives the same answer on every recalculation, which matters for auditability.</a:t>
            </a:r>
          </a:p>
          <a:p>
            <a:r>
              <a:rPr lang="en-US" dirty="0"/>
              <a:t>BetaPERT will get attention from this room. Be ready for 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[33:15] DEMO 3 — three minutes. Fit a distribution, then take the sheet with you.</a:t>
            </a:r>
          </a:p>
          <a:p>
            <a:r>
              <a:rPr lang="en-US" dirty="0"/>
              <a:t>1. Point the Univariate sheet at a column. Show descriptives and the skewness value.</a:t>
            </a:r>
          </a:p>
          <a:p>
            <a:r>
              <a:rPr lang="en-US" dirty="0"/>
              <a:t>2. Show the fitted comparison table ranked by AIC, and the Q-Q plot for the winner.</a:t>
            </a:r>
          </a:p>
          <a:p>
            <a:r>
              <a:rPr lang="en-US" dirty="0"/>
              <a:t>3. Then the portability piece: right-click the Regression tab, Move or Copy, into a second workbook, Create a Copy.</a:t>
            </a:r>
          </a:p>
          <a:p>
            <a:r>
              <a:rPr lang="en-US" dirty="0"/>
              <a:t>4. Show that all 112 functions came with it, and re-point the spec at a different table.</a:t>
            </a:r>
          </a:p>
          <a:p>
            <a:r>
              <a:rPr lang="en-US" dirty="0"/>
              <a:t>Keep this tight. If you're behind, drop steps 1 and 2 and do only the Move or Copy — portability is the thing people need to see to believe.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[35:45] Results verification.</a:t>
            </a:r>
          </a:p>
          <a:p>
            <a:r>
              <a:rPr lang="en-US" dirty="0"/>
              <a:t>Before anyone asks: do the numbers check out.</a:t>
            </a:r>
          </a:p>
          <a:p>
            <a:r>
              <a:rPr lang="en-US" dirty="0"/>
              <a:t>The library reproduces the entire ToolPak regression output — regression statistics, full ANOVA, coefficient table with standard errors, t-stats, p-values, confidence intervals — and goes past it with VIF, Cook's D, leverage, studentized residuals, PRESS, AIC/BIC, and cross-validation.</a:t>
            </a:r>
          </a:p>
          <a:p>
            <a:r>
              <a:rPr lang="en-US" dirty="0"/>
              <a:t>Same model run three ways: this library, the ToolPak, and statsmodels. They agree to about ten decimal places. That's floating-point noise.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[36:30] One place the arithmetic can be wrong.</a:t>
            </a:r>
          </a:p>
          <a:p>
            <a:r>
              <a:rPr lang="en-US" dirty="0"/>
              <a:t>Every leverage and prediction routes through a single matrix-inversion helper. That's deliberate — one place to harden.</a:t>
            </a:r>
          </a:p>
          <a:p>
            <a:r>
              <a:rPr lang="en-US" dirty="0"/>
              <a:t>The staged improvement scales each column before inverting, which fixes precision when drivers live on very different scales. Cost data reliably does that: a weight in pounds next to a dollar figure in millions.</a:t>
            </a:r>
          </a:p>
          <a:p>
            <a:r>
              <a:rPr lang="en-US" dirty="0"/>
              <a:t>Because everything inherits from the one helper, hardening it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interval, exactly.</a:t>
            </a:r>
          </a:p>
          <a:p>
            <a:r>
              <a:rPr lang="en-US" dirty="0"/>
              <a:t>For the people who want to see the arithmetic, and this is where the abstract's promise about surpassing SEE gets made good on.</a:t>
            </a:r>
          </a:p>
          <a:p>
            <a:r>
              <a:rPr lang="en-US" dirty="0"/>
              <a:t>s is the classic Standard Error of the Estimate -- the number everyone already reports, and the number that traditionally gets used as if it applied to every prediction equally.</a:t>
            </a:r>
          </a:p>
          <a:p>
            <a:r>
              <a:rPr lang="en-US" dirty="0"/>
              <a:t>It doesn't. SE of prediction equals s times the square root of one plus leverage, so it is ALWAYS at least as large as the plain SEE, and it grows specifically for cases that sit far from the center of your fitted data. Near the center, root of one plus a small h is barely above 1, so the interval is close to what SEE alone would give you. Extrapolate, and h grows, and the interval widens automatically -- no judgment call, no manual adjustment, just the same leverage number from the diagnostics slide doing a second job.</a:t>
            </a:r>
          </a:p>
          <a:p>
            <a:r>
              <a:rPr lang="en-US" dirty="0"/>
              <a:t>That is the concrete answer to "how is this better than SEE": SEE is a single number for the whole model; this is SEE adjusted row by row for how far out on a limb you are asking the model to predict.</a:t>
            </a:r>
          </a:p>
          <a:p>
            <a:r>
              <a:rPr lang="en-US" dirty="0"/>
              <a:t>The interval itself uses a t-distribution on residual degrees of freedom, so it is exact for the linear model, not an approximation.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[37:50] Benefits.</a:t>
            </a:r>
          </a:p>
          <a:p>
            <a:r>
              <a:rPr lang="en-US" dirty="0"/>
              <a:t>Four properties that make a formula-based approach a legitimate analytical choice, not a novelty.</a:t>
            </a:r>
          </a:p>
          <a:p>
            <a:r>
              <a:rPr lang="en-US" dirty="0"/>
              <a:t>Transparency, traceability, liveness, and uncertainty. Liveness is the one people underrate: because there's no re-run step, you can review several model specifications in the time it takes to run one script, which changes how much exploration you actually do.</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[38:30] Where it stops.</a:t>
            </a:r>
          </a:p>
          <a:p>
            <a:r>
              <a:rPr lang="en-US" dirty="0"/>
              <a:t>Say the constraints yourself before somebody finds them.</a:t>
            </a:r>
          </a:p>
          <a:p>
            <a:r>
              <a:rPr lang="en-US" dirty="0"/>
              <a:t>Thousands of rows, not millions. One fixed-effects variable absorbs today; two is a visible error, and two-way absorption is on the roadmap. The arithmetic is hardened against scale differences but that does not fix true collinearity — the VIF panel supports that judgment, it does not make it. Charts read fixed ranges. And it needs current 365.</a:t>
            </a:r>
          </a:p>
          <a:p>
            <a:r>
              <a:rPr lang="en-US" dirty="0"/>
              <a:t>None of these are dealbreakers for the kind of cost work we do, but you should hear them from me rather than discover them.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[39:15] Getting it onto your own data.</a:t>
            </a:r>
          </a:p>
          <a:p>
            <a:r>
              <a:rPr lang="en-US" dirty="0"/>
              <a:t>The functions are workbook-scoped, so copying a sheet brings all 112 with it. The constructors are sheet-scoped and read the spec block, so they follow whatever you declare on your own table.</a:t>
            </a:r>
          </a:p>
          <a:p>
            <a:r>
              <a:rPr lang="en-US" dirty="0"/>
              <a:t>Four steps: Move or Copy the Regression tab into your workbook, point it at your table, declare the columns, done. Everything recomputes.</a:t>
            </a:r>
          </a:p>
          <a:p>
            <a:r>
              <a:rPr lang="en-US" dirty="0"/>
              <a:t>This is the slide people photograph. Pause on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[40:00] What travels with the file.</a:t>
            </a:r>
          </a:p>
          <a:p>
            <a:r>
              <a:rPr lang="en-US" dirty="0"/>
              <a:t>The workbook has to stand on its own when it is forwarded to somebody who was never in this room, so the documentation lives inside it rather than alongside it.</a:t>
            </a:r>
          </a:p>
          <a:p>
            <a:r>
              <a:rPr lang="en-US" dirty="0"/>
              <a:t>The catalog sheet is generated from the same source as the workbook, so the formula in the sheet is the formula in the Name Manager. There is no second copy to drift.</a:t>
            </a:r>
          </a:p>
          <a:p>
            <a:r>
              <a:rPr lang="en-US" dirty="0"/>
              <a:t>The Diagnostic Guide is the one people use most: thresholds, what each plot should look like, and common patterns with what to do next. The Instructions sheet is written for somebody opening the file cold.</a:t>
            </a:r>
          </a:p>
          <a:p>
            <a:r>
              <a:rPr lang="en-US" dirty="0"/>
              <a:t>Changes are recorded on a sheet in the file, with an explicit flag for anything that would make a workbook you already built compute differently. That flag is the only signal most people need.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[40:45] What's next.</a:t>
            </a:r>
          </a:p>
          <a:p>
            <a:r>
              <a:rPr lang="en-US" dirty="0"/>
              <a:t>Ordered by what estimators ask for. Transforms first, because a Log dropdown plus Duan's smearing on the back-transform is what makes cross-model comparison honest — R-squared on logged cost and R-squared on cost are not the same quantity.</a:t>
            </a:r>
          </a:p>
          <a:p>
            <a:r>
              <a:rPr lang="en-US" dirty="0"/>
              <a:t>Then model comparison, then bootstrap and Monte Carlo.</a:t>
            </a:r>
          </a:p>
          <a:p>
            <a:r>
              <a:rPr lang="en-US" dirty="0"/>
              <a:t>On bootstrap, note the design choice: draws come from a pre-seeded table, not RANDARRAY. A confidence interval that changes every time the sheet recalculates, with no record of which sample produced which, is not a result.</a:t>
            </a:r>
          </a:p>
          <a:p>
            <a:r>
              <a:rPr lang="en-US" dirty="0"/>
              <a:t>Invite input — this order moves based on what this community asks for.</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[41:30] Where to get it.</a:t>
            </a:r>
          </a:p>
          <a:p>
            <a:r>
              <a:rPr lang="en-US" dirty="0"/>
              <a:t>Public repository. Download the .xlsx and open it — that is the entire install. No admin rights, nothing to clear.</a:t>
            </a:r>
          </a:p>
          <a:p>
            <a:r>
              <a:rPr lang="en-US" dirty="0"/>
              <a:t>Ask for two things: try it on a real estimate and tell me where it breaks, and tell me which roadmap item you'd want first.</a:t>
            </a:r>
          </a:p>
          <a:p>
            <a:r>
              <a:rPr lang="en-US" dirty="0"/>
              <a:t>[42:30] Open for questions. Backup slides follow on validation methodology and the function catalog.</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validation methodology.</a:t>
            </a:r>
          </a:p>
          <a:p>
            <a:r>
              <a:rPr lang="en-US" dirty="0"/>
              <a:t>Use if challenged on correctness. Same model, three engines, every output compared: coefficients, standard errors, ANOVA, R-squared, PRESS. Agreement to roughly ten decimal places.</a:t>
            </a:r>
          </a:p>
          <a:p>
            <a:r>
              <a:rPr lang="en-US" dirty="0"/>
              <a:t>The point is independence: same textbook arithmetic implemented three separate ways, so you can verify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the LAMBDA_functions sheet.</a:t>
            </a:r>
          </a:p>
          <a:p>
            <a:r>
              <a:rPr lang="en-US" dirty="0"/>
              <a:t>Use if asked how someone discovers what's available, or how the documentation stays current.</a:t>
            </a:r>
          </a:p>
          <a:p>
            <a:r>
              <a:rPr lang="en-US" dirty="0"/>
              <a:t>Each row is one function: name, arguments with optionals in brackets, what it yields, the readable formula body, and a plain-English description. The formula in the sheet is the formula in the Name Manager.</a:t>
            </a:r>
          </a:p>
          <a:p>
            <a:r>
              <a:rPr lang="en-US" dirty="0"/>
              <a:t>Adding a function means editing the JSON source and rebuilding — the catalog and the workbook update together, or neither does. There is no second copy to go stale.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12.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653C87"/>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Dark Title Slide">
    <p:spTree>
      <p:nvGrpSpPr>
        <p:cNvPr id="1" name=""/>
        <p:cNvGrpSpPr/>
        <p:nvPr/>
      </p:nvGrpSpPr>
      <p:grpSpPr>
        <a:xfrm>
          <a:off x="0" y="0"/>
          <a:ext cx="0" cy="0"/>
          <a:chOff x="0" y="0"/>
          <a:chExt cx="0" cy="0"/>
        </a:xfrm>
      </p:grpSpPr>
      <p:pic>
        <p:nvPicPr>
          <p:cNvPr id="8" name="Picture 7" descr="A picture containing outdoor, sky, mountain, grass&#10;&#10;AI-generated content may be incorrect.">
            <a:extLst>
              <a:ext uri="{FF2B5EF4-FFF2-40B4-BE49-F238E27FC236}">
                <a16:creationId xmlns:a16="http://schemas.microsoft.com/office/drawing/2014/main" id="{DDD5B0AD-8280-0EF2-30D5-09D93B0D4666}"/>
              </a:ext>
            </a:extLst>
          </p:cNvPr>
          <p:cNvPicPr>
            <a:picLocks noChangeAspect="1"/>
          </p:cNvPicPr>
          <p:nvPr userDrawn="1"/>
        </p:nvPicPr>
        <p:blipFill>
          <a:blip r:embed="rId2">
            <a:extLst>
              <a:ext uri="{28A0092B-C50C-407E-A947-70E740481C1C}">
                <a14:useLocalDpi xmlns:a14="http://schemas.microsoft.com/office/drawing/2010/main" val="0"/>
              </a:ext>
            </a:extLst>
          </a:blip>
          <a:srcRect t="5684" b="9941"/>
          <a:stretch>
            <a:fillRect/>
          </a:stretch>
        </p:blipFill>
        <p:spPr>
          <a:xfrm>
            <a:off x="-10" y="0"/>
            <a:ext cx="12192001" cy="6858000"/>
          </a:xfrm>
          <a:prstGeom prst="rect">
            <a:avLst/>
          </a:prstGeom>
        </p:spPr>
      </p:pic>
      <p:sp>
        <p:nvSpPr>
          <p:cNvPr id="2" name="Rectangle 1">
            <a:extLst>
              <a:ext uri="{FF2B5EF4-FFF2-40B4-BE49-F238E27FC236}">
                <a16:creationId xmlns:a16="http://schemas.microsoft.com/office/drawing/2014/main" id="{6AC49AC4-B722-32F6-DF29-80A0787BE70D}"/>
              </a:ext>
            </a:extLst>
          </p:cNvPr>
          <p:cNvSpPr/>
          <p:nvPr userDrawn="1"/>
        </p:nvSpPr>
        <p:spPr>
          <a:xfrm>
            <a:off x="0" y="1"/>
            <a:ext cx="12192001" cy="6866710"/>
          </a:xfrm>
          <a:prstGeom prst="rect">
            <a:avLst/>
          </a:prstGeom>
          <a:gradFill>
            <a:gsLst>
              <a:gs pos="31000">
                <a:schemeClr val="bg2">
                  <a:lumMod val="25000"/>
                  <a:alpha val="80000"/>
                </a:schemeClr>
              </a:gs>
              <a:gs pos="0">
                <a:schemeClr val="bg2">
                  <a:lumMod val="25000"/>
                </a:schemeClr>
              </a:gs>
              <a:gs pos="53000">
                <a:schemeClr val="bg2">
                  <a:lumMod val="25000"/>
                  <a:alpha val="60000"/>
                </a:schemeClr>
              </a:gs>
              <a:gs pos="100000">
                <a:schemeClr val="bg2">
                  <a:lumMod val="25000"/>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pc="300">
              <a:latin typeface="Bahnschrift SemiCondensed" panose="020B0502040204020203" pitchFamily="34" charset="0"/>
            </a:endParaRPr>
          </a:p>
        </p:txBody>
      </p:sp>
      <p:sp>
        <p:nvSpPr>
          <p:cNvPr id="10" name="Rectangle 9">
            <a:extLst>
              <a:ext uri="{FF2B5EF4-FFF2-40B4-BE49-F238E27FC236}">
                <a16:creationId xmlns:a16="http://schemas.microsoft.com/office/drawing/2014/main" id="{BE2E2AD3-F39E-8630-13A0-1FC7E0F33160}"/>
              </a:ext>
            </a:extLst>
          </p:cNvPr>
          <p:cNvSpPr/>
          <p:nvPr userDrawn="1"/>
        </p:nvSpPr>
        <p:spPr>
          <a:xfrm>
            <a:off x="0" y="729071"/>
            <a:ext cx="12192001" cy="782973"/>
          </a:xfrm>
          <a:prstGeom prst="rect">
            <a:avLst/>
          </a:prstGeom>
          <a:gradFill>
            <a:gsLst>
              <a:gs pos="15000">
                <a:schemeClr val="bg2">
                  <a:lumMod val="25000"/>
                  <a:alpha val="80000"/>
                </a:schemeClr>
              </a:gs>
              <a:gs pos="0">
                <a:schemeClr val="bg2">
                  <a:lumMod val="25000"/>
                </a:schemeClr>
              </a:gs>
              <a:gs pos="43000">
                <a:schemeClr val="bg2">
                  <a:lumMod val="25000"/>
                  <a:alpha val="60000"/>
                </a:schemeClr>
              </a:gs>
              <a:gs pos="100000">
                <a:schemeClr val="bg2">
                  <a:lumMod val="25000"/>
                  <a:alpha val="1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pc="300">
                <a:latin typeface="Bahnschrift SemiCondensed" panose="020B0502040204020203" pitchFamily="34" charset="0"/>
              </a:rPr>
              <a:t>		   2026 CECOP SYMPOSIUM</a:t>
            </a:r>
          </a:p>
        </p:txBody>
      </p:sp>
      <p:cxnSp>
        <p:nvCxnSpPr>
          <p:cNvPr id="16" name="Straight Connector 15">
            <a:extLst>
              <a:ext uri="{FF2B5EF4-FFF2-40B4-BE49-F238E27FC236}">
                <a16:creationId xmlns:a16="http://schemas.microsoft.com/office/drawing/2014/main" id="{9DA0570D-28E8-4595-A2CB-70B234BA01E6}"/>
              </a:ext>
            </a:extLst>
          </p:cNvPr>
          <p:cNvCxnSpPr>
            <a:cxnSpLocks/>
          </p:cNvCxnSpPr>
          <p:nvPr userDrawn="1"/>
        </p:nvCxnSpPr>
        <p:spPr>
          <a:xfrm>
            <a:off x="-5" y="729071"/>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C00F4CB-556C-FD76-51E2-174C24D3276F}"/>
              </a:ext>
            </a:extLst>
          </p:cNvPr>
          <p:cNvCxnSpPr>
            <a:cxnSpLocks/>
          </p:cNvCxnSpPr>
          <p:nvPr userDrawn="1"/>
        </p:nvCxnSpPr>
        <p:spPr>
          <a:xfrm>
            <a:off x="0" y="1512044"/>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A4D9443-517F-60D3-9476-A993783A937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10383"/>
          <a:stretch>
            <a:fillRect/>
          </a:stretch>
        </p:blipFill>
        <p:spPr>
          <a:xfrm>
            <a:off x="737730" y="600491"/>
            <a:ext cx="1116469" cy="1036865"/>
          </a:xfrm>
          <a:prstGeom prst="rect">
            <a:avLst/>
          </a:prstGeom>
        </p:spPr>
      </p:pic>
      <p:sp>
        <p:nvSpPr>
          <p:cNvPr id="21" name="Rectangle 20">
            <a:extLst>
              <a:ext uri="{FF2B5EF4-FFF2-40B4-BE49-F238E27FC236}">
                <a16:creationId xmlns:a16="http://schemas.microsoft.com/office/drawing/2014/main" id="{BEE85B32-3506-E1DF-ED86-BD9E5C507609}"/>
              </a:ext>
            </a:extLst>
          </p:cNvPr>
          <p:cNvSpPr/>
          <p:nvPr userDrawn="1"/>
        </p:nvSpPr>
        <p:spPr>
          <a:xfrm>
            <a:off x="737731" y="612481"/>
            <a:ext cx="1116468" cy="1036864"/>
          </a:xfrm>
          <a:prstGeom prst="rect">
            <a:avLst/>
          </a:prstGeom>
          <a:noFill/>
          <a:ln>
            <a:gradFill>
              <a:gsLst>
                <a:gs pos="0">
                  <a:schemeClr val="bg1"/>
                </a:gs>
                <a:gs pos="74000">
                  <a:srgbClr val="C2A1E7"/>
                </a:gs>
                <a:gs pos="83000">
                  <a:srgbClr val="C2A1E7"/>
                </a:gs>
                <a:gs pos="100000">
                  <a:srgbClr val="C2A1E7"/>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6">
            <a:extLst>
              <a:ext uri="{FF2B5EF4-FFF2-40B4-BE49-F238E27FC236}">
                <a16:creationId xmlns:a16="http://schemas.microsoft.com/office/drawing/2014/main" id="{606B6154-2C69-E907-40A7-4AB0280B6AD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179983" y="5919043"/>
            <a:ext cx="2912735" cy="83498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6" name="Text Placeholder 35">
            <a:extLst>
              <a:ext uri="{FF2B5EF4-FFF2-40B4-BE49-F238E27FC236}">
                <a16:creationId xmlns:a16="http://schemas.microsoft.com/office/drawing/2014/main" id="{A196AC30-F01E-0E62-E1CF-7F21E1185A09}"/>
              </a:ext>
            </a:extLst>
          </p:cNvPr>
          <p:cNvSpPr>
            <a:spLocks noGrp="1"/>
          </p:cNvSpPr>
          <p:nvPr>
            <p:ph type="body" sz="quarter" idx="17" hasCustomPrompt="1"/>
          </p:nvPr>
        </p:nvSpPr>
        <p:spPr>
          <a:xfrm>
            <a:off x="737730" y="3756403"/>
            <a:ext cx="6759575" cy="87097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C2A1E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solidFill>
                  <a:srgbClr val="C2A1E7"/>
                </a:solidFill>
              </a:rPr>
              <a:t>Click to add presenter or presenting org</a:t>
            </a:r>
          </a:p>
        </p:txBody>
      </p:sp>
      <p:sp>
        <p:nvSpPr>
          <p:cNvPr id="38" name="Text Placeholder 37">
            <a:extLst>
              <a:ext uri="{FF2B5EF4-FFF2-40B4-BE49-F238E27FC236}">
                <a16:creationId xmlns:a16="http://schemas.microsoft.com/office/drawing/2014/main" id="{CB6E3125-D518-CB81-23A1-A175E8E38F97}"/>
              </a:ext>
            </a:extLst>
          </p:cNvPr>
          <p:cNvSpPr>
            <a:spLocks noGrp="1"/>
          </p:cNvSpPr>
          <p:nvPr>
            <p:ph type="body" sz="quarter" idx="18" hasCustomPrompt="1"/>
          </p:nvPr>
        </p:nvSpPr>
        <p:spPr>
          <a:xfrm>
            <a:off x="737730" y="4910980"/>
            <a:ext cx="6759575" cy="434976"/>
          </a:xfrm>
        </p:spPr>
        <p:txBody>
          <a:bodyPr>
            <a:noAutofit/>
          </a:bodyPr>
          <a:lstStyle>
            <a:lvl1pPr marL="0" indent="0">
              <a:buNone/>
              <a:defRPr sz="2400">
                <a:solidFill>
                  <a:srgbClr val="C2A1E7"/>
                </a:solidFill>
              </a:defRPr>
            </a:lvl1pPr>
          </a:lstStyle>
          <a:p>
            <a:r>
              <a:rPr lang="en-US" sz="2800">
                <a:solidFill>
                  <a:srgbClr val="C2A1E7"/>
                </a:solidFill>
              </a:rPr>
              <a:t>Click to add presentation date</a:t>
            </a:r>
          </a:p>
        </p:txBody>
      </p:sp>
      <p:sp>
        <p:nvSpPr>
          <p:cNvPr id="40" name="Text Placeholder 39">
            <a:extLst>
              <a:ext uri="{FF2B5EF4-FFF2-40B4-BE49-F238E27FC236}">
                <a16:creationId xmlns:a16="http://schemas.microsoft.com/office/drawing/2014/main" id="{DF7DC350-11DC-CE43-11B3-9711B9BF89B2}"/>
              </a:ext>
            </a:extLst>
          </p:cNvPr>
          <p:cNvSpPr>
            <a:spLocks noGrp="1"/>
          </p:cNvSpPr>
          <p:nvPr>
            <p:ph type="body" sz="quarter" idx="19" hasCustomPrompt="1"/>
          </p:nvPr>
        </p:nvSpPr>
        <p:spPr>
          <a:xfrm>
            <a:off x="738188" y="2030413"/>
            <a:ext cx="6759575" cy="1443037"/>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0">
                <a:solidFill>
                  <a:schemeClr val="bg1"/>
                </a:solidFill>
                <a:latin typeface="Figtree Extra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latin typeface="Figtree ExtraBold" pitchFamily="2" charset="0"/>
              </a:rPr>
              <a:t>Click to add title of presentation</a:t>
            </a:r>
          </a:p>
        </p:txBody>
      </p:sp>
      <p:pic>
        <p:nvPicPr>
          <p:cNvPr id="4" name="Picture 3" descr="Logo&#10;&#10;AI-generated content may be incorrect.">
            <a:extLst>
              <a:ext uri="{FF2B5EF4-FFF2-40B4-BE49-F238E27FC236}">
                <a16:creationId xmlns:a16="http://schemas.microsoft.com/office/drawing/2014/main" id="{A7C34A17-E09E-81F2-BD46-92E5C514212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576292" y="6037288"/>
            <a:ext cx="2132134" cy="598494"/>
          </a:xfrm>
          <a:prstGeom prst="rect">
            <a:avLst/>
          </a:prstGeom>
        </p:spPr>
      </p:pic>
    </p:spTree>
    <p:extLst>
      <p:ext uri="{BB962C8B-B14F-4D97-AF65-F5344CB8AC3E}">
        <p14:creationId xmlns:p14="http://schemas.microsoft.com/office/powerpoint/2010/main" val="4157721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8.jp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3A3A"/>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4"/>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5">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6"/>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 id="2147483686" r:id="rId2"/>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7"/>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22EF28-9D6E-7AB2-9543-67030FD16D82}"/>
              </a:ext>
            </a:extLst>
          </p:cNvPr>
          <p:cNvSpPr>
            <a:spLocks noGrp="1"/>
          </p:cNvSpPr>
          <p:nvPr>
            <p:ph type="body" sz="quarter" idx="17"/>
          </p:nvPr>
        </p:nvSpPr>
        <p:spPr/>
        <p:txBody>
          <a:bodyPr/>
          <a:lstStyle/>
          <a:p>
            <a:r>
              <a:rPr lang="en-US" dirty="0"/>
              <a:t>Stephen </a:t>
            </a:r>
            <a:r>
              <a:rPr lang="en-US" dirty="0" err="1"/>
              <a:t>Colodner</a:t>
            </a:r>
            <a:endParaRPr lang="en-US" dirty="0"/>
          </a:p>
          <a:p>
            <a:r>
              <a:rPr lang="en-US" dirty="0"/>
              <a:t>Office of Program Analysis and Evaluation (PA&amp;E, NA-BA-40)</a:t>
            </a:r>
          </a:p>
        </p:txBody>
      </p:sp>
      <p:sp>
        <p:nvSpPr>
          <p:cNvPr id="3" name="Text Placeholder 2">
            <a:extLst>
              <a:ext uri="{FF2B5EF4-FFF2-40B4-BE49-F238E27FC236}">
                <a16:creationId xmlns:a16="http://schemas.microsoft.com/office/drawing/2014/main" id="{9AC99597-4FE2-FDB0-0C9B-190814A16ADF}"/>
              </a:ext>
            </a:extLst>
          </p:cNvPr>
          <p:cNvSpPr>
            <a:spLocks noGrp="1"/>
          </p:cNvSpPr>
          <p:nvPr>
            <p:ph type="body" sz="quarter" idx="18"/>
          </p:nvPr>
        </p:nvSpPr>
        <p:spPr>
          <a:xfrm>
            <a:off x="718065" y="5186283"/>
            <a:ext cx="6759575" cy="434976"/>
          </a:xfrm>
        </p:spPr>
        <p:txBody>
          <a:bodyPr/>
          <a:lstStyle/>
          <a:p>
            <a:r>
              <a:rPr lang="en-US" dirty="0"/>
              <a:t>August 13, 2026</a:t>
            </a:r>
          </a:p>
        </p:txBody>
      </p:sp>
      <p:sp>
        <p:nvSpPr>
          <p:cNvPr id="4" name="Text Placeholder 3">
            <a:extLst>
              <a:ext uri="{FF2B5EF4-FFF2-40B4-BE49-F238E27FC236}">
                <a16:creationId xmlns:a16="http://schemas.microsoft.com/office/drawing/2014/main" id="{78919120-9E53-0CCE-CE1B-C83CAE636D12}"/>
              </a:ext>
            </a:extLst>
          </p:cNvPr>
          <p:cNvSpPr>
            <a:spLocks noGrp="1"/>
          </p:cNvSpPr>
          <p:nvPr>
            <p:ph type="body" sz="quarter" idx="19"/>
          </p:nvPr>
        </p:nvSpPr>
        <p:spPr/>
        <p:txBody>
          <a:bodyPr/>
          <a:lstStyle/>
          <a:p>
            <a:r>
              <a:rPr lang="en-US" b="1" dirty="0"/>
              <a:t>Excel 365 is Turing Complete! </a:t>
            </a:r>
          </a:p>
          <a:p>
            <a:r>
              <a:rPr lang="en-US" b="1" dirty="0"/>
              <a:t>Never Touch Analysis </a:t>
            </a:r>
            <a:r>
              <a:rPr lang="en-US" b="1" dirty="0" err="1"/>
              <a:t>ToolPak</a:t>
            </a:r>
            <a:r>
              <a:rPr lang="en-US" b="1" dirty="0"/>
              <a:t> Again</a:t>
            </a:r>
            <a:endParaRPr lang="en-US" dirty="0"/>
          </a:p>
        </p:txBody>
      </p:sp>
      <p:sp>
        <p:nvSpPr>
          <p:cNvPr id="6" name="Rounded Rectangle 3">
            <a:extLst>
              <a:ext uri="{FF2B5EF4-FFF2-40B4-BE49-F238E27FC236}">
                <a16:creationId xmlns:a16="http://schemas.microsoft.com/office/drawing/2014/main" id="{5C22B421-069F-9612-E2EC-3CA436146E5F}"/>
              </a:ext>
            </a:extLst>
          </p:cNvPr>
          <p:cNvSpPr/>
          <p:nvPr/>
        </p:nvSpPr>
        <p:spPr>
          <a:xfrm>
            <a:off x="813647" y="3133767"/>
            <a:ext cx="4872645"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4">
            <a:extLst>
              <a:ext uri="{FF2B5EF4-FFF2-40B4-BE49-F238E27FC236}">
                <a16:creationId xmlns:a16="http://schemas.microsoft.com/office/drawing/2014/main" id="{A763EB7B-78F4-BFBE-FE0C-46C51039AF01}"/>
              </a:ext>
            </a:extLst>
          </p:cNvPr>
          <p:cNvSpPr/>
          <p:nvPr/>
        </p:nvSpPr>
        <p:spPr>
          <a:xfrm>
            <a:off x="886799" y="3216063"/>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D0733E1-626B-9F08-18DA-7E3BEFAA0A58}"/>
              </a:ext>
            </a:extLst>
          </p:cNvPr>
          <p:cNvSpPr txBox="1"/>
          <p:nvPr/>
        </p:nvSpPr>
        <p:spPr>
          <a:xfrm>
            <a:off x="886799" y="3270034"/>
            <a:ext cx="457200" cy="184666"/>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2" name="TextBox 11">
            <a:extLst>
              <a:ext uri="{FF2B5EF4-FFF2-40B4-BE49-F238E27FC236}">
                <a16:creationId xmlns:a16="http://schemas.microsoft.com/office/drawing/2014/main" id="{99425DBD-3051-03C2-5884-948BF83CACD6}"/>
              </a:ext>
            </a:extLst>
          </p:cNvPr>
          <p:cNvSpPr txBox="1"/>
          <p:nvPr/>
        </p:nvSpPr>
        <p:spPr>
          <a:xfrm>
            <a:off x="1453727" y="3187318"/>
            <a:ext cx="4128870" cy="353943"/>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t>
            </a:r>
            <a:r>
              <a:rPr sz="1150" i="0" dirty="0">
                <a:solidFill>
                  <a:srgbClr val="DCDCDC"/>
                </a:solidFill>
                <a:latin typeface="Consolas"/>
              </a:rPr>
              <a:t>Coefficients(</a:t>
            </a:r>
            <a:r>
              <a:rPr sz="1150" i="0" dirty="0">
                <a:solidFill>
                  <a:schemeClr val="bg1"/>
                </a:solidFill>
                <a:latin typeface="Consolas"/>
              </a:rPr>
              <a:t>X_s(), </a:t>
            </a:r>
            <a:r>
              <a:rPr sz="1150" i="0" dirty="0" err="1">
                <a:solidFill>
                  <a:schemeClr val="bg1"/>
                </a:solidFill>
                <a:latin typeface="Consolas"/>
              </a:rPr>
              <a:t>Response_Column</a:t>
            </a:r>
            <a:r>
              <a:rPr sz="1150" i="0" dirty="0">
                <a:solidFill>
                  <a:schemeClr val="bg1"/>
                </a:solidFill>
                <a:latin typeface="Consolas"/>
              </a:rPr>
              <a:t>(), </a:t>
            </a:r>
            <a:r>
              <a:rPr sz="1150" i="0" dirty="0" err="1">
                <a:solidFill>
                  <a:srgbClr val="DCDCDC"/>
                </a:solidFill>
                <a:latin typeface="Consolas"/>
              </a:rPr>
              <a:t>Allow_Intercept</a:t>
            </a:r>
            <a:r>
              <a:rPr sz="1150" i="0" dirty="0">
                <a:solidFill>
                  <a:srgbClr val="DCDCDC"/>
                </a:solidFill>
                <a:latin typeface="Consolas"/>
              </a:rPr>
              <a:t>, </a:t>
            </a:r>
            <a:r>
              <a:rPr sz="1150" i="0" dirty="0" err="1">
                <a:solidFill>
                  <a:srgbClr val="DCDCDC"/>
                </a:solidFill>
                <a:latin typeface="Consolas"/>
              </a:rPr>
              <a:t>Sample_Include</a:t>
            </a:r>
            <a:r>
              <a:rPr sz="1150" i="0" dirty="0">
                <a:solidFill>
                  <a:srgbClr val="DCDCDC"/>
                </a:solidFill>
                <a:latin typeface="Consolas"/>
              </a:rPr>
              <a:t>())</a:t>
            </a:r>
          </a:p>
        </p:txBody>
      </p:sp>
    </p:spTree>
    <p:extLst>
      <p:ext uri="{BB962C8B-B14F-4D97-AF65-F5344CB8AC3E}">
        <p14:creationId xmlns:p14="http://schemas.microsoft.com/office/powerpoint/2010/main" val="2198140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Motivation</a:t>
            </a:r>
            <a:endParaRPr sz="2900" b="1" dirty="0">
              <a:solidFill>
                <a:srgbClr val="FFFFFF"/>
              </a:solidFill>
            </a:endParaRPr>
          </a:p>
        </p:txBody>
      </p:sp>
      <p:sp>
        <p:nvSpPr>
          <p:cNvPr id="3" name="TextBox 2"/>
          <p:cNvSpPr txBox="1"/>
          <p:nvPr/>
        </p:nvSpPr>
        <p:spPr>
          <a:xfrm>
            <a:off x="566928" y="1481328"/>
            <a:ext cx="8229600" cy="461665"/>
          </a:xfrm>
          <a:prstGeom prst="rect">
            <a:avLst/>
          </a:prstGeom>
          <a:noFill/>
        </p:spPr>
        <p:txBody>
          <a:bodyPr wrap="square" lIns="0" tIns="0" rIns="0" bIns="0" anchor="t">
            <a:spAutoFit/>
          </a:bodyPr>
          <a:lstStyle/>
          <a:p>
            <a:pPr algn="l">
              <a:lnSpc>
                <a:spcPct val="100000"/>
              </a:lnSpc>
            </a:pPr>
            <a:r>
              <a:rPr lang="en-US" sz="3000" b="1" i="0" dirty="0">
                <a:solidFill>
                  <a:srgbClr val="FFFFFF"/>
                </a:solidFill>
                <a:latin typeface="Arial"/>
              </a:rPr>
              <a:t>Static Output is the bane of the estimator</a:t>
            </a:r>
            <a:endParaRPr sz="3000" b="1" i="0" dirty="0">
              <a:solidFill>
                <a:srgbClr val="14233A"/>
              </a:solidFill>
              <a:latin typeface="Arial"/>
            </a:endParaRPr>
          </a:p>
        </p:txBody>
      </p:sp>
      <p:sp>
        <p:nvSpPr>
          <p:cNvPr id="4" name="TextBox 3"/>
          <p:cNvSpPr txBox="1"/>
          <p:nvPr/>
        </p:nvSpPr>
        <p:spPr>
          <a:xfrm>
            <a:off x="566928" y="2395728"/>
            <a:ext cx="6766560" cy="230832"/>
          </a:xfrm>
          <a:prstGeom prst="rect">
            <a:avLst/>
          </a:prstGeom>
          <a:noFill/>
        </p:spPr>
        <p:txBody>
          <a:bodyPr wrap="square" lIns="0" tIns="0" rIns="0" bIns="0" anchor="t">
            <a:spAutoFit/>
          </a:bodyPr>
          <a:lstStyle/>
          <a:p>
            <a:pPr algn="l">
              <a:lnSpc>
                <a:spcPct val="100000"/>
              </a:lnSpc>
            </a:pPr>
            <a:r>
              <a:rPr lang="en-US" sz="1500" b="0" i="1" dirty="0">
                <a:solidFill>
                  <a:srgbClr val="5FD4C6"/>
                </a:solidFill>
                <a:latin typeface="Arial"/>
              </a:rPr>
              <a:t>When a formula becomes a value, the trail back to the data ends.</a:t>
            </a:r>
            <a:endParaRPr sz="1500" b="0" i="1" dirty="0">
              <a:solidFill>
                <a:srgbClr val="5FD4C6"/>
              </a:solidFill>
              <a:latin typeface="Arial"/>
            </a:endParaRPr>
          </a:p>
        </p:txBody>
      </p:sp>
      <p:sp>
        <p:nvSpPr>
          <p:cNvPr id="5" name="Rectangle 4"/>
          <p:cNvSpPr/>
          <p:nvPr/>
        </p:nvSpPr>
        <p:spPr>
          <a:xfrm>
            <a:off x="566928" y="3108960"/>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063240"/>
            <a:ext cx="2926080" cy="640080"/>
          </a:xfrm>
          <a:prstGeom prst="rect">
            <a:avLst/>
          </a:prstGeom>
          <a:noFill/>
        </p:spPr>
        <p:txBody>
          <a:bodyPr wrap="square" lIns="0" tIns="0" rIns="0" bIns="0" anchor="ctr">
            <a:spAutoFit/>
          </a:bodyPr>
          <a:lstStyle/>
          <a:p>
            <a:pPr algn="l">
              <a:lnSpc>
                <a:spcPct val="100000"/>
              </a:lnSpc>
            </a:pPr>
            <a:r>
              <a:rPr sz="1600" b="1" i="0" dirty="0">
                <a:solidFill>
                  <a:srgbClr val="FFFFFF"/>
                </a:solidFill>
                <a:latin typeface="Arial"/>
              </a:rPr>
              <a:t>License lapses</a:t>
            </a:r>
          </a:p>
        </p:txBody>
      </p:sp>
      <p:sp>
        <p:nvSpPr>
          <p:cNvPr id="7" name="TextBox 6"/>
          <p:cNvSpPr txBox="1"/>
          <p:nvPr/>
        </p:nvSpPr>
        <p:spPr>
          <a:xfrm>
            <a:off x="3767328" y="3063240"/>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renewal slips and the seat goes dark.</a:t>
            </a:r>
          </a:p>
        </p:txBody>
      </p:sp>
      <p:sp>
        <p:nvSpPr>
          <p:cNvPr id="8" name="Rectangle 7"/>
          <p:cNvSpPr/>
          <p:nvPr/>
        </p:nvSpPr>
        <p:spPr>
          <a:xfrm>
            <a:off x="566928" y="3858768"/>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3813048"/>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Version sunsets</a:t>
            </a:r>
          </a:p>
        </p:txBody>
      </p:sp>
      <p:sp>
        <p:nvSpPr>
          <p:cNvPr id="10" name="TextBox 9"/>
          <p:cNvSpPr txBox="1"/>
          <p:nvPr/>
        </p:nvSpPr>
        <p:spPr>
          <a:xfrm>
            <a:off x="3767328" y="3813048"/>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language or package drops out of support.</a:t>
            </a:r>
          </a:p>
        </p:txBody>
      </p:sp>
      <p:sp>
        <p:nvSpPr>
          <p:cNvPr id="11" name="Rectangle 10"/>
          <p:cNvSpPr/>
          <p:nvPr/>
        </p:nvSpPr>
        <p:spPr>
          <a:xfrm>
            <a:off x="566928" y="4608576"/>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4562856"/>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Review tightens</a:t>
            </a:r>
          </a:p>
        </p:txBody>
      </p:sp>
      <p:sp>
        <p:nvSpPr>
          <p:cNvPr id="13" name="TextBox 12"/>
          <p:cNvSpPr txBox="1"/>
          <p:nvPr/>
        </p:nvSpPr>
        <p:spPr>
          <a:xfrm>
            <a:off x="3767328" y="4562856"/>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An add-in stops clearing the security baseline.</a:t>
            </a:r>
          </a:p>
        </p:txBody>
      </p:sp>
      <p:sp>
        <p:nvSpPr>
          <p:cNvPr id="14" name="Rounded Rectangle 13"/>
          <p:cNvSpPr/>
          <p:nvPr/>
        </p:nvSpPr>
        <p:spPr>
          <a:xfrm>
            <a:off x="8183879" y="2971800"/>
            <a:ext cx="3456432" cy="25146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3200400"/>
            <a:ext cx="2926080" cy="184666"/>
          </a:xfrm>
          <a:prstGeom prst="rect">
            <a:avLst/>
          </a:prstGeom>
          <a:noFill/>
        </p:spPr>
        <p:txBody>
          <a:bodyPr wrap="square" lIns="0" tIns="0" rIns="0" bIns="0" anchor="t">
            <a:spAutoFit/>
          </a:bodyPr>
          <a:lstStyle/>
          <a:p>
            <a:pPr algn="l">
              <a:lnSpc>
                <a:spcPct val="100000"/>
              </a:lnSpc>
            </a:pPr>
            <a:r>
              <a:rPr sz="1200" b="1" i="0" dirty="0">
                <a:solidFill>
                  <a:srgbClr val="5EEAD4"/>
                </a:solidFill>
                <a:latin typeface="Arial"/>
              </a:rPr>
              <a:t>THE </a:t>
            </a:r>
            <a:r>
              <a:rPr lang="en-US" sz="1200" b="1" dirty="0">
                <a:solidFill>
                  <a:srgbClr val="5EEAD4"/>
                </a:solidFill>
                <a:latin typeface="Arial"/>
              </a:rPr>
              <a:t>FIX</a:t>
            </a:r>
            <a:endParaRPr sz="1200" b="1" i="0" dirty="0">
              <a:solidFill>
                <a:srgbClr val="5EEAD4"/>
              </a:solidFill>
              <a:latin typeface="Arial"/>
            </a:endParaRPr>
          </a:p>
        </p:txBody>
      </p:sp>
      <p:sp>
        <p:nvSpPr>
          <p:cNvPr id="16" name="TextBox 15"/>
          <p:cNvSpPr txBox="1"/>
          <p:nvPr/>
        </p:nvSpPr>
        <p:spPr>
          <a:xfrm>
            <a:off x="8458200" y="3584448"/>
            <a:ext cx="2926080" cy="738664"/>
          </a:xfrm>
          <a:prstGeom prst="rect">
            <a:avLst/>
          </a:prstGeom>
          <a:noFill/>
        </p:spPr>
        <p:txBody>
          <a:bodyPr wrap="square" lIns="0" tIns="0" rIns="0" bIns="0" anchor="t">
            <a:spAutoFit/>
          </a:bodyPr>
          <a:lstStyle/>
          <a:p>
            <a:pPr algn="l">
              <a:lnSpc>
                <a:spcPct val="100000"/>
              </a:lnSpc>
            </a:pPr>
            <a:r>
              <a:rPr lang="en-US" sz="2400" b="1" i="0" dirty="0">
                <a:solidFill>
                  <a:srgbClr val="FFFFFF"/>
                </a:solidFill>
                <a:latin typeface="Arial"/>
              </a:rPr>
              <a:t>Traceable Analysis in Vanilla Excel</a:t>
            </a:r>
            <a:endParaRPr sz="2400" b="1" i="0" dirty="0">
              <a:solidFill>
                <a:srgbClr val="FFFFFF"/>
              </a:solidFill>
              <a:latin typeface="Arial"/>
            </a:endParaRPr>
          </a:p>
        </p:txBody>
      </p:sp>
      <p:sp>
        <p:nvSpPr>
          <p:cNvPr id="17" name="TextBox 16"/>
          <p:cNvSpPr txBox="1"/>
          <p:nvPr/>
        </p:nvSpPr>
        <p:spPr>
          <a:xfrm>
            <a:off x="8458200" y="4434840"/>
            <a:ext cx="2971800" cy="914400"/>
          </a:xfrm>
          <a:prstGeom prst="rect">
            <a:avLst/>
          </a:prstGeom>
          <a:noFill/>
        </p:spPr>
        <p:txBody>
          <a:bodyPr wrap="square" lIns="0" tIns="0" rIns="0" bIns="0" anchor="t">
            <a:spAutoFit/>
          </a:bodyPr>
          <a:lstStyle/>
          <a:p>
            <a:pPr algn="l">
              <a:lnSpc>
                <a:spcPct val="105000"/>
              </a:lnSpc>
            </a:pPr>
            <a:r>
              <a:rPr sz="1350" b="0" i="0" dirty="0">
                <a:solidFill>
                  <a:srgbClr val="CBD5E1"/>
                </a:solidFill>
                <a:latin typeface="Arial"/>
              </a:rPr>
              <a:t>Already deployed. Already cleared. Already on every estimator's machine.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What's in this talk</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Two things worth your 45 minutes. The tool is the vehicle; the method is the point.</a:t>
            </a:r>
          </a:p>
        </p:txBody>
      </p:sp>
      <p:sp>
        <p:nvSpPr>
          <p:cNvPr id="4" name="Rounded Rectangle 3"/>
          <p:cNvSpPr/>
          <p:nvPr/>
        </p:nvSpPr>
        <p:spPr>
          <a:xfrm>
            <a:off x="566928" y="2057400"/>
            <a:ext cx="5029200" cy="361188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Declare the model, don't build it</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Roles and types on the source table replace hand-built dummy columns, hand-demeaned panels, and hand-maintained ranges. Categorical drivers and fixed effects become dropdown choices.</a:t>
            </a:r>
          </a:p>
        </p:txBody>
      </p:sp>
      <p:sp>
        <p:nvSpPr>
          <p:cNvPr id="9" name="Rounded Rectangle 8"/>
          <p:cNvSpPr/>
          <p:nvPr/>
        </p:nvSpPr>
        <p:spPr>
          <a:xfrm>
            <a:off x="6007608" y="2057400"/>
            <a:ext cx="5029200" cy="361188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A workflow you can defend</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Screening through diagnostics, cross-validation, and prediction intervals — every number a live formula a reviewer can click through to the source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Deployable
here</a:t>
                      </a:r>
                    </a:p>
                  </a:txBody>
                  <a:tcPr anchor="ctr">
                    <a:solidFill>
                      <a:srgbClr val="423781"/>
                    </a:solidFill>
                  </a:tcPr>
                </a:tc>
                <a:tc>
                  <a:txBody>
                    <a:bodyPr/>
                    <a:lstStyle/>
                    <a:p>
                      <a:pPr algn="ctr"/>
                      <a:r>
                        <a:rPr sz="1200" b="1">
                          <a:solidFill>
                            <a:srgbClr val="FFFFFF"/>
                          </a:solidFill>
                          <a:latin typeface="Arial"/>
                        </a:rPr>
                        <a:t>Power</a:t>
                      </a:r>
                    </a:p>
                  </a:txBody>
                  <a:tcPr anchor="ctr">
                    <a:solidFill>
                      <a:srgbClr val="423781"/>
                    </a:solidFill>
                  </a:tcPr>
                </a:tc>
                <a:tc>
                  <a:txBody>
                    <a:bodyPr/>
                    <a:lstStyle/>
                    <a:p>
                      <a:pPr algn="ctr"/>
                      <a:r>
                        <a:rPr sz="1200" b="1">
                          <a:solidFill>
                            <a:srgbClr val="FFFFFF"/>
                          </a:solidFill>
                          <a:latin typeface="Arial"/>
                        </a:rPr>
                        <a:t>Dynamic</a:t>
                      </a:r>
                    </a:p>
                  </a:txBody>
                  <a:tcPr anchor="ctr">
                    <a:solidFill>
                      <a:srgbClr val="423781"/>
                    </a:solidFill>
                  </a:tcPr>
                </a:tc>
                <a:tc>
                  <a:txBody>
                    <a:bodyPr/>
                    <a:lstStyle/>
                    <a:p>
                      <a:pPr algn="ctr"/>
                      <a:r>
                        <a:rPr sz="1200" b="1">
                          <a:solidFill>
                            <a:srgbClr val="FFFFFF"/>
                          </a:solidFill>
                          <a:latin typeface="Arial"/>
                        </a:rPr>
                        <a:t>Traceability</a:t>
                      </a:r>
                    </a:p>
                  </a:txBody>
                  <a:tcPr anchor="ctr">
                    <a:solidFill>
                      <a:srgbClr val="423781"/>
                    </a:solidFill>
                  </a:tcPr>
                </a:tc>
                <a:tc>
                  <a:txBody>
                    <a:bodyPr/>
                    <a:lstStyle/>
                    <a:p>
                      <a:pPr algn="ctr"/>
                      <a:r>
                        <a:rPr sz="1200" b="1">
                          <a:solidFill>
                            <a:srgbClr val="FFFFFF"/>
                          </a:solidFill>
                          <a:latin typeface="Arial"/>
                        </a:rPr>
                        <a:t>Handoff</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Code  (R / Python)</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This library</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Two Excel features do the work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Technique — worth knowing whether or not you ever open this workbook.</a:t>
            </a:r>
          </a:p>
        </p:txBody>
      </p:sp>
      <p:sp>
        <p:nvSpPr>
          <p:cNvPr id="4" name="Rounded Rectangle 3"/>
          <p:cNvSpPr/>
          <p:nvPr/>
        </p:nvSpPr>
        <p:spPr>
          <a:xfrm>
            <a:off x="5486400" y="2103120"/>
            <a:ext cx="6135624" cy="91440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FFFFFF"/>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Point at a table column by name, not a cell range. The formula says what it means — and a named reference survives inserted rows, sorts, and a reviewer's edits.</a:t>
            </a:r>
          </a:p>
        </p:txBody>
      </p:sp>
      <p:sp>
        <p:nvSpPr>
          <p:cNvPr id="7" name="Rounded Rectangle 6"/>
          <p:cNvSpPr/>
          <p:nvPr/>
        </p:nvSpPr>
        <p:spPr>
          <a:xfrm>
            <a:off x="5577840" y="216712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=AVERAGE(</a:t>
            </a:r>
            <a:r>
              <a:rPr sz="1150" b="1" i="0" dirty="0">
                <a:solidFill>
                  <a:srgbClr val="5FD4C6"/>
                </a:solidFill>
                <a:latin typeface="Consolas"/>
              </a:rPr>
              <a:t>Life[Adult Mortality]</a:t>
            </a:r>
            <a:r>
              <a:rPr sz="1150" b="0" i="0" dirty="0">
                <a:solidFill>
                  <a:srgbClr val="DCDCDC"/>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FFFFFF"/>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One formula returns a whole table of results that sizes itself. Write it once in the corner cell; it fills the rest and shrinks when the model does.</a:t>
            </a:r>
          </a:p>
        </p:txBody>
      </p:sp>
      <p:sp>
        <p:nvSpPr>
          <p:cNvPr id="15" name="Rounded Rectangle 14"/>
          <p:cNvSpPr/>
          <p:nvPr/>
        </p:nvSpPr>
        <p:spPr>
          <a:xfrm>
            <a:off x="5577840" y="404164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6217920" y="4027650"/>
            <a:ext cx="5303520" cy="530915"/>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=Coefficients(X_s(), Response_Column())</a:t>
            </a:r>
            <a:r>
              <a:rPr sz="1150" b="1" i="0" dirty="0">
                <a:solidFill>
                  <a:srgbClr val="5FD4C6"/>
                </a:solidFill>
                <a:latin typeface="Consolas"/>
              </a:rPr>
              <a:t> </a:t>
            </a:r>
            <a:r>
              <a:rPr lang="en-US" sz="1150" b="1" i="0" dirty="0">
                <a:solidFill>
                  <a:srgbClr val="5FD4C6"/>
                </a:solidFill>
                <a:latin typeface="Consolas"/>
              </a:rPr>
              <a:t>	</a:t>
            </a:r>
            <a:r>
              <a:rPr sz="1150" b="1" i="0" dirty="0">
                <a:solidFill>
                  <a:srgbClr val="5FD4C6"/>
                </a:solidFill>
                <a:latin typeface="Consolas"/>
              </a:rPr>
              <a:t>▣</a:t>
            </a:r>
            <a:r>
              <a:rPr lang="en-US" sz="1150" b="1" i="0" dirty="0">
                <a:solidFill>
                  <a:srgbClr val="5FD4C6"/>
                </a:solidFill>
                <a:latin typeface="Consolas"/>
              </a:rPr>
              <a:t> Vertical Spill</a:t>
            </a:r>
          </a:p>
          <a:p>
            <a:pPr algn="l">
              <a:lnSpc>
                <a:spcPct val="100000"/>
              </a:lnSpc>
            </a:pPr>
            <a:r>
              <a:rPr lang="en-US" sz="1150" b="1" dirty="0">
                <a:solidFill>
                  <a:srgbClr val="5FD4C6"/>
                </a:solidFill>
                <a:latin typeface="Consolas"/>
              </a:rPr>
              <a:t>				</a:t>
            </a:r>
            <a:r>
              <a:rPr sz="1150" b="1" i="0" dirty="0">
                <a:solidFill>
                  <a:srgbClr val="5FD4C6"/>
                </a:solidFill>
                <a:latin typeface="Consolas"/>
              </a:rPr>
              <a:t>▣</a:t>
            </a:r>
            <a:endParaRPr lang="en-US" sz="1150" b="1" i="0" dirty="0">
              <a:solidFill>
                <a:srgbClr val="5FD4C6"/>
              </a:solidFill>
              <a:latin typeface="Consolas"/>
            </a:endParaRPr>
          </a:p>
          <a:p>
            <a:pPr algn="l">
              <a:lnSpc>
                <a:spcPct val="100000"/>
              </a:lnSpc>
            </a:pPr>
            <a:r>
              <a:rPr lang="en-US" sz="1150" b="1" dirty="0">
                <a:solidFill>
                  <a:srgbClr val="5FD4C6"/>
                </a:solidFill>
                <a:latin typeface="Consolas"/>
              </a:rPr>
              <a:t>				</a:t>
            </a:r>
            <a:r>
              <a:rPr sz="1150" b="1" i="0" dirty="0">
                <a:solidFill>
                  <a:srgbClr val="5FD4C6"/>
                </a:solidFill>
                <a:latin typeface="Consolas"/>
              </a:rPr>
              <a:t>▣</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one cell, many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LET → LAMBDA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How 112 functions exist with zero macros, zero add-ins, and zero installation.</a:t>
            </a:r>
          </a:p>
        </p:txBody>
      </p:sp>
      <p:sp>
        <p:nvSpPr>
          <p:cNvPr id="42" name="Shape 2"/>
          <p:cNvSpPr/>
          <p:nvPr/>
        </p:nvSpPr>
        <p:spPr>
          <a:xfrm>
            <a:off x="566928" y="210312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3"/>
          <p:cNvSpPr txBox="1"/>
          <p:nvPr/>
        </p:nvSpPr>
        <p:spPr>
          <a:xfrm>
            <a:off x="566928" y="2103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4" name="TextBox 4"/>
          <p:cNvSpPr txBox="1"/>
          <p:nvPr/>
        </p:nvSpPr>
        <p:spPr>
          <a:xfrm>
            <a:off x="1225296" y="2039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A formula</a:t>
            </a:r>
          </a:p>
        </p:txBody>
      </p:sp>
      <p:sp>
        <p:nvSpPr>
          <p:cNvPr id="5" name="TextBox 5"/>
          <p:cNvSpPr txBox="1"/>
          <p:nvPr/>
        </p:nvSpPr>
        <p:spPr>
          <a:xfrm>
            <a:off x="1225296" y="2395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Start with ordinary math.</a:t>
            </a:r>
          </a:p>
        </p:txBody>
      </p:sp>
      <p:sp>
        <p:nvSpPr>
          <p:cNvPr id="6" name="Shape 6"/>
          <p:cNvSpPr/>
          <p:nvPr/>
        </p:nvSpPr>
        <p:spPr>
          <a:xfrm>
            <a:off x="5577840" y="2066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hape 7"/>
          <p:cNvSpPr/>
          <p:nvPr/>
        </p:nvSpPr>
        <p:spPr>
          <a:xfrm>
            <a:off x="5650992" y="2148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p:cNvSpPr txBox="1"/>
          <p:nvPr/>
        </p:nvSpPr>
        <p:spPr>
          <a:xfrm>
            <a:off x="5650992" y="2148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9" name="TextBox 9"/>
          <p:cNvSpPr txBox="1"/>
          <p:nvPr/>
        </p:nvSpPr>
        <p:spPr>
          <a:xfrm>
            <a:off x="6217920" y="206654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=SQRT(A1^2 + B1^2)</a:t>
            </a:r>
          </a:p>
        </p:txBody>
      </p:sp>
      <p:sp>
        <p:nvSpPr>
          <p:cNvPr id="10" name="Shape 10"/>
          <p:cNvSpPr/>
          <p:nvPr/>
        </p:nvSpPr>
        <p:spPr>
          <a:xfrm>
            <a:off x="566928" y="297180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566928" y="297180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2" name="TextBox 12"/>
          <p:cNvSpPr txBox="1"/>
          <p:nvPr/>
        </p:nvSpPr>
        <p:spPr>
          <a:xfrm>
            <a:off x="1225296" y="290779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LET names the parts</a:t>
            </a:r>
          </a:p>
        </p:txBody>
      </p:sp>
      <p:sp>
        <p:nvSpPr>
          <p:cNvPr id="13" name="TextBox 13"/>
          <p:cNvSpPr txBox="1"/>
          <p:nvPr/>
        </p:nvSpPr>
        <p:spPr>
          <a:xfrm>
            <a:off x="1225296" y="326440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Like a table alias in SQL — name it, reuse it.</a:t>
            </a:r>
          </a:p>
        </p:txBody>
      </p:sp>
      <p:sp>
        <p:nvSpPr>
          <p:cNvPr id="14" name="Shape 14"/>
          <p:cNvSpPr/>
          <p:nvPr/>
        </p:nvSpPr>
        <p:spPr>
          <a:xfrm>
            <a:off x="5577840" y="293522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5650992" y="301752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5650992" y="301752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7" name="TextBox 17"/>
          <p:cNvSpPr txBox="1"/>
          <p:nvPr/>
        </p:nvSpPr>
        <p:spPr>
          <a:xfrm>
            <a:off x="6217920" y="293522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=LET(</a:t>
            </a:r>
            <a:r>
              <a:rPr sz="1150" b="1" i="0">
                <a:solidFill>
                  <a:srgbClr val="5FD4C6"/>
                </a:solidFill>
                <a:latin typeface="Consolas"/>
              </a:rPr>
              <a:t>a</a:t>
            </a:r>
            <a:r>
              <a:rPr sz="1150" b="0" i="0">
                <a:solidFill>
                  <a:srgbClr val="DCDCDC"/>
                </a:solidFill>
                <a:latin typeface="Consolas"/>
              </a:rPr>
              <a:t>, A1, </a:t>
            </a:r>
            <a:r>
              <a:rPr sz="1150" b="1" i="0">
                <a:solidFill>
                  <a:srgbClr val="5FD4C6"/>
                </a:solidFill>
                <a:latin typeface="Consolas"/>
              </a:rPr>
              <a:t>b</a:t>
            </a:r>
            <a:r>
              <a:rPr sz="1150" b="0" i="0">
                <a:solidFill>
                  <a:srgbClr val="DCDCDC"/>
                </a:solidFill>
                <a:latin typeface="Consolas"/>
              </a:rPr>
              <a:t>, B1, SQRT(a^2 + b^2))</a:t>
            </a:r>
          </a:p>
        </p:txBody>
      </p:sp>
      <p:sp>
        <p:nvSpPr>
          <p:cNvPr id="18" name="Shape 18"/>
          <p:cNvSpPr/>
          <p:nvPr/>
        </p:nvSpPr>
        <p:spPr>
          <a:xfrm>
            <a:off x="566928" y="384048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9"/>
          <p:cNvSpPr txBox="1"/>
          <p:nvPr/>
        </p:nvSpPr>
        <p:spPr>
          <a:xfrm>
            <a:off x="566928" y="384048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0" name="TextBox 20"/>
          <p:cNvSpPr txBox="1"/>
          <p:nvPr/>
        </p:nvSpPr>
        <p:spPr>
          <a:xfrm>
            <a:off x="1225296" y="377647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LAMBDA makes it callable</a:t>
            </a:r>
          </a:p>
        </p:txBody>
      </p:sp>
      <p:sp>
        <p:nvSpPr>
          <p:cNvPr id="21" name="TextBox 21"/>
          <p:cNvSpPr txBox="1"/>
          <p:nvPr/>
        </p:nvSpPr>
        <p:spPr>
          <a:xfrm>
            <a:off x="1225296" y="413308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Arguments up front — call it right there.</a:t>
            </a:r>
          </a:p>
        </p:txBody>
      </p:sp>
      <p:sp>
        <p:nvSpPr>
          <p:cNvPr id="22" name="Shape 22"/>
          <p:cNvSpPr/>
          <p:nvPr/>
        </p:nvSpPr>
        <p:spPr>
          <a:xfrm>
            <a:off x="5577840" y="380390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 23"/>
          <p:cNvSpPr/>
          <p:nvPr/>
        </p:nvSpPr>
        <p:spPr>
          <a:xfrm>
            <a:off x="5650992" y="388620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4"/>
          <p:cNvSpPr txBox="1"/>
          <p:nvPr/>
        </p:nvSpPr>
        <p:spPr>
          <a:xfrm>
            <a:off x="5650992" y="388620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5" name="TextBox 25"/>
          <p:cNvSpPr txBox="1"/>
          <p:nvPr/>
        </p:nvSpPr>
        <p:spPr>
          <a:xfrm>
            <a:off x="6217920" y="380390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=LAMBDA(</a:t>
            </a:r>
            <a:r>
              <a:rPr sz="1150" b="1" i="0">
                <a:solidFill>
                  <a:srgbClr val="5FD4C6"/>
                </a:solidFill>
                <a:latin typeface="Consolas"/>
              </a:rPr>
              <a:t>a, b</a:t>
            </a:r>
            <a:r>
              <a:rPr sz="1150" b="0" i="0">
                <a:solidFill>
                  <a:srgbClr val="DCDCDC"/>
                </a:solidFill>
                <a:latin typeface="Consolas"/>
              </a:rPr>
              <a:t>, SQRT(a^2 + b^2))</a:t>
            </a:r>
            <a:r>
              <a:rPr sz="1150" b="1" i="0">
                <a:solidFill>
                  <a:srgbClr val="E3B23C"/>
                </a:solidFill>
                <a:latin typeface="Consolas"/>
              </a:rPr>
              <a:t>(3, 4)</a:t>
            </a:r>
          </a:p>
        </p:txBody>
      </p:sp>
      <p:sp>
        <p:nvSpPr>
          <p:cNvPr id="26" name="TextBox 26"/>
          <p:cNvSpPr txBox="1"/>
          <p:nvPr/>
        </p:nvSpPr>
        <p:spPr>
          <a:xfrm>
            <a:off x="10360152" y="380390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27" name="Shape 27"/>
          <p:cNvSpPr/>
          <p:nvPr/>
        </p:nvSpPr>
        <p:spPr>
          <a:xfrm>
            <a:off x="10698480" y="380390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8"/>
          <p:cNvSpPr txBox="1"/>
          <p:nvPr/>
        </p:nvSpPr>
        <p:spPr>
          <a:xfrm>
            <a:off x="10698480" y="380390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29" name="Shape 29"/>
          <p:cNvSpPr/>
          <p:nvPr/>
        </p:nvSpPr>
        <p:spPr>
          <a:xfrm>
            <a:off x="566928" y="470916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0"/>
          <p:cNvSpPr txBox="1"/>
          <p:nvPr/>
        </p:nvSpPr>
        <p:spPr>
          <a:xfrm>
            <a:off x="566928" y="470916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4</a:t>
            </a:r>
          </a:p>
        </p:txBody>
      </p:sp>
      <p:sp>
        <p:nvSpPr>
          <p:cNvPr id="31" name="TextBox 31"/>
          <p:cNvSpPr txBox="1"/>
          <p:nvPr/>
        </p:nvSpPr>
        <p:spPr>
          <a:xfrm>
            <a:off x="1225296" y="464515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Name it in the Name Manager</a:t>
            </a:r>
          </a:p>
        </p:txBody>
      </p:sp>
      <p:sp>
        <p:nvSpPr>
          <p:cNvPr id="32" name="TextBox 32"/>
          <p:cNvSpPr txBox="1"/>
          <p:nvPr/>
        </p:nvSpPr>
        <p:spPr>
          <a:xfrm>
            <a:off x="1225296" y="500176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Now it works exactly like SUM.</a:t>
            </a:r>
          </a:p>
        </p:txBody>
      </p:sp>
      <p:sp>
        <p:nvSpPr>
          <p:cNvPr id="33" name="Shape 33"/>
          <p:cNvSpPr/>
          <p:nvPr/>
        </p:nvSpPr>
        <p:spPr>
          <a:xfrm>
            <a:off x="5577840" y="467258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 34"/>
          <p:cNvSpPr/>
          <p:nvPr/>
        </p:nvSpPr>
        <p:spPr>
          <a:xfrm>
            <a:off x="5650992" y="475488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5"/>
          <p:cNvSpPr txBox="1"/>
          <p:nvPr/>
        </p:nvSpPr>
        <p:spPr>
          <a:xfrm>
            <a:off x="5650992" y="475488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36" name="TextBox 36"/>
          <p:cNvSpPr txBox="1"/>
          <p:nvPr/>
        </p:nvSpPr>
        <p:spPr>
          <a:xfrm>
            <a:off x="6217920" y="467258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a:t>
            </a:r>
            <a:r>
              <a:rPr sz="1150" b="1" i="0">
                <a:solidFill>
                  <a:srgbClr val="5FD4C6"/>
                </a:solidFill>
                <a:latin typeface="Consolas"/>
              </a:rPr>
              <a:t>Hypotenuse</a:t>
            </a:r>
            <a:r>
              <a:rPr sz="1150" b="1" i="0">
                <a:solidFill>
                  <a:srgbClr val="E3B23C"/>
                </a:solidFill>
                <a:latin typeface="Consolas"/>
              </a:rPr>
              <a:t>(3, 4)</a:t>
            </a:r>
          </a:p>
        </p:txBody>
      </p:sp>
      <p:sp>
        <p:nvSpPr>
          <p:cNvPr id="37" name="TextBox 37"/>
          <p:cNvSpPr txBox="1"/>
          <p:nvPr/>
        </p:nvSpPr>
        <p:spPr>
          <a:xfrm>
            <a:off x="10360152" y="467258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38" name="Shape 38"/>
          <p:cNvSpPr/>
          <p:nvPr/>
        </p:nvSpPr>
        <p:spPr>
          <a:xfrm>
            <a:off x="10698480" y="467258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10698480" y="467258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40" name="Shape 40"/>
          <p:cNvSpPr/>
          <p:nvPr/>
        </p:nvSpPr>
        <p:spPr>
          <a:xfrm>
            <a:off x="566928" y="5486400"/>
            <a:ext cx="5120640" cy="420624"/>
          </a:xfrm>
          <a:prstGeom prst="roundRect">
            <a:avLst>
              <a:gd name="adj" fmla="val 18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1"/>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150" b="1" i="0">
                <a:solidFill>
                  <a:srgbClr val="5FD4C6"/>
                </a:solidFill>
                <a:latin typeface="Arial"/>
              </a:rPr>
              <a:t>Saved in the workbook as named formulas — nothing to enable.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ships in the workbook</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One .xlsx file. Eight sheets, 112 functions, and the dataset it was built against.</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112 LAMBDA functions</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workbook-scoped · callable from any cell</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 Model Construction</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the spec block and the full OLS engine</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Univariate Analysis</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descriptives · histograms · distribution fitting</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LAMBDA_functions catalog</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every signature, generated from source — never stale</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Diagnostic Guide + Instructions</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how to read a diagnostic · how to adapt the sheet to your data</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Also aboard:   </a:t>
            </a:r>
            <a:r>
              <a:rPr sz="1400" b="1" i="0">
                <a:solidFill>
                  <a:srgbClr val="5EEAD4"/>
                </a:solidFill>
                <a:latin typeface="Arial"/>
              </a:rPr>
              <a:t>the WHO life-expectancy panel, 2,938 rows × 193 countries</a:t>
            </a:r>
            <a:r>
              <a:rPr sz="1400" b="0" i="0">
                <a:solidFill>
                  <a:srgbClr val="9A9A9A"/>
                </a:solidFill>
                <a:latin typeface="Arial"/>
              </a:rPr>
              <a:t>    ·    </a:t>
            </a:r>
            <a:r>
              <a:rPr sz="1400" b="1" i="0">
                <a:solidFill>
                  <a:srgbClr val="5EEAD4"/>
                </a:solidFill>
                <a:latin typeface="Arial"/>
              </a:rPr>
              <a:t>a public dataset, so anything you see here you can reproduce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You declare; the sheet constructs</a:t>
            </a:r>
          </a:p>
        </p:txBody>
      </p:sp>
      <p:sp>
        <p:nvSpPr>
          <p:cNvPr id="48" name="TextBox 2"/>
          <p:cNvSpPr txBox="1"/>
          <p:nvPr/>
        </p:nvSpPr>
        <p:spPr>
          <a:xfrm>
            <a:off x="566928" y="1389888"/>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Set one dropdown to Categorical, and this is the matrix the sheet hands the regression engine.</a:t>
            </a:r>
          </a:p>
        </p:txBody>
      </p:sp>
      <p:sp>
        <p:nvSpPr>
          <p:cNvPr id="3" name="TextBox 3"/>
          <p:cNvSpPr txBox="1"/>
          <p:nvPr/>
        </p:nvSpPr>
        <p:spPr>
          <a:xfrm>
            <a:off x="566928" y="1920240"/>
            <a:ext cx="3017520" cy="274320"/>
          </a:xfrm>
          <a:prstGeom prst="rect">
            <a:avLst/>
          </a:prstGeom>
          <a:noFill/>
        </p:spPr>
        <p:txBody>
          <a:bodyPr wrap="square" lIns="0" tIns="0" rIns="0" bIns="0" anchor="t">
            <a:spAutoFit/>
          </a:bodyPr>
          <a:lstStyle/>
          <a:p>
            <a:pPr algn="l">
              <a:lnSpc>
                <a:spcPct val="100000"/>
              </a:lnSpc>
            </a:pPr>
            <a:r>
              <a:rPr sz="1050" b="1" i="0">
                <a:solidFill>
                  <a:srgbClr val="C9CDD2"/>
                </a:solidFill>
                <a:latin typeface="Arial"/>
              </a:rPr>
              <a:t>YOU DECLARE</a:t>
            </a:r>
          </a:p>
        </p:txBody>
      </p:sp>
      <p:sp>
        <p:nvSpPr>
          <p:cNvPr id="4" name="Shape 4"/>
          <p:cNvSpPr/>
          <p:nvPr/>
        </p:nvSpPr>
        <p:spPr>
          <a:xfrm>
            <a:off x="566928" y="2267712"/>
            <a:ext cx="3017520" cy="1243584"/>
          </a:xfrm>
          <a:prstGeom prst="roundRect">
            <a:avLst>
              <a:gd name="adj" fmla="val 8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5"/>
          <p:cNvSpPr txBox="1"/>
          <p:nvPr/>
        </p:nvSpPr>
        <p:spPr>
          <a:xfrm>
            <a:off x="786384" y="2432304"/>
            <a:ext cx="2651760" cy="274320"/>
          </a:xfrm>
          <a:prstGeom prst="rect">
            <a:avLst/>
          </a:prstGeom>
          <a:noFill/>
        </p:spPr>
        <p:txBody>
          <a:bodyPr wrap="square" lIns="0" tIns="0" rIns="0" bIns="0" anchor="ctr">
            <a:spAutoFit/>
          </a:bodyPr>
          <a:lstStyle/>
          <a:p>
            <a:pPr algn="l">
              <a:lnSpc>
                <a:spcPct val="100000"/>
              </a:lnSpc>
            </a:pPr>
            <a:r>
              <a:rPr sz="1000" b="1" i="0">
                <a:solidFill>
                  <a:srgbClr val="FFFFFF"/>
                </a:solidFill>
                <a:latin typeface="Consolas"/>
              </a:rPr>
              <a:t>Building_Construction_Type</a:t>
            </a:r>
          </a:p>
        </p:txBody>
      </p:sp>
      <p:sp>
        <p:nvSpPr>
          <p:cNvPr id="6" name="TextBox 6"/>
          <p:cNvSpPr txBox="1"/>
          <p:nvPr/>
        </p:nvSpPr>
        <p:spPr>
          <a:xfrm>
            <a:off x="786384" y="2761488"/>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Role</a:t>
            </a:r>
            <a:r>
              <a:rPr sz="950" b="1" i="0">
                <a:solidFill>
                  <a:srgbClr val="DCDCDC"/>
                </a:solidFill>
                <a:latin typeface="Arial"/>
              </a:rPr>
              <a:t>   Predictor</a:t>
            </a:r>
          </a:p>
        </p:txBody>
      </p:sp>
      <p:sp>
        <p:nvSpPr>
          <p:cNvPr id="7" name="TextBox 7"/>
          <p:cNvSpPr txBox="1"/>
          <p:nvPr/>
        </p:nvSpPr>
        <p:spPr>
          <a:xfrm>
            <a:off x="786384" y="3054096"/>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Type</a:t>
            </a:r>
            <a:r>
              <a:rPr sz="950" b="1" i="0">
                <a:solidFill>
                  <a:srgbClr val="5FD4C6"/>
                </a:solidFill>
                <a:latin typeface="Arial"/>
              </a:rPr>
              <a:t>   Categorical</a:t>
            </a:r>
          </a:p>
        </p:txBody>
      </p:sp>
      <p:sp>
        <p:nvSpPr>
          <p:cNvPr id="8" name="TextBox 8"/>
          <p:cNvSpPr txBox="1"/>
          <p:nvPr/>
        </p:nvSpPr>
        <p:spPr>
          <a:xfrm>
            <a:off x="3712464" y="2615184"/>
            <a:ext cx="457200" cy="548640"/>
          </a:xfrm>
          <a:prstGeom prst="rect">
            <a:avLst/>
          </a:prstGeom>
          <a:noFill/>
        </p:spPr>
        <p:txBody>
          <a:bodyPr wrap="square" lIns="0" tIns="0" rIns="0" bIns="0" anchor="ctr">
            <a:spAutoFit/>
          </a:bodyPr>
          <a:lstStyle/>
          <a:p>
            <a:pPr algn="ctr">
              <a:lnSpc>
                <a:spcPct val="100000"/>
              </a:lnSpc>
            </a:pPr>
            <a:r>
              <a:rPr sz="2000" b="1" i="0">
                <a:solidFill>
                  <a:srgbClr val="5FD4C6"/>
                </a:solidFill>
                <a:latin typeface="Arial"/>
              </a:rPr>
              <a:t>→</a:t>
            </a:r>
          </a:p>
        </p:txBody>
      </p:sp>
      <p:sp>
        <p:nvSpPr>
          <p:cNvPr id="9" name="TextBox 9"/>
          <p:cNvSpPr txBox="1"/>
          <p:nvPr/>
        </p:nvSpPr>
        <p:spPr>
          <a:xfrm>
            <a:off x="4334256" y="1920240"/>
            <a:ext cx="7287768" cy="274320"/>
          </a:xfrm>
          <a:prstGeom prst="rect">
            <a:avLst/>
          </a:prstGeom>
          <a:noFill/>
        </p:spPr>
        <p:txBody>
          <a:bodyPr wrap="square" lIns="0" tIns="0" rIns="0" bIns="0" anchor="t">
            <a:spAutoFit/>
          </a:bodyPr>
          <a:lstStyle/>
          <a:p>
            <a:pPr algn="l">
              <a:lnSpc>
                <a:spcPct val="100000"/>
              </a:lnSpc>
            </a:pPr>
            <a:r>
              <a:rPr sz="1050" b="1" i="0">
                <a:solidFill>
                  <a:srgbClr val="5FD4C6"/>
                </a:solidFill>
                <a:latin typeface="Arial"/>
              </a:rPr>
              <a:t>X_s()  CONSTRUCTS</a:t>
            </a:r>
          </a:p>
        </p:txBody>
      </p:sp>
      <p:sp>
        <p:nvSpPr>
          <p:cNvPr id="10" name="Shape 10"/>
          <p:cNvSpPr/>
          <p:nvPr/>
        </p:nvSpPr>
        <p:spPr>
          <a:xfrm>
            <a:off x="4334256" y="2267712"/>
            <a:ext cx="7287768" cy="315468"/>
          </a:xfrm>
          <a:prstGeom prst="rect">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443984" y="2267712"/>
            <a:ext cx="1481328" cy="315468"/>
          </a:xfrm>
          <a:prstGeom prst="rect">
            <a:avLst/>
          </a:prstGeom>
          <a:noFill/>
        </p:spPr>
        <p:txBody>
          <a:bodyPr wrap="square" lIns="0" tIns="0" rIns="0" bIns="0" anchor="ctr">
            <a:spAutoFit/>
          </a:bodyPr>
          <a:lstStyle/>
          <a:p>
            <a:pPr algn="l">
              <a:lnSpc>
                <a:spcPct val="100000"/>
              </a:lnSpc>
            </a:pPr>
            <a:r>
              <a:rPr sz="950" b="1" i="0">
                <a:solidFill>
                  <a:srgbClr val="FFFFFF"/>
                </a:solidFill>
                <a:latin typeface="Arial"/>
              </a:rPr>
              <a:t>Project</a:t>
            </a:r>
          </a:p>
        </p:txBody>
      </p:sp>
      <p:sp>
        <p:nvSpPr>
          <p:cNvPr id="12" name="TextBox 12"/>
          <p:cNvSpPr txBox="1"/>
          <p:nvPr/>
        </p:nvSpPr>
        <p:spPr>
          <a:xfrm>
            <a:off x="5815584"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Intercept</a:t>
            </a:r>
          </a:p>
        </p:txBody>
      </p:sp>
      <p:sp>
        <p:nvSpPr>
          <p:cNvPr id="13" name="TextBox 13"/>
          <p:cNvSpPr txBox="1"/>
          <p:nvPr/>
        </p:nvSpPr>
        <p:spPr>
          <a:xfrm>
            <a:off x="6976872"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GSF</a:t>
            </a:r>
          </a:p>
        </p:txBody>
      </p:sp>
      <p:sp>
        <p:nvSpPr>
          <p:cNvPr id="14" name="TextBox 14"/>
          <p:cNvSpPr txBox="1"/>
          <p:nvPr/>
        </p:nvSpPr>
        <p:spPr>
          <a:xfrm>
            <a:off x="8138160"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PreEng</a:t>
            </a:r>
          </a:p>
        </p:txBody>
      </p:sp>
      <p:sp>
        <p:nvSpPr>
          <p:cNvPr id="15" name="TextBox 15"/>
          <p:cNvSpPr txBox="1"/>
          <p:nvPr/>
        </p:nvSpPr>
        <p:spPr>
          <a:xfrm>
            <a:off x="9299448"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ReinfConc</a:t>
            </a:r>
          </a:p>
        </p:txBody>
      </p:sp>
      <p:sp>
        <p:nvSpPr>
          <p:cNvPr id="16" name="TextBox 16"/>
          <p:cNvSpPr txBox="1"/>
          <p:nvPr/>
        </p:nvSpPr>
        <p:spPr>
          <a:xfrm>
            <a:off x="10460736"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Steel</a:t>
            </a:r>
          </a:p>
        </p:txBody>
      </p:sp>
      <p:sp>
        <p:nvSpPr>
          <p:cNvPr id="17" name="Shape 17"/>
          <p:cNvSpPr/>
          <p:nvPr/>
        </p:nvSpPr>
        <p:spPr>
          <a:xfrm>
            <a:off x="4334256" y="2583180"/>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p:cNvSpPr txBox="1"/>
          <p:nvPr/>
        </p:nvSpPr>
        <p:spPr>
          <a:xfrm>
            <a:off x="4443984" y="2583180"/>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PRJ-014</a:t>
            </a:r>
          </a:p>
        </p:txBody>
      </p:sp>
      <p:sp>
        <p:nvSpPr>
          <p:cNvPr id="19" name="TextBox 19"/>
          <p:cNvSpPr txBox="1"/>
          <p:nvPr/>
        </p:nvSpPr>
        <p:spPr>
          <a:xfrm>
            <a:off x="5815584"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0" name="TextBox 20"/>
          <p:cNvSpPr txBox="1"/>
          <p:nvPr/>
        </p:nvSpPr>
        <p:spPr>
          <a:xfrm>
            <a:off x="6976872"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12,400</a:t>
            </a:r>
          </a:p>
        </p:txBody>
      </p:sp>
      <p:sp>
        <p:nvSpPr>
          <p:cNvPr id="21" name="TextBox 21"/>
          <p:cNvSpPr txBox="1"/>
          <p:nvPr/>
        </p:nvSpPr>
        <p:spPr>
          <a:xfrm>
            <a:off x="8138160"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2" name="TextBox 22"/>
          <p:cNvSpPr txBox="1"/>
          <p:nvPr/>
        </p:nvSpPr>
        <p:spPr>
          <a:xfrm>
            <a:off x="9299448"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3" name="TextBox 23"/>
          <p:cNvSpPr txBox="1"/>
          <p:nvPr/>
        </p:nvSpPr>
        <p:spPr>
          <a:xfrm>
            <a:off x="10460736"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4" name="Shape 24"/>
          <p:cNvSpPr/>
          <p:nvPr/>
        </p:nvSpPr>
        <p:spPr>
          <a:xfrm>
            <a:off x="4334256" y="2898648"/>
            <a:ext cx="7287768" cy="315468"/>
          </a:xfrm>
          <a:prstGeom prst="rect">
            <a:avLst/>
          </a:prstGeom>
          <a:solidFill>
            <a:srgbClr val="39473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5"/>
          <p:cNvSpPr txBox="1"/>
          <p:nvPr/>
        </p:nvSpPr>
        <p:spPr>
          <a:xfrm>
            <a:off x="4443984" y="2898648"/>
            <a:ext cx="1481328" cy="315468"/>
          </a:xfrm>
          <a:prstGeom prst="rect">
            <a:avLst/>
          </a:prstGeom>
          <a:noFill/>
        </p:spPr>
        <p:txBody>
          <a:bodyPr wrap="square" lIns="0" tIns="0" rIns="0" bIns="0" anchor="ctr">
            <a:spAutoFit/>
          </a:bodyPr>
          <a:lstStyle/>
          <a:p>
            <a:pPr algn="l">
              <a:lnSpc>
                <a:spcPct val="100000"/>
              </a:lnSpc>
            </a:pPr>
            <a:r>
              <a:rPr sz="950" b="1" i="0">
                <a:solidFill>
                  <a:srgbClr val="5FD4C6"/>
                </a:solidFill>
                <a:latin typeface="Consolas"/>
              </a:rPr>
              <a:t>PRJ-022</a:t>
            </a:r>
          </a:p>
        </p:txBody>
      </p:sp>
      <p:sp>
        <p:nvSpPr>
          <p:cNvPr id="26" name="TextBox 26"/>
          <p:cNvSpPr txBox="1"/>
          <p:nvPr/>
        </p:nvSpPr>
        <p:spPr>
          <a:xfrm>
            <a:off x="5815584"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1</a:t>
            </a:r>
          </a:p>
        </p:txBody>
      </p:sp>
      <p:sp>
        <p:nvSpPr>
          <p:cNvPr id="27" name="TextBox 27"/>
          <p:cNvSpPr txBox="1"/>
          <p:nvPr/>
        </p:nvSpPr>
        <p:spPr>
          <a:xfrm>
            <a:off x="6976872"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 8,100</a:t>
            </a:r>
          </a:p>
        </p:txBody>
      </p:sp>
      <p:sp>
        <p:nvSpPr>
          <p:cNvPr id="28" name="TextBox 28"/>
          <p:cNvSpPr txBox="1"/>
          <p:nvPr/>
        </p:nvSpPr>
        <p:spPr>
          <a:xfrm>
            <a:off x="8138160"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29" name="TextBox 29"/>
          <p:cNvSpPr txBox="1"/>
          <p:nvPr/>
        </p:nvSpPr>
        <p:spPr>
          <a:xfrm>
            <a:off x="9299448"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0" name="TextBox 30"/>
          <p:cNvSpPr txBox="1"/>
          <p:nvPr/>
        </p:nvSpPr>
        <p:spPr>
          <a:xfrm>
            <a:off x="10460736"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1" name="Shape 31"/>
          <p:cNvSpPr/>
          <p:nvPr/>
        </p:nvSpPr>
        <p:spPr>
          <a:xfrm>
            <a:off x="4334256" y="3214116"/>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2"/>
          <p:cNvSpPr txBox="1"/>
          <p:nvPr/>
        </p:nvSpPr>
        <p:spPr>
          <a:xfrm>
            <a:off x="4443984" y="3214116"/>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PRJ-037</a:t>
            </a:r>
          </a:p>
        </p:txBody>
      </p:sp>
      <p:sp>
        <p:nvSpPr>
          <p:cNvPr id="33" name="TextBox 33"/>
          <p:cNvSpPr txBox="1"/>
          <p:nvPr/>
        </p:nvSpPr>
        <p:spPr>
          <a:xfrm>
            <a:off x="5815584"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4" name="TextBox 34"/>
          <p:cNvSpPr txBox="1"/>
          <p:nvPr/>
        </p:nvSpPr>
        <p:spPr>
          <a:xfrm>
            <a:off x="6976872"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15,900</a:t>
            </a:r>
          </a:p>
        </p:txBody>
      </p:sp>
      <p:sp>
        <p:nvSpPr>
          <p:cNvPr id="35" name="TextBox 35"/>
          <p:cNvSpPr txBox="1"/>
          <p:nvPr/>
        </p:nvSpPr>
        <p:spPr>
          <a:xfrm>
            <a:off x="8138160"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6" name="TextBox 36"/>
          <p:cNvSpPr txBox="1"/>
          <p:nvPr/>
        </p:nvSpPr>
        <p:spPr>
          <a:xfrm>
            <a:off x="9299448"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7" name="TextBox 37"/>
          <p:cNvSpPr txBox="1"/>
          <p:nvPr/>
        </p:nvSpPr>
        <p:spPr>
          <a:xfrm>
            <a:off x="10460736"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8" name="Shape 38"/>
          <p:cNvSpPr/>
          <p:nvPr/>
        </p:nvSpPr>
        <p:spPr>
          <a:xfrm>
            <a:off x="4334256" y="3529584"/>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4443984" y="3529584"/>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PRJ-051</a:t>
            </a:r>
          </a:p>
        </p:txBody>
      </p:sp>
      <p:sp>
        <p:nvSpPr>
          <p:cNvPr id="40" name="TextBox 40"/>
          <p:cNvSpPr txBox="1"/>
          <p:nvPr/>
        </p:nvSpPr>
        <p:spPr>
          <a:xfrm>
            <a:off x="5815584"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1" name="TextBox 41"/>
          <p:cNvSpPr txBox="1"/>
          <p:nvPr/>
        </p:nvSpPr>
        <p:spPr>
          <a:xfrm>
            <a:off x="6976872"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 6,750</a:t>
            </a:r>
          </a:p>
        </p:txBody>
      </p:sp>
      <p:sp>
        <p:nvSpPr>
          <p:cNvPr id="42" name="TextBox 42"/>
          <p:cNvSpPr txBox="1"/>
          <p:nvPr/>
        </p:nvSpPr>
        <p:spPr>
          <a:xfrm>
            <a:off x="8138160"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3" name="TextBox 43"/>
          <p:cNvSpPr txBox="1"/>
          <p:nvPr/>
        </p:nvSpPr>
        <p:spPr>
          <a:xfrm>
            <a:off x="9299448"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4" name="TextBox 44"/>
          <p:cNvSpPr txBox="1"/>
          <p:nvPr/>
        </p:nvSpPr>
        <p:spPr>
          <a:xfrm>
            <a:off x="10460736"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5" name="TextBox 45"/>
          <p:cNvSpPr txBox="1"/>
          <p:nvPr/>
        </p:nvSpPr>
        <p:spPr>
          <a:xfrm>
            <a:off x="4334256" y="3954780"/>
            <a:ext cx="7287768" cy="274320"/>
          </a:xfrm>
          <a:prstGeom prst="rect">
            <a:avLst/>
          </a:prstGeom>
          <a:noFill/>
        </p:spPr>
        <p:txBody>
          <a:bodyPr wrap="square" lIns="0" tIns="0" rIns="0" bIns="0" anchor="t">
            <a:spAutoFit/>
          </a:bodyPr>
          <a:lstStyle/>
          <a:p>
            <a:pPr algn="l">
              <a:lnSpc>
                <a:spcPct val="100000"/>
              </a:lnSpc>
            </a:pPr>
            <a:r>
              <a:rPr sz="1100" b="1" i="0">
                <a:solidFill>
                  <a:srgbClr val="5FD4C6"/>
                </a:solidFill>
                <a:latin typeface="Arial"/>
              </a:rPr>
              <a:t>PRJ-022 is Masonry — all zeros. </a:t>
            </a:r>
            <a:r>
              <a:rPr sz="1100" b="0" i="0">
                <a:solidFill>
                  <a:srgbClr val="C9CDD2"/>
                </a:solidFill>
                <a:latin typeface="Arial"/>
              </a:rPr>
              <a:t>Four levels become three columns; the dropped level is the baseline every other coefficient is measured against.</a:t>
            </a:r>
          </a:p>
        </p:txBody>
      </p:sp>
      <p:sp>
        <p:nvSpPr>
          <p:cNvPr id="46" name="Shape 46"/>
          <p:cNvSpPr/>
          <p:nvPr/>
        </p:nvSpPr>
        <p:spPr>
          <a:xfrm>
            <a:off x="566928" y="5431536"/>
            <a:ext cx="11055096" cy="475488"/>
          </a:xfrm>
          <a:prstGeom prst="roundRect">
            <a:avLst>
              <a:gd name="adj" fmla="val 14000"/>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7"/>
          <p:cNvSpPr txBox="1"/>
          <p:nvPr/>
        </p:nvSpPr>
        <p:spPr>
          <a:xfrm>
            <a:off x="841248" y="5431536"/>
            <a:ext cx="10506456" cy="475488"/>
          </a:xfrm>
          <a:prstGeom prst="rect">
            <a:avLst/>
          </a:prstGeom>
          <a:noFill/>
        </p:spPr>
        <p:txBody>
          <a:bodyPr wrap="square" lIns="0" tIns="0" rIns="0" bIns="0" anchor="ctr">
            <a:spAutoFit/>
          </a:bodyPr>
          <a:lstStyle/>
          <a:p>
            <a:pPr algn="l">
              <a:lnSpc>
                <a:spcPct val="100000"/>
              </a:lnSpc>
            </a:pPr>
            <a:r>
              <a:rPr sz="1200" b="0" i="0">
                <a:solidFill>
                  <a:srgbClr val="FFFFFF"/>
                </a:solidFill>
                <a:latin typeface="Arial"/>
              </a:rPr>
              <a:t>The Analysis ToolPak takes a contiguous block of numbers. </a:t>
            </a:r>
            <a:r>
              <a:rPr sz="1200" b="1" i="0">
                <a:solidFill>
                  <a:srgbClr val="7DD3C8"/>
                </a:solidFill>
                <a:latin typeface="Arial"/>
              </a:rPr>
              <a:t>Building this grid by hand is the work it leaves to you.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Three axes, one declaration</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column's value on one axis says nothing about its value on another.</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Variable Role</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What the column is: Response · Predictor · Identifier · Filter · Omit · Fixed Effects. Exactly one Response; Filters are ANDed; Omit means never a candidate.</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Predictor Type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How a Predictor enters the design matrix — Continuous passes through, Categorical is encoded. A closed set, designed never to grow.</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Sequence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 flag on at most one column: which variable orders the data. It never enters the matrix; it drives lags, differences, and serial-correlation tests.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Why keep them separate</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Fiscal Year can be an Identifier, a Continuous predictor, and the Sequence axis at once. One combined dropdown would force you to pick.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model spec block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One row per column of your source table. Four declarations; the sheet derives the model from them.</a:t>
            </a:r>
          </a:p>
        </p:txBody>
      </p:sp>
      <p:graphicFrame>
        <p:nvGraphicFramePr>
          <p:cNvPr id="4" name="Table 3"/>
          <p:cNvGraphicFramePr>
            <a:graphicFrameLocks noGrp="1"/>
          </p:cNvGraphicFramePr>
          <p:nvPr>
            <p:extLst>
              <p:ext uri="{D42A27DB-BD31-4B8C-83A1-F6EECF244321}">
                <p14:modId xmlns:p14="http://schemas.microsoft.com/office/powerpoint/2010/main" val="3638656823"/>
              </p:ext>
            </p:extLst>
          </p:nvPr>
        </p:nvGraphicFramePr>
        <p:xfrm>
          <a:off x="566928" y="1950000"/>
          <a:ext cx="11057835" cy="3562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4657835">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560000">
                <a:tc>
                  <a:txBody>
                    <a:bodyPr/>
                    <a:lstStyle/>
                    <a:p>
                      <a:pPr algn="l"/>
                      <a:r>
                        <a:rPr sz="1200" b="1">
                          <a:solidFill>
                            <a:srgbClr val="FFFFFF"/>
                          </a:solidFill>
                          <a:latin typeface="Arial"/>
                        </a:rPr>
                        <a:t>Spec column</a:t>
                      </a:r>
                    </a:p>
                  </a:txBody>
                  <a:tcPr anchor="ctr">
                    <a:solidFill>
                      <a:srgbClr val="423781"/>
                    </a:solidFill>
                  </a:tcPr>
                </a:tc>
                <a:tc>
                  <a:txBody>
                    <a:bodyPr/>
                    <a:lstStyle/>
                    <a:p>
                      <a:pPr algn="l"/>
                      <a:r>
                        <a:rPr sz="1200" b="1">
                          <a:solidFill>
                            <a:srgbClr val="FFFFFF"/>
                          </a:solidFill>
                          <a:latin typeface="Arial"/>
                        </a:rPr>
                        <a:t>What it declares</a:t>
                      </a:r>
                    </a:p>
                  </a:txBody>
                  <a:tcPr anchor="ctr">
                    <a:solidFill>
                      <a:srgbClr val="423781"/>
                    </a:solidFill>
                  </a:tcPr>
                </a:tc>
                <a:tc>
                  <a:txBody>
                    <a:bodyPr/>
                    <a:lstStyle/>
                    <a:p>
                      <a:pPr algn="l"/>
                      <a:r>
                        <a:rPr sz="1200" b="1">
                          <a:solidFill>
                            <a:srgbClr val="FFFFFF"/>
                          </a:solidFill>
                          <a:latin typeface="Arial"/>
                        </a:rPr>
                        <a:t>Values</a:t>
                      </a:r>
                    </a:p>
                  </a:txBody>
                  <a:tcPr anchor="ctr">
                    <a:solidFill>
                      <a:srgbClr val="423781"/>
                    </a:solidFill>
                  </a:tcPr>
                </a:tc>
                <a:tc>
                  <a:txBody>
                    <a:bodyPr/>
                    <a:lstStyle/>
                    <a:p>
                      <a:pPr algn="ctr"/>
                      <a:r>
                        <a:rPr sz="1200" b="1">
                          <a:solidFill>
                            <a:srgbClr val="FFFFFF"/>
                          </a:solidFill>
                          <a:latin typeface="Arial"/>
                        </a:rPr>
                        <a:t>Set by</a:t>
                      </a:r>
                    </a:p>
                  </a:txBody>
                  <a:tcPr anchor="ctr">
                    <a:solidFill>
                      <a:srgbClr val="423781"/>
                    </a:solidFill>
                  </a:tcPr>
                </a:tc>
                <a:extLst>
                  <a:ext uri="{0D108BD9-81ED-4DB2-BD59-A6C34878D82A}">
                    <a16:rowId xmlns:a16="http://schemas.microsoft.com/office/drawing/2014/main" val="10000"/>
                  </a:ext>
                </a:extLst>
              </a:tr>
              <a:tr h="560000">
                <a:tc>
                  <a:txBody>
                    <a:bodyPr/>
                    <a:lstStyle/>
                    <a:p>
                      <a:r>
                        <a:rPr sz="1300" b="1">
                          <a:solidFill>
                            <a:srgbClr val="5FD4C6"/>
                          </a:solidFill>
                          <a:latin typeface="Consolas"/>
                        </a:rPr>
                        <a:t>Role</a:t>
                      </a:r>
                    </a:p>
                  </a:txBody>
                  <a:tcPr anchor="ctr">
                    <a:solidFill>
                      <a:srgbClr val="454545"/>
                    </a:solidFill>
                  </a:tcPr>
                </a:tc>
                <a:tc>
                  <a:txBody>
                    <a:bodyPr/>
                    <a:lstStyle/>
                    <a:p>
                      <a:r>
                        <a:rPr sz="1200" b="0">
                          <a:solidFill>
                            <a:srgbClr val="DCDCDC"/>
                          </a:solidFill>
                          <a:latin typeface="Arial"/>
                        </a:rPr>
                        <a:t>What the column is in the model</a:t>
                      </a:r>
                    </a:p>
                  </a:txBody>
                  <a:tcPr anchor="ctr">
                    <a:solidFill>
                      <a:srgbClr val="454545"/>
                    </a:solidFill>
                  </a:tcPr>
                </a:tc>
                <a:tc>
                  <a:txBody>
                    <a:bodyPr/>
                    <a:lstStyle/>
                    <a:p>
                      <a:r>
                        <a:rPr sz="1200" b="0">
                          <a:solidFill>
                            <a:srgbClr val="5FD4C6"/>
                          </a:solidFill>
                          <a:latin typeface="Consolas"/>
                        </a:rPr>
                        <a:t>Response · Predictor · Identifier · Filter · Omit · Fixed Effects</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1"/>
                  </a:ext>
                </a:extLst>
              </a:tr>
              <a:tr h="560000">
                <a:tc>
                  <a:txBody>
                    <a:bodyPr/>
                    <a:lstStyle/>
                    <a:p>
                      <a:r>
                        <a:rPr sz="1300" b="1">
                          <a:solidFill>
                            <a:srgbClr val="5FD4C6"/>
                          </a:solidFill>
                          <a:latin typeface="Consolas"/>
                        </a:rPr>
                        <a:t>Include</a:t>
                      </a:r>
                    </a:p>
                  </a:txBody>
                  <a:tcPr anchor="ctr">
                    <a:solidFill>
                      <a:srgbClr val="454545"/>
                    </a:solidFill>
                  </a:tcPr>
                </a:tc>
                <a:tc>
                  <a:txBody>
                    <a:bodyPr/>
                    <a:lstStyle/>
                    <a:p>
                      <a:r>
                        <a:rPr sz="1200" b="0">
                          <a:solidFill>
                            <a:srgbClr val="DCDCDC"/>
                          </a:solidFill>
                          <a:latin typeface="Arial"/>
                        </a:rPr>
                        <a:t>Whether the column is a candidate in this run</a:t>
                      </a:r>
                    </a:p>
                  </a:txBody>
                  <a:tcPr anchor="ctr">
                    <a:solidFill>
                      <a:srgbClr val="454545"/>
                    </a:solidFill>
                  </a:tcPr>
                </a:tc>
                <a:tc>
                  <a:txBody>
                    <a:bodyPr/>
                    <a:lstStyle/>
                    <a:p>
                      <a:r>
                        <a:rPr sz="1200" b="0">
                          <a:solidFill>
                            <a:srgbClr val="5FD4C6"/>
                          </a:solidFill>
                          <a:latin typeface="Consolas"/>
                        </a:rPr>
                        <a:t>TRUE · FALSE</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2"/>
                  </a:ext>
                </a:extLst>
              </a:tr>
              <a:tr h="560000">
                <a:tc>
                  <a:txBody>
                    <a:bodyPr/>
                    <a:lstStyle/>
                    <a:p>
                      <a:r>
                        <a:rPr sz="1300" b="1">
                          <a:solidFill>
                            <a:srgbClr val="5FD4C6"/>
                          </a:solidFill>
                          <a:latin typeface="Consolas"/>
                        </a:rPr>
                        <a:t>Type</a:t>
                      </a:r>
                    </a:p>
                  </a:txBody>
                  <a:tcPr anchor="ctr">
                    <a:solidFill>
                      <a:srgbClr val="454545"/>
                    </a:solidFill>
                  </a:tcPr>
                </a:tc>
                <a:tc>
                  <a:txBody>
                    <a:bodyPr/>
                    <a:lstStyle/>
                    <a:p>
                      <a:r>
                        <a:rPr sz="1200" b="0">
                          <a:solidFill>
                            <a:srgbClr val="DCDCDC"/>
                          </a:solidFill>
                          <a:latin typeface="Arial"/>
                        </a:rPr>
                        <a:t>How a predictor enters the design matrix</a:t>
                      </a:r>
                    </a:p>
                  </a:txBody>
                  <a:tcPr anchor="ctr">
                    <a:solidFill>
                      <a:srgbClr val="454545"/>
                    </a:solidFill>
                  </a:tcPr>
                </a:tc>
                <a:tc>
                  <a:txBody>
                    <a:bodyPr/>
                    <a:lstStyle/>
                    <a:p>
                      <a:r>
                        <a:rPr sz="1200" b="0">
                          <a:solidFill>
                            <a:srgbClr val="5FD4C6"/>
                          </a:solidFill>
                          <a:latin typeface="Consolas"/>
                        </a:rPr>
                        <a:t>Continuous · Categorical</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3"/>
                  </a:ext>
                </a:extLst>
              </a:tr>
              <a:tr h="560000">
                <a:tc>
                  <a:txBody>
                    <a:bodyPr/>
                    <a:lstStyle/>
                    <a:p>
                      <a:r>
                        <a:rPr sz="1300" b="1">
                          <a:solidFill>
                            <a:srgbClr val="9A9A9A"/>
                          </a:solidFill>
                          <a:latin typeface="Consolas"/>
                        </a:rPr>
                        <a:t>Sequence</a:t>
                      </a:r>
                    </a:p>
                  </a:txBody>
                  <a:tcPr anchor="ctr">
                    <a:solidFill>
                      <a:srgbClr val="454545"/>
                    </a:solidFill>
                  </a:tcPr>
                </a:tc>
                <a:tc>
                  <a:txBody>
                    <a:bodyPr/>
                    <a:lstStyle/>
                    <a:p>
                      <a:r>
                        <a:rPr sz="1200" b="0">
                          <a:solidFill>
                            <a:srgbClr val="9A9A9A"/>
                          </a:solidFill>
                          <a:latin typeface="Arial"/>
                        </a:rPr>
                        <a:t>Which column orders the data</a:t>
                      </a:r>
                    </a:p>
                  </a:txBody>
                  <a:tcPr anchor="ctr">
                    <a:solidFill>
                      <a:srgbClr val="454545"/>
                    </a:solidFill>
                  </a:tcPr>
                </a:tc>
                <a:tc>
                  <a:txBody>
                    <a:bodyPr/>
                    <a:lstStyle/>
                    <a:p>
                      <a:r>
                        <a:rPr sz="1200" b="0" i="1" dirty="0">
                          <a:solidFill>
                            <a:srgbClr val="9A9A9A"/>
                          </a:solidFill>
                          <a:latin typeface="Arial"/>
                        </a:rPr>
                        <a:t>TRUE on at most one column</a:t>
                      </a:r>
                      <a:endParaRPr sz="1200" b="0" i="1" dirty="0">
                        <a:solidFill>
                          <a:srgbClr val="9AA8B5"/>
                        </a:solidFill>
                        <a:latin typeface="Arial"/>
                      </a:endParaRPr>
                    </a:p>
                  </a:txBody>
                  <a:tcPr anchor="ctr">
                    <a:solidFill>
                      <a:srgbClr val="454545"/>
                    </a:solidFill>
                  </a:tcPr>
                </a:tc>
                <a:tc>
                  <a:txBody>
                    <a:bodyPr/>
                    <a:lstStyle/>
                    <a:p>
                      <a:pPr algn="ctr"/>
                      <a:r>
                        <a:rPr sz="1400" b="0">
                          <a:solidFill>
                            <a:srgbClr val="9A9A9A"/>
                          </a:solidFill>
                          <a:latin typeface="Arial"/>
                        </a:rPr>
                        <a:t>you</a:t>
                      </a:r>
                    </a:p>
                  </a:txBody>
                  <a:tcPr anchor="ctr">
                    <a:solidFill>
                      <a:srgbClr val="454545"/>
                    </a:solidFill>
                  </a:tcPr>
                </a:tc>
                <a:extLst>
                  <a:ext uri="{0D108BD9-81ED-4DB2-BD59-A6C34878D82A}">
                    <a16:rowId xmlns:a16="http://schemas.microsoft.com/office/drawing/2014/main" val="10004"/>
                  </a:ext>
                </a:extLst>
              </a:tr>
              <a:tr h="560000">
                <a:tc>
                  <a:txBody>
                    <a:bodyPr/>
                    <a:lstStyle/>
                    <a:p>
                      <a:r>
                        <a:rPr sz="1100" b="1">
                          <a:solidFill>
                            <a:srgbClr val="9A9A9A"/>
                          </a:solidFill>
                          <a:latin typeface="Consolas"/>
                        </a:rPr>
                        <a:t>X_s()  ·  Response_Column()  ·  Sample_Include()</a:t>
                      </a:r>
                    </a:p>
                  </a:txBody>
                  <a:tcPr anchor="ctr">
                    <a:solidFill>
                      <a:srgbClr val="454545"/>
                    </a:solidFill>
                  </a:tcPr>
                </a:tc>
                <a:tc>
                  <a:txBody>
                    <a:bodyPr/>
                    <a:lstStyle/>
                    <a:p>
                      <a:r>
                        <a:rPr sz="1200" b="0">
                          <a:solidFill>
                            <a:srgbClr val="9A9A9A"/>
                          </a:solidFill>
                          <a:latin typeface="Arial"/>
                        </a:rPr>
                        <a:t>The design matrix, the response, and the row mask</a:t>
                      </a:r>
                    </a:p>
                  </a:txBody>
                  <a:tcPr anchor="ctr">
                    <a:solidFill>
                      <a:srgbClr val="454545"/>
                    </a:solidFill>
                  </a:tcPr>
                </a:tc>
                <a:tc>
                  <a:txBody>
                    <a:bodyPr/>
                    <a:lstStyle/>
                    <a:p>
                      <a:r>
                        <a:rPr sz="1200" b="0" i="1">
                          <a:solidFill>
                            <a:srgbClr val="9A9A9A"/>
                          </a:solidFill>
                          <a:latin typeface="Arial"/>
                        </a:rPr>
                        <a:t>Built from the spec — no ranges to maintain</a:t>
                      </a:r>
                    </a:p>
                  </a:txBody>
                  <a:tcPr anchor="ctr">
                    <a:solidFill>
                      <a:srgbClr val="454545"/>
                    </a:solidFill>
                  </a:tcPr>
                </a:tc>
                <a:tc>
                  <a:txBody>
                    <a:bodyPr/>
                    <a:lstStyle/>
                    <a:p>
                      <a:pPr algn="ctr"/>
                      <a:r>
                        <a:rPr sz="1400" b="0" dirty="0">
                          <a:solidFill>
                            <a:srgbClr val="9A9A9A"/>
                          </a:solidFill>
                          <a:latin typeface="Arial"/>
                        </a:rPr>
                        <a:t>derived</a:t>
                      </a:r>
                    </a:p>
                  </a:txBody>
                  <a:tcPr anchor="ctr">
                    <a:solidFill>
                      <a:srgbClr val="454545"/>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5651488"/>
            <a:ext cx="11057839" cy="350000"/>
          </a:xfrm>
          <a:prstGeom prst="rect">
            <a:avLst/>
          </a:prstGeom>
          <a:noFill/>
        </p:spPr>
        <p:txBody>
          <a:bodyPr wrap="square" lIns="0" tIns="0" rIns="0" bIns="0" anchor="t">
            <a:spAutoFit/>
          </a:bodyPr>
          <a:lstStyle/>
          <a:p>
            <a:pPr algn="l">
              <a:lnSpc>
                <a:spcPct val="100000"/>
              </a:lnSpc>
            </a:pPr>
            <a:r>
              <a:rPr sz="1150" b="0" i="1" dirty="0">
                <a:solidFill>
                  <a:srgbClr val="C9CDD2"/>
                </a:solidFill>
                <a:latin typeface="Arial"/>
              </a:rPr>
              <a:t>Nothing is hard-wired. The spec block plus one table reference is the model — swapping the dependent variable is a dropdown change, not a re-plumbing job.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Categorical drivers, no helper columns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Role</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Include</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Type</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Reference</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Sequence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Fixed Effects</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Set Type = Categorical and the constructor emits k−1 reference-dropped indicator columns, named for their levels. The same encoder runs at prediction time against the same training level vector — so a level that never appeared in the fit fails loudly instead of quietly becoming a row of zeros.</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By hand</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helper columns you maintain</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Phase_Design</a:t>
            </a:r>
          </a:p>
        </p:txBody>
      </p:sp>
      <p:sp>
        <p:nvSpPr>
          <p:cNvPr id="20" name="TextBox 19"/>
          <p:cNvSpPr txBox="1"/>
          <p:nvPr/>
        </p:nvSpPr>
        <p:spPr>
          <a:xfrm>
            <a:off x="3195484" y="3850180"/>
            <a:ext cx="2080604"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=IF($C2="Design",1,0)</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Phase_Build</a:t>
            </a:r>
          </a:p>
        </p:txBody>
      </p:sp>
      <p:sp>
        <p:nvSpPr>
          <p:cNvPr id="22" name="TextBox 21"/>
          <p:cNvSpPr txBox="1"/>
          <p:nvPr/>
        </p:nvSpPr>
        <p:spPr>
          <a:xfrm>
            <a:off x="3383280" y="4271492"/>
            <a:ext cx="1892808"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=IF($C2="Build",1,0)</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 and redo it when a level appears</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endParaRP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Declared</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Type = Categorical</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Reference</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blank = first in sort order</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Levels</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live count, mask-aware</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Prediction</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same encoder, same levels</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One dropdown changes the fit</a:t>
            </a:r>
          </a:p>
        </p:txBody>
      </p:sp>
      <p:sp>
        <p:nvSpPr>
          <p:cNvPr id="13"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Residuals vs. Fitted — same response, same predictor, same rows. Only Type changed.</a:t>
            </a:r>
          </a:p>
        </p:txBody>
      </p:sp>
      <p:sp>
        <p:nvSpPr>
          <p:cNvPr id="3" name="Shape 3"/>
          <p:cNvSpPr/>
          <p:nvPr/>
        </p:nvSpPr>
        <p:spPr>
          <a:xfrm>
            <a:off x="2528316" y="1828800"/>
            <a:ext cx="2990088"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990088"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Continuous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Level codes forced onto one slope — residuals band into stripes that drift off zero.</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Categorical</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Each level gets its own intercept. The stripes collapse onto zero; k−1 columns built for you.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Fixed effects: absorb the group</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Role = Fixed Effects. The column produces no coefficient — it removes the level differences you were never trying to estimate.</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What it does</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Response and every design column are demeaned within group. What's left is how cost moves with a driver inside a program, not across programs.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Why not just add dummies</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A 60-program dummy set costs 59 columns nobody reads and a design matrix that conditions badly. Absorption gives the same slopes without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The degrees of freedom stay honest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Absorbed groups feed an optional [DF_Absorbed] argument defaulting to zero — every standard error and interval corrects itself.</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It tells you when it can't</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Two columns marked Fixed Effects is a visible status-block error, not a silently wrong answer. Two-way absorption is on the roadmap.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Absorbing the group</a:t>
            </a:r>
          </a:p>
        </p:txBody>
      </p:sp>
      <p:sp>
        <p:nvSpPr>
          <p:cNvPr id="13"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Actual vs. Predicted — same panel, same drivers. Only one column's Role changed.</a:t>
            </a:r>
          </a:p>
        </p:txBody>
      </p:sp>
      <p:sp>
        <p:nvSpPr>
          <p:cNvPr id="3" name="Shape 3"/>
          <p:cNvSpPr/>
          <p:nvPr/>
        </p:nvSpPr>
        <p:spPr>
          <a:xfrm>
            <a:off x="2528316" y="1828800"/>
            <a:ext cx="2843784"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843784"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 fixed effects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Programs sit at different levels — the cloud splits off the 45° line by group.</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Fixed Effects = Program</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Demeaned within program. Points tighten onto the identity 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When your rows are a time series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Flag the ordering axis and the longitudinal machinery comes on. Nothing else about the model changes.</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Gap-aware by construction</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Lag_By and Difference_By match on the actual period within group. A gap yields #N/A, never a stale value.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period is inferred</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Δ is the modal spacing between consecutive periods, with a typed override when your data disagrees.</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Durbin-Watson along the sequence</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Durbin_Watson_By walks the declared order. Ordinary DW is meaningless once somebody sorts by cost.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panel statistic</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BFN_Panel_Durbin_Watson is the right test once residuals are grouped by unit. It gates on the FE declaration.</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calendar warning</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Spacings near 28–31, 90–92, or 365–366 get flagged — use a period index, don't quantize day counts.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the declaration replaces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manual steps that used to sit between your data table and your model.</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Categorical
drivers</a:t>
                      </a:r>
                    </a:p>
                  </a:txBody>
                  <a:tcPr anchor="ctr">
                    <a:solidFill>
                      <a:srgbClr val="423781"/>
                    </a:solidFill>
                  </a:tcPr>
                </a:tc>
                <a:tc>
                  <a:txBody>
                    <a:bodyPr/>
                    <a:lstStyle/>
                    <a:p>
                      <a:pPr algn="ctr"/>
                      <a:r>
                        <a:rPr sz="1200" b="1">
                          <a:solidFill>
                            <a:srgbClr val="FFFFFF"/>
                          </a:solidFill>
                          <a:latin typeface="Arial"/>
                        </a:rPr>
                        <a:t>Panel / FE</a:t>
                      </a:r>
                    </a:p>
                  </a:txBody>
                  <a:tcPr anchor="ctr">
                    <a:solidFill>
                      <a:srgbClr val="423781"/>
                    </a:solidFill>
                  </a:tcPr>
                </a:tc>
                <a:tc>
                  <a:txBody>
                    <a:bodyPr/>
                    <a:lstStyle/>
                    <a:p>
                      <a:pPr algn="ctr"/>
                      <a:r>
                        <a:rPr sz="1200" b="1">
                          <a:solidFill>
                            <a:srgbClr val="FFFFFF"/>
                          </a:solidFill>
                          <a:latin typeface="Arial"/>
                        </a:rPr>
                        <a:t>Reference
control</a:t>
                      </a:r>
                    </a:p>
                  </a:txBody>
                  <a:tcPr anchor="ctr">
                    <a:solidFill>
                      <a:srgbClr val="423781"/>
                    </a:solidFill>
                  </a:tcPr>
                </a:tc>
                <a:tc>
                  <a:txBody>
                    <a:bodyPr/>
                    <a:lstStyle/>
                    <a:p>
                      <a:pPr algn="ctr"/>
                      <a:r>
                        <a:rPr sz="1200" b="1">
                          <a:solidFill>
                            <a:srgbClr val="FFFFFF"/>
                          </a:solidFill>
                          <a:latin typeface="Arial"/>
                        </a:rPr>
                        <a:t>Prediction
encoding</a:t>
                      </a:r>
                    </a:p>
                  </a:txBody>
                  <a:tcPr anchor="ctr">
                    <a:solidFill>
                      <a:srgbClr val="423781"/>
                    </a:solidFill>
                  </a:tcPr>
                </a:tc>
                <a:tc>
                  <a:txBody>
                    <a:bodyPr/>
                    <a:lstStyle/>
                    <a:p>
                      <a:pPr algn="ctr"/>
                      <a:r>
                        <a:rPr sz="1200" b="1">
                          <a:solidFill>
                            <a:srgbClr val="FFFFFF"/>
                          </a:solidFill>
                          <a:latin typeface="Arial"/>
                        </a:rPr>
                        <a:t>Auditable</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Hand-built indicator columns</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Declared in the spec</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1  ·  Declaring a model</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Model Construction  →  Regression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Five zones, one declaration — change the spec and every zone recomputes.</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Model spec block</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Role · Type · Reference · Sequence, one row per column</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Screening + model selection</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Pearson · Spearman · skew · VIF · PRESS · AIC / BIC · Q-Q · Durbin-Watson</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It is all driven by one thing:   </a:t>
            </a:r>
            <a:r>
              <a:rPr sz="1400" b="1" i="0">
                <a:solidFill>
                  <a:srgbClr val="5EEAD4"/>
                </a:solidFill>
                <a:latin typeface="Arial"/>
              </a:rPr>
              <a:t>the model spec block</a:t>
            </a:r>
            <a:r>
              <a:rPr sz="1400" b="0" i="0">
                <a:solidFill>
                  <a:srgbClr val="9A9A9A"/>
                </a:solidFill>
                <a:latin typeface="Arial"/>
              </a:rPr>
              <a:t>    ·    </a:t>
            </a:r>
            <a:r>
              <a:rPr sz="1400" b="1" i="0">
                <a:solidFill>
                  <a:srgbClr val="5EEAD4"/>
                </a:solidFill>
                <a:latin typeface="Arial"/>
              </a:rPr>
              <a:t>no named ranges to maintain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 you model</a:t>
            </a:r>
          </a:p>
        </p:txBody>
      </p:sp>
      <p:sp>
        <p:nvSpPr>
          <p:cNvPr id="3" name="Rounded Rectangle 2"/>
          <p:cNvSpPr/>
          <p:nvPr/>
        </p:nvSpPr>
        <p:spPr>
          <a:xfrm>
            <a:off x="56692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ectangle 14"/>
          <p:cNvSpPr/>
          <p:nvPr/>
        </p:nvSpPr>
        <p:spPr>
          <a:xfrm>
            <a:off x="56692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straight-line strength vs. target</a:t>
            </a:r>
          </a:p>
        </p:txBody>
      </p:sp>
      <p:sp>
        <p:nvSpPr>
          <p:cNvPr id="18" name="Rectangle 17"/>
          <p:cNvSpPr/>
          <p:nvPr/>
        </p:nvSpPr>
        <p:spPr>
          <a:xfrm>
            <a:off x="609904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shape — the cue to log-transform</a:t>
            </a:r>
          </a:p>
        </p:txBody>
      </p:sp>
      <p:sp>
        <p:nvSpPr>
          <p:cNvPr id="24" name="Rectangle 23"/>
          <p:cNvSpPr/>
          <p:nvPr/>
        </p:nvSpPr>
        <p:spPr>
          <a:xfrm>
            <a:off x="609904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5FD4C6"/>
                </a:solidFill>
                <a:latin typeface="Arial"/>
              </a:rPr>
              <a:t>Reading it:  </a:t>
            </a:r>
            <a:r>
              <a:rPr sz="1250" b="0" i="0">
                <a:solidFill>
                  <a:srgbClr val="DCDCDC"/>
                </a:solidFill>
                <a:latin typeface="Arial"/>
              </a:rPr>
              <a:t>Adult mortality ≈ −0.70 (top driver)   ·   Pearson vs Spearman split → nonlinear   ·   several drivers skew &gt; 4 → log candidates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=Coefficients(</a:t>
            </a:r>
            <a:r>
              <a:rPr sz="1150" b="1" i="0">
                <a:solidFill>
                  <a:srgbClr val="5FD4C6"/>
                </a:solidFill>
                <a:latin typeface="Consolas"/>
              </a:rPr>
              <a:t>X_s(), Response_Column(), Allow_Intercept, Sample_Include()</a:t>
            </a:r>
            <a:r>
              <a:rPr sz="1150" b="0" i="0">
                <a:solidFill>
                  <a:srgbClr val="DCDCDC"/>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C9CDD2"/>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p</a:t>
            </a:r>
          </a:p>
        </p:txBody>
      </p:sp>
      <p:sp>
        <p:nvSpPr>
          <p:cNvPr id="24" name="Rectangle 23"/>
          <p:cNvSpPr/>
          <p:nvPr/>
        </p:nvSpPr>
        <p:spPr>
          <a:xfrm>
            <a:off x="566928" y="3154680"/>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0" name="Rectangle 29"/>
          <p:cNvSpPr/>
          <p:nvPr/>
        </p:nvSpPr>
        <p:spPr>
          <a:xfrm>
            <a:off x="566928" y="3648456"/>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6" name="Rectangle 35"/>
          <p:cNvSpPr/>
          <p:nvPr/>
        </p:nvSpPr>
        <p:spPr>
          <a:xfrm>
            <a:off x="566928" y="4142232"/>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0.0008</a:t>
            </a:r>
          </a:p>
        </p:txBody>
      </p:sp>
      <p:sp>
        <p:nvSpPr>
          <p:cNvPr id="42" name="Rectangle 41"/>
          <p:cNvSpPr/>
          <p:nvPr/>
        </p:nvSpPr>
        <p:spPr>
          <a:xfrm>
            <a:off x="566928" y="4636008"/>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E3B23C"/>
                </a:solidFill>
                <a:latin typeface="Arial"/>
              </a:rPr>
              <a:t>Intercept switch → </a:t>
            </a:r>
            <a:r>
              <a:rPr sz="1350" b="0" i="0">
                <a:solidFill>
                  <a:srgbClr val="DCDCDC"/>
                </a:solidFill>
                <a:latin typeface="Arial"/>
              </a:rPr>
              <a:t>whole table re-fits, live.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&lt; 3</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
        <p:nvSpPr>
          <p:cNvPr id="701" name="Shape 701"/>
          <p:cNvSpPr/>
          <p:nvPr/>
        </p:nvSpPr>
        <p:spPr>
          <a:xfrm>
            <a:off x="566928" y="5230368"/>
            <a:ext cx="11055096" cy="676656"/>
          </a:xfrm>
          <a:prstGeom prst="roundRect">
            <a:avLst>
              <a:gd name="adj" fmla="val 10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TextBox 702"/>
          <p:cNvSpPr txBox="1"/>
          <p:nvPr/>
        </p:nvSpPr>
        <p:spPr>
          <a:xfrm>
            <a:off x="841248" y="5230368"/>
            <a:ext cx="3749040" cy="676656"/>
          </a:xfrm>
          <a:prstGeom prst="rect">
            <a:avLst/>
          </a:prstGeom>
          <a:noFill/>
        </p:spPr>
        <p:txBody>
          <a:bodyPr wrap="square" lIns="0" tIns="0" rIns="0" bIns="0" anchor="ctr">
            <a:spAutoFit/>
          </a:bodyPr>
          <a:lstStyle/>
          <a:p>
            <a:pPr algn="l">
              <a:lnSpc>
                <a:spcPct val="100000"/>
              </a:lnSpc>
            </a:pPr>
            <a:r>
              <a:rPr sz="1250" b="1" i="0">
                <a:solidFill>
                  <a:srgbClr val="FFFFFF"/>
                </a:solidFill>
                <a:latin typeface="Consolas"/>
              </a:rPr>
              <a:t>VIF</a:t>
            </a:r>
            <a:r>
              <a:rPr sz="800" b="0" i="0">
                <a:solidFill>
                  <a:srgbClr val="C9CDD2"/>
                </a:solidFill>
                <a:latin typeface="Consolas"/>
              </a:rPr>
              <a:t>j</a:t>
            </a:r>
            <a:r>
              <a:rPr sz="1250" b="0" i="0">
                <a:solidFill>
                  <a:srgbClr val="DCDCDC"/>
                </a:solidFill>
                <a:latin typeface="Consolas"/>
              </a:rPr>
              <a:t> = 1 / (1 − R</a:t>
            </a:r>
            <a:r>
              <a:rPr sz="800" b="0" i="0">
                <a:solidFill>
                  <a:srgbClr val="DCDCDC"/>
                </a:solidFill>
                <a:latin typeface="Consolas"/>
              </a:rPr>
              <a:t>2</a:t>
            </a:r>
            <a:r>
              <a:rPr sz="800" b="0" i="0">
                <a:solidFill>
                  <a:srgbClr val="C9CDD2"/>
                </a:solidFill>
                <a:latin typeface="Consolas"/>
              </a:rPr>
              <a:t>j</a:t>
            </a:r>
            <a:r>
              <a:rPr sz="1250" b="0" i="0">
                <a:solidFill>
                  <a:srgbClr val="DCDCDC"/>
                </a:solidFill>
                <a:latin typeface="Consolas"/>
              </a:rPr>
              <a:t>)</a:t>
            </a:r>
          </a:p>
        </p:txBody>
      </p:sp>
      <p:sp>
        <p:nvSpPr>
          <p:cNvPr id="703" name="TextBox 703"/>
          <p:cNvSpPr txBox="1"/>
          <p:nvPr/>
        </p:nvSpPr>
        <p:spPr>
          <a:xfrm>
            <a:off x="4206240" y="5230368"/>
            <a:ext cx="3291840" cy="676656"/>
          </a:xfrm>
          <a:prstGeom prst="rect">
            <a:avLst/>
          </a:prstGeom>
          <a:noFill/>
        </p:spPr>
        <p:txBody>
          <a:bodyPr wrap="square" lIns="0" tIns="0" rIns="0" bIns="0" anchor="ctr">
            <a:spAutoFit/>
          </a:bodyPr>
          <a:lstStyle/>
          <a:p>
            <a:pPr algn="l">
              <a:lnSpc>
                <a:spcPct val="100000"/>
              </a:lnSpc>
            </a:pPr>
            <a:r>
              <a:rPr sz="1150" b="0" i="0">
                <a:solidFill>
                  <a:srgbClr val="C9CDD2"/>
                </a:solidFill>
                <a:latin typeface="Consolas"/>
              </a:rPr>
              <a:t>R</a:t>
            </a:r>
            <a:r>
              <a:rPr sz="750" b="0" i="0">
                <a:solidFill>
                  <a:srgbClr val="C9CDD2"/>
                </a:solidFill>
                <a:latin typeface="Consolas"/>
              </a:rPr>
              <a:t>2</a:t>
            </a:r>
            <a:r>
              <a:rPr sz="1150" b="0" i="0">
                <a:solidFill>
                  <a:srgbClr val="C9CDD2"/>
                </a:solidFill>
                <a:latin typeface="Consolas"/>
              </a:rPr>
              <a:t> = 0.87  →  VIF = 7.6</a:t>
            </a:r>
          </a:p>
        </p:txBody>
      </p:sp>
      <p:sp>
        <p:nvSpPr>
          <p:cNvPr id="704" name="TextBox 704"/>
          <p:cNvSpPr txBox="1"/>
          <p:nvPr/>
        </p:nvSpPr>
        <p:spPr>
          <a:xfrm>
            <a:off x="7406640" y="5230368"/>
            <a:ext cx="3977640" cy="676656"/>
          </a:xfrm>
          <a:prstGeom prst="rect">
            <a:avLst/>
          </a:prstGeom>
          <a:noFill/>
        </p:spPr>
        <p:txBody>
          <a:bodyPr wrap="square" lIns="0" tIns="0" rIns="0" bIns="0" anchor="ctr">
            <a:spAutoFit/>
          </a:bodyPr>
          <a:lstStyle/>
          <a:p>
            <a:pPr algn="r">
              <a:lnSpc>
                <a:spcPct val="100000"/>
              </a:lnSpc>
            </a:pPr>
            <a:r>
              <a:rPr sz="1150" b="0" i="0">
                <a:solidFill>
                  <a:srgbClr val="C9CDD2"/>
                </a:solidFill>
                <a:latin typeface="Arial"/>
              </a:rPr>
              <a:t>standard error × </a:t>
            </a:r>
            <a:r>
              <a:rPr sz="1250" b="1" i="0">
                <a:solidFill>
                  <a:srgbClr val="E3B23C"/>
                </a:solidFill>
                <a:latin typeface="Arial"/>
              </a:rPr>
              <a:t>√7.6 ≈ 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Three views of the same fit</a:t>
            </a:r>
          </a:p>
        </p:txBody>
      </p:sp>
      <p:sp>
        <p:nvSpPr>
          <p:cNvPr id="18"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Tier 1 plots the workbook builds for every model — reviewed left to right.</a:t>
            </a:r>
          </a:p>
        </p:txBody>
      </p:sp>
      <p:sp>
        <p:nvSpPr>
          <p:cNvPr id="3" name="Shape 3"/>
          <p:cNvSpPr/>
          <p:nvPr/>
        </p:nvSpPr>
        <p:spPr>
          <a:xfrm>
            <a:off x="676656" y="1828800"/>
            <a:ext cx="2880360"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67665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Residuals vs. Fitted</a:t>
            </a:r>
          </a:p>
        </p:txBody>
      </p:sp>
      <p:sp>
        <p:nvSpPr>
          <p:cNvPr id="5" name="Shape 5"/>
          <p:cNvSpPr/>
          <p:nvPr/>
        </p:nvSpPr>
        <p:spPr>
          <a:xfrm>
            <a:off x="67665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67665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67665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Want a shapeless cloud on zero. A funnel or curve flags nonlinearity or non-constant variance.</a:t>
            </a:r>
          </a:p>
        </p:txBody>
      </p:sp>
      <p:sp>
        <p:nvSpPr>
          <p:cNvPr id="8" name="Shape 8"/>
          <p:cNvSpPr/>
          <p:nvPr/>
        </p:nvSpPr>
        <p:spPr>
          <a:xfrm>
            <a:off x="4654296" y="1828800"/>
            <a:ext cx="1965960" cy="310896"/>
          </a:xfrm>
          <a:prstGeom prst="roundRect">
            <a:avLst>
              <a:gd name="adj" fmla="val 22000"/>
            </a:avLst>
          </a:prstGeom>
          <a:solidFill>
            <a:srgbClr val="D9A52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4654296" y="1828800"/>
            <a:ext cx="19659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Normal Q-Q</a:t>
            </a:r>
          </a:p>
        </p:txBody>
      </p:sp>
      <p:sp>
        <p:nvSpPr>
          <p:cNvPr id="10" name="Shape 10"/>
          <p:cNvSpPr/>
          <p:nvPr/>
        </p:nvSpPr>
        <p:spPr>
          <a:xfrm>
            <a:off x="465429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65429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465429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Studentized residuals against normal scores. Points on the diagonal mean normal errors.</a:t>
            </a:r>
          </a:p>
        </p:txBody>
      </p:sp>
      <p:sp>
        <p:nvSpPr>
          <p:cNvPr id="13" name="Shape 13"/>
          <p:cNvSpPr/>
          <p:nvPr/>
        </p:nvSpPr>
        <p:spPr>
          <a:xfrm>
            <a:off x="8631936" y="1828800"/>
            <a:ext cx="288036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p:cNvSpPr txBox="1"/>
          <p:nvPr/>
        </p:nvSpPr>
        <p:spPr>
          <a:xfrm>
            <a:off x="863193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Actual vs. Predicted</a:t>
            </a:r>
          </a:p>
        </p:txBody>
      </p:sp>
      <p:sp>
        <p:nvSpPr>
          <p:cNvPr id="15" name="Shape 15"/>
          <p:cNvSpPr/>
          <p:nvPr/>
        </p:nvSpPr>
        <p:spPr>
          <a:xfrm>
            <a:off x="863193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863193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7" name="TextBox 17"/>
          <p:cNvSpPr txBox="1"/>
          <p:nvPr/>
        </p:nvSpPr>
        <p:spPr>
          <a:xfrm>
            <a:off x="863193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Predictions against actuals with the 45° identity line. Tight along the line is a good fit.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1097280"/>
          </a:xfrm>
          <a:prstGeom prst="rect">
            <a:avLst/>
          </a:prstGeom>
          <a:noFill/>
        </p:spPr>
        <p:txBody>
          <a:bodyPr wrap="square" lIns="0" tIns="0" rIns="0" bIns="0" anchor="t">
            <a:spAutoFit/>
          </a:bodyPr>
          <a:lstStyle/>
          <a:p>
            <a:pPr algn="l">
              <a:lnSpc>
                <a:spcPct val="100000"/>
              </a:lnSpc>
            </a:pPr>
            <a:r>
              <a:rPr sz="5800" b="1" i="0">
                <a:solidFill>
                  <a:srgbClr val="FFFFFF"/>
                </a:solidFill>
                <a:latin typeface="Arial"/>
              </a:rPr>
              <a:t>0.827</a:t>
            </a: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1097280"/>
          </a:xfrm>
          <a:prstGeom prst="rect">
            <a:avLst/>
          </a:prstGeom>
          <a:noFill/>
        </p:spPr>
        <p:txBody>
          <a:bodyPr wrap="square" lIns="0" tIns="0" rIns="0" bIns="0" anchor="t">
            <a:spAutoFit/>
          </a:bodyPr>
          <a:lstStyle/>
          <a:p>
            <a:pPr algn="l">
              <a:lnSpc>
                <a:spcPct val="100000"/>
              </a:lnSpc>
            </a:pPr>
            <a:r>
              <a:rPr sz="5800" b="1" i="0">
                <a:solidFill>
                  <a:srgbClr val="5FD4C6"/>
                </a:solidFill>
                <a:latin typeface="Arial"/>
              </a:rPr>
              <a:t>0.822</a:t>
            </a: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5FD4C6"/>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under the 2p/n = 0.019 flag threshold</a:t>
            </a:r>
          </a:p>
        </p:txBody>
      </p:sp>
      <p:sp>
        <p:nvSpPr>
          <p:cNvPr id="25" name="Rounded Rectangle 24"/>
          <p:cNvSpPr/>
          <p:nvPr/>
        </p:nvSpPr>
        <p:spPr>
          <a:xfrm>
            <a:off x="7680960" y="4434840"/>
            <a:ext cx="3950208" cy="1051560"/>
          </a:xfrm>
          <a:prstGeom prst="roundRect">
            <a:avLst>
              <a:gd name="adj" fmla="val 6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E3B23C"/>
                </a:solidFill>
                <a:latin typeface="Arial"/>
              </a:rPr>
              <a:t>&gt; 4/n</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Cook's D flag threshold</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n=1,649 → 0.0024 · severe above 0.9 regardless of 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Predict, with uncertainty</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=Prediction_Interval(</a:t>
            </a:r>
            <a:r>
              <a:rPr sz="1150" b="1" i="0">
                <a:solidFill>
                  <a:srgbClr val="5FD4C6"/>
                </a:solidFill>
                <a:latin typeface="Consolas"/>
              </a:rPr>
              <a:t>X_s(), Response_Column(), x_new</a:t>
            </a:r>
            <a:r>
              <a:rPr sz="1150" b="0" i="0">
                <a:solidFill>
                  <a:srgbClr val="DCDCDC"/>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FFFFFF"/>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5FD4C6"/>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E3B23C"/>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Exponentiate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back on the dollar scale: always positive, with a realistic long right tail.</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C9CDD2"/>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The skewness column tells you when you're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2  ·  Screening, diagnostics, prediction</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Regression sheet, left to right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Describe, visualize, formalize</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Univariate sheet, in the order you'd actually work — one input column drives all three sections.</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Describe</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Descriptive_Statistics returns all twelve at once — including a prominent missing count, because a silent n is how bad estimates happen.</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Visualize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Sturges, Scott, and Freedman-Diaconis binning side by side. Three defensible answers to “how many bins” rather than one arbitrary one.</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Formalize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Fit a distribution to the shape you just saw, and rank the candidates on the same table.</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endParaRP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Skewness motivates the distribution choice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This is where a three-point estimate stops being a guess.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566928" y="5138927"/>
            <a:ext cx="11045952" cy="557785"/>
          </a:xfrm>
          <a:prstGeom prst="roundRect">
            <a:avLst>
              <a:gd name="adj" fmla="val 40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9282" y="5248656"/>
            <a:ext cx="10877820" cy="384721"/>
          </a:xfrm>
          <a:prstGeom prst="rect">
            <a:avLst/>
          </a:prstGeom>
          <a:noFill/>
        </p:spPr>
        <p:txBody>
          <a:bodyPr wrap="square" lIns="0" tIns="0" rIns="0" bIns="0" anchor="ctr">
            <a:spAutoFit/>
          </a:bodyPr>
          <a:lstStyle/>
          <a:p>
            <a:pPr algn="ctr">
              <a:lnSpc>
                <a:spcPct val="100000"/>
              </a:lnSpc>
            </a:pPr>
            <a:r>
              <a:rPr sz="1250" b="1" i="0" dirty="0">
                <a:solidFill>
                  <a:srgbClr val="5FD4C6"/>
                </a:solidFill>
                <a:latin typeface="Arial"/>
              </a:rPr>
              <a:t>The obstacle was never “MLE without Solver” — it was MLE in closed form. A native two-input Data Table over the likelihood surface clears that bar, and every recalculation gives the same answer.</a:t>
            </a:r>
          </a:p>
        </p:txBody>
      </p:sp>
      <p:sp>
        <p:nvSpPr>
          <p:cNvPr id="2" name="Title 1"/>
          <p:cNvSpPr>
            <a:spLocks noGrp="1"/>
          </p:cNvSpPr>
          <p:nvPr>
            <p:ph type="title"/>
          </p:nvPr>
        </p:nvSpPr>
        <p:spPr/>
        <p:txBody>
          <a:bodyPr>
            <a:normAutofit/>
          </a:bodyPr>
          <a:lstStyle/>
          <a:p>
            <a:r>
              <a:rPr sz="2900" dirty="0">
                <a:solidFill>
                  <a:srgbClr val="FFFFFF"/>
                </a:solidFill>
              </a:rPr>
              <a:t>Distribution fitting without Solver</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Eight candidates, maximum likelihood throughout, ranked in one table — and no add-in to enable.</a:t>
            </a:r>
          </a:p>
        </p:txBody>
      </p:sp>
      <p:sp>
        <p:nvSpPr>
          <p:cNvPr id="4" name="Oval 3"/>
          <p:cNvSpPr/>
          <p:nvPr/>
        </p:nvSpPr>
        <p:spPr>
          <a:xfrm>
            <a:off x="566928" y="2167128"/>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Closed form where it exists</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Normal, Lognormal, Exponential.</a:t>
            </a:r>
          </a:p>
        </p:txBody>
      </p:sp>
      <p:sp>
        <p:nvSpPr>
          <p:cNvPr id="8" name="Rounded Rectangle 7"/>
          <p:cNvSpPr/>
          <p:nvPr/>
        </p:nvSpPr>
        <p:spPr>
          <a:xfrm>
            <a:off x="5577840" y="2130552"/>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NLL_Lognormal(data)</a:t>
            </a:r>
          </a:p>
        </p:txBody>
      </p:sp>
      <p:sp>
        <p:nvSpPr>
          <p:cNvPr id="12" name="Oval 11"/>
          <p:cNvSpPr/>
          <p:nvPr/>
        </p:nvSpPr>
        <p:spPr>
          <a:xfrm>
            <a:off x="566928" y="3246120"/>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Grid search where it doesn't</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Weibull, Gamma, Beta, BetaPERT, Triangular.</a:t>
            </a:r>
          </a:p>
        </p:txBody>
      </p:sp>
      <p:sp>
        <p:nvSpPr>
          <p:cNvPr id="16" name="Rounded Rectangle 15"/>
          <p:cNvSpPr/>
          <p:nvPr/>
        </p:nvSpPr>
        <p:spPr>
          <a:xfrm>
            <a:off x="5577840" y="3209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Grid_Search_Optimum(two-input Data Table)</a:t>
            </a:r>
          </a:p>
        </p:txBody>
      </p:sp>
      <p:sp>
        <p:nvSpPr>
          <p:cNvPr id="20" name="Oval 19"/>
          <p:cNvSpPr/>
          <p:nvPr/>
        </p:nvSpPr>
        <p:spPr>
          <a:xfrm>
            <a:off x="566928" y="4325112"/>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dirty="0">
                <a:solidFill>
                  <a:srgbClr val="FFFFFF"/>
                </a:solidFill>
                <a:latin typeface="Arial"/>
              </a:rPr>
              <a:t>Ranked on a common scale</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dirty="0">
                <a:solidFill>
                  <a:srgbClr val="C9CDD2"/>
                </a:solidFill>
                <a:latin typeface="Arial"/>
              </a:rPr>
              <a:t>AIC, BIC, K-S, Anderson-Darling.</a:t>
            </a:r>
          </a:p>
        </p:txBody>
      </p:sp>
      <p:sp>
        <p:nvSpPr>
          <p:cNvPr id="24" name="Rounded Rectangle 23"/>
          <p:cNvSpPr/>
          <p:nvPr/>
        </p:nvSpPr>
        <p:spPr>
          <a:xfrm>
            <a:off x="5577840" y="4288536"/>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GoF_AIC · GoF_Anderson_Darling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3  ·  Fitting a distribution, then taking it with you</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Univariate Analysis  →  then Move or Copy into a workbook of your 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Same inputs, same answers — checked against the Analysis ToolPak and Python statsmodels on every release.</a:t>
            </a:r>
          </a:p>
        </p:txBody>
      </p:sp>
      <p:sp>
        <p:nvSpPr>
          <p:cNvPr id="4" name="Rounded Rectangle 3"/>
          <p:cNvSpPr/>
          <p:nvPr/>
        </p:nvSpPr>
        <p:spPr>
          <a:xfrm>
            <a:off x="566928" y="2103120"/>
            <a:ext cx="3474720" cy="324612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[−0.020, −0.016]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One place the arithmetic can be wrong</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leverage and prediction routes through a single matrix-inversion helper — by design.</a:t>
            </a:r>
          </a:p>
        </p:txBody>
      </p:sp>
      <p:sp>
        <p:nvSpPr>
          <p:cNvPr id="4" name="Rounded Rectangle 3"/>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Hat_diagonal · PRESS · LOOCV · Studentized · Cook's · Prediction_Interval   →   </a:t>
            </a:r>
            <a:r>
              <a:rPr sz="1150" b="1" i="0">
                <a:solidFill>
                  <a:srgbClr val="5FD4C6"/>
                </a:solidFill>
                <a:latin typeface="Consolas"/>
              </a:rPr>
              <a:t>Gram_Inverse</a:t>
            </a:r>
          </a:p>
        </p:txBody>
      </p:sp>
      <p:sp>
        <p:nvSpPr>
          <p:cNvPr id="8" name="Rectangle 7"/>
          <p:cNvSpPr/>
          <p:nvPr/>
        </p:nvSpPr>
        <p:spPr>
          <a:xfrm>
            <a:off x="566928" y="2834639"/>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Direct inversion of XᵀX.</a:t>
            </a:r>
          </a:p>
        </p:txBody>
      </p:sp>
      <p:sp>
        <p:nvSpPr>
          <p:cNvPr id="11" name="Rectangle 10"/>
          <p:cNvSpPr/>
          <p:nvPr/>
        </p:nvSpPr>
        <p:spPr>
          <a:xfrm>
            <a:off x="566928" y="3547872"/>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dirty="0">
                <a:solidFill>
                  <a:srgbClr val="DCDCDC"/>
                </a:solidFill>
                <a:latin typeface="Arial"/>
              </a:rPr>
              <a:t>Scale each column before inverting — fixes precision when drivers live on very different scales, which cost data reliably does.</a:t>
            </a:r>
          </a:p>
        </p:txBody>
      </p:sp>
      <p:sp>
        <p:nvSpPr>
          <p:cNvPr id="14" name="Rectangle 13"/>
          <p:cNvSpPr/>
          <p:nvPr/>
        </p:nvSpPr>
        <p:spPr>
          <a:xfrm>
            <a:off x="566928" y="4261104"/>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A numerical fix, not a statistical one — it changes precision, never the answers.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interval, exactly</a:t>
            </a:r>
          </a:p>
        </p:txBody>
      </p:sp>
      <p:sp>
        <p:nvSpPr>
          <p:cNvPr id="3" name="Rounded Rectangle 2"/>
          <p:cNvSpPr/>
          <p:nvPr/>
        </p:nvSpPr>
        <p:spPr>
          <a:xfrm>
            <a:off x="566928" y="1874519"/>
            <a:ext cx="11055096"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SE_prediction = </a:t>
            </a:r>
            <a:r>
              <a:rPr sz="1150" b="1" i="0">
                <a:solidFill>
                  <a:srgbClr val="5FD4C6"/>
                </a:solidFill>
                <a:latin typeface="Consolas"/>
              </a:rPr>
              <a:t>s · √(1 + hₙ)</a:t>
            </a:r>
            <a:r>
              <a:rPr sz="1150" b="0" i="0">
                <a:solidFill>
                  <a:srgbClr val="DCDCDC"/>
                </a:solidFill>
                <a:latin typeface="Consolas"/>
              </a:rPr>
              <a:t>      interval = ŷ ± t</a:t>
            </a:r>
            <a:r>
              <a:rPr sz="800" b="0" i="0">
                <a:solidFill>
                  <a:srgbClr val="DCDCDC"/>
                </a:solidFill>
                <a:latin typeface="Consolas"/>
              </a:rPr>
              <a:t>α,df</a:t>
            </a:r>
            <a:r>
              <a:rPr sz="1150" b="0" i="0">
                <a:solidFill>
                  <a:srgbClr val="DCDCDC"/>
                </a:solidFill>
                <a:latin typeface="Consolas"/>
              </a:rPr>
              <a:t> · SE_prediction</a:t>
            </a:r>
          </a:p>
        </p:txBody>
      </p:sp>
      <p:sp>
        <p:nvSpPr>
          <p:cNvPr id="7" name="Rectangle 6"/>
          <p:cNvSpPr/>
          <p:nvPr/>
        </p:nvSpPr>
        <p:spPr>
          <a:xfrm>
            <a:off x="566928" y="2834640"/>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the regression's own scatter — the classic Standard Error of the Estimate (SEE).</a:t>
            </a:r>
          </a:p>
        </p:txBody>
      </p:sp>
      <p:sp>
        <p:nvSpPr>
          <p:cNvPr id="10" name="Rectangle 9"/>
          <p:cNvSpPr/>
          <p:nvPr/>
        </p:nvSpPr>
        <p:spPr>
          <a:xfrm>
            <a:off x="566928" y="3401568"/>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on residual df — exact for the linear model, not an approximation.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Built around prediction intervals and SE of prediction — not just a point estimate.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Where it stops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Real constraints, stated plainly. None of them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Scale</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Comfortable in thousands of rows, not millions. Excel's ceiling is the tool's ceiling.</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Two-way fixed effects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Fixed Effects column absorbs today. Two is a visible status-block error — two-way absorption is on the roadmap.</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Conditioning, not collinearity</a:t>
            </a:r>
          </a:p>
        </p:txBody>
      </p:sp>
      <p:sp>
        <p:nvSpPr>
          <p:cNvPr id="15" name="TextBox 14"/>
          <p:cNvSpPr txBox="1"/>
          <p:nvPr/>
        </p:nvSpPr>
        <p:spPr>
          <a:xfrm>
            <a:off x="841247" y="3520439"/>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Hardened against scale differences; it won't fix true collinearity — the VIF panel supports that judgment, </a:t>
            </a:r>
            <a:r>
              <a:rPr lang="en-US" sz="1150" b="0" i="0" dirty="0">
                <a:solidFill>
                  <a:srgbClr val="C9CDD2"/>
                </a:solidFill>
                <a:latin typeface="Arial"/>
              </a:rPr>
              <a:t>doesn’t make </a:t>
            </a:r>
            <a:r>
              <a:rPr sz="1150" b="0" i="0" dirty="0">
                <a:solidFill>
                  <a:srgbClr val="C9CDD2"/>
                </a:solidFill>
                <a:latin typeface="Arial"/>
              </a:rPr>
              <a:t>it.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Charts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Plots can't consume live spilled results directly; they read fixed ranges, sized generously.</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Requires current 365</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LAMBDA plus dynamic arrays — the bet the whole thing is built 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Getting it onto your own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workbook is built for portability. Copy one sheet and the library comes with it.</a:t>
            </a:r>
          </a:p>
        </p:txBody>
      </p:sp>
      <p:sp>
        <p:nvSpPr>
          <p:cNvPr id="4" name="Rounded Rectangle 3"/>
          <p:cNvSpPr/>
          <p:nvPr/>
        </p:nvSpPr>
        <p:spPr>
          <a:xfrm>
            <a:off x="566928" y="2011680"/>
            <a:ext cx="5029200" cy="128016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112 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Scoped to the workbook. Copy a sheet that uses them and they travel with it — nothing to install, nothing to enable.</a:t>
            </a:r>
          </a:p>
        </p:txBody>
      </p:sp>
      <p:sp>
        <p:nvSpPr>
          <p:cNvPr id="7" name="Rounded Rectangle 6"/>
          <p:cNvSpPr/>
          <p:nvPr/>
        </p:nvSpPr>
        <p:spPr>
          <a:xfrm>
            <a:off x="5824728" y="2011680"/>
            <a:ext cx="5797296" cy="128016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Sheet-scoped constructors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X_s, Response_Column, Sample_Include and friends read the spec block, so they follow whatever you declare on your own table.</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FFFFFF"/>
                </a:solidFill>
                <a:latin typeface="Arial"/>
              </a:rPr>
              <a:t>Four steps, start to finish</a:t>
            </a:r>
          </a:p>
        </p:txBody>
      </p:sp>
      <p:sp>
        <p:nvSpPr>
          <p:cNvPr id="11" name="Oval 10"/>
          <p:cNvSpPr/>
          <p:nvPr/>
        </p:nvSpPr>
        <p:spPr>
          <a:xfrm>
            <a:off x="566928" y="3977639"/>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Right-click the Regression tab → Move or Copy → your workbook → ✓ Create a copy</a:t>
            </a:r>
          </a:p>
        </p:txBody>
      </p:sp>
      <p:sp>
        <p:nvSpPr>
          <p:cNvPr id="14" name="Oval 13"/>
          <p:cNvSpPr/>
          <p:nvPr/>
        </p:nvSpPr>
        <p:spPr>
          <a:xfrm>
            <a:off x="566928" y="4379976"/>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All 112 LAMBDA functions transfer automatically — they are workbook-scoped</a:t>
            </a:r>
          </a:p>
        </p:txBody>
      </p:sp>
      <p:sp>
        <p:nvSpPr>
          <p:cNvPr id="17" name="Oval 16"/>
          <p:cNvSpPr/>
          <p:nvPr/>
        </p:nvSpPr>
        <p:spPr>
          <a:xfrm>
            <a:off x="566928" y="4782312"/>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Point the sheet at your table, then declare each column on the spec block:</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5FD4C6"/>
                </a:solidFill>
                <a:latin typeface="Consolas"/>
              </a:rPr>
              <a:t>     Response = Cost      Predictor = Weight, Phase, Contractor      Filter = Complete      Sequence = Fiscal Year</a:t>
            </a:r>
          </a:p>
        </p:txBody>
      </p:sp>
      <p:sp>
        <p:nvSpPr>
          <p:cNvPr id="21" name="Oval 20"/>
          <p:cNvSpPr/>
          <p:nvPr/>
        </p:nvSpPr>
        <p:spPr>
          <a:xfrm>
            <a:off x="566928" y="5586984"/>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Everything recomputes on your data — design matrix, VIF, PRESS, diagnostics, intervals.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travels with the file</a:t>
            </a:r>
            <a:endParaRPr sz="2900" b="1" dirty="0">
              <a:solidFill>
                <a:srgbClr val="FFFFFF"/>
              </a:solidFill>
            </a:endParaRPr>
          </a:p>
        </p:txBody>
      </p:sp>
      <p:sp>
        <p:nvSpPr>
          <p:cNvPr id="3" name="TextBox 2"/>
          <p:cNvSpPr txBox="1"/>
          <p:nvPr/>
        </p:nvSpPr>
        <p:spPr>
          <a:xfrm>
            <a:off x="566928" y="1426464"/>
            <a:ext cx="11057839" cy="230832"/>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The workbook </a:t>
            </a:r>
            <a:r>
              <a:rPr lang="en-US" sz="1500" b="0" i="1" dirty="0">
                <a:solidFill>
                  <a:srgbClr val="5FD4C6"/>
                </a:solidFill>
                <a:latin typeface="Arial"/>
              </a:rPr>
              <a:t>is meant to be self-documenting</a:t>
            </a:r>
            <a:endParaRPr sz="1500" b="0" i="1" dirty="0">
              <a:solidFill>
                <a:srgbClr val="5FD4C6"/>
              </a:solidFill>
              <a:latin typeface="Arial"/>
            </a:endParaRP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The catalog is the documentation</a:t>
            </a:r>
          </a:p>
        </p:txBody>
      </p:sp>
      <p:sp>
        <p:nvSpPr>
          <p:cNvPr id="6" name="TextBox 5"/>
          <p:cNvSpPr txBox="1"/>
          <p:nvPr/>
        </p:nvSpPr>
        <p:spPr>
          <a:xfrm>
            <a:off x="886968" y="2596896"/>
            <a:ext cx="4892040" cy="849720"/>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The LAMBDA_functions sheet is generated from the same source as the workbook. The formula in the sheet is the formula in the Name Manager.</a:t>
            </a:r>
            <a:r>
              <a:rPr lang="en-US" sz="1350" b="0" i="0" dirty="0">
                <a:solidFill>
                  <a:srgbClr val="DCDCDC"/>
                </a:solidFill>
                <a:latin typeface="Arial"/>
              </a:rPr>
              <a:t> There are more details regarding the argument</a:t>
            </a:r>
            <a:r>
              <a:rPr lang="en-US" sz="1350" dirty="0">
                <a:solidFill>
                  <a:srgbClr val="DCDCDC"/>
                </a:solidFill>
                <a:latin typeface="Arial"/>
              </a:rPr>
              <a:t>s, the description and a plain-language summary</a:t>
            </a:r>
            <a:endParaRPr sz="1350" b="0" i="0" dirty="0">
              <a:solidFill>
                <a:srgbClr val="DCDCDC"/>
              </a:solidFill>
              <a:latin typeface="Arial"/>
            </a:endParaRP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Diagnostic Guide sheet</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Threshold reference, plot specifications, and common patterns with next steps — so reading a diagnostic doesn't require me standing next to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Instructions sheet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How to point the spec block at your own table, and what each control does. Written for somebody opening the file cold.</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Release notes, in the workbook</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Changes are recorded on a sheet inside the file, with an explicit flag for anything that would make a workbook you already built compute differently.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What's next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Ordered by what a cost estimator asks for, not by what is interesting to build.</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Transforms and unit-space R²</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Log from the spec block, Duan's smearing on the way back. Logged and unlogged models become comparable.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Model comparison sheet</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row per model — R², AIC, BIC, PRESS, n, k — with one shared what-if scenario driving all of them.</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Resampling and simulation</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Bootstrap and Monte Carlo from a pre-seeded table. A CI that moves on every recalculation is not a result.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Two-sample tests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One-sample and two-sample t, Welch, paired, and an F-test that recommends which variant to use.</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Weighted least squares</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Weight as a Role, threaded as an optional argument defaulting to uniform — OLS is unchanged.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Where to get it</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github.com/colodnerdata/Statistical_Analysis_Lambda_Catalog  —  download Lambda_Library.xlsx and open it. That's the install.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validation methodology</a:t>
            </a:r>
          </a:p>
        </p:txBody>
      </p:sp>
      <p:sp>
        <p:nvSpPr>
          <p:cNvPr id="3" name="Rounded Rectangle 2"/>
          <p:cNvSpPr/>
          <p:nvPr/>
        </p:nvSpPr>
        <p:spPr>
          <a:xfrm>
            <a:off x="566928" y="1389445"/>
            <a:ext cx="3474720" cy="11430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1526605"/>
            <a:ext cx="310896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This library</a:t>
            </a:r>
          </a:p>
        </p:txBody>
      </p:sp>
      <p:sp>
        <p:nvSpPr>
          <p:cNvPr id="5" name="TextBox 4"/>
          <p:cNvSpPr txBox="1"/>
          <p:nvPr/>
        </p:nvSpPr>
        <p:spPr>
          <a:xfrm>
            <a:off x="795528"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native Excel LAMBDAs</a:t>
            </a:r>
          </a:p>
        </p:txBody>
      </p:sp>
      <p:sp>
        <p:nvSpPr>
          <p:cNvPr id="6" name="TextBox 5"/>
          <p:cNvSpPr txBox="1"/>
          <p:nvPr/>
        </p:nvSpPr>
        <p:spPr>
          <a:xfrm>
            <a:off x="4023359"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7" name="Rounded Rectangle 6"/>
          <p:cNvSpPr/>
          <p:nvPr/>
        </p:nvSpPr>
        <p:spPr>
          <a:xfrm>
            <a:off x="4334256" y="1389445"/>
            <a:ext cx="3474720" cy="11430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1526605"/>
            <a:ext cx="3108960" cy="246221"/>
          </a:xfrm>
          <a:prstGeom prst="rect">
            <a:avLst/>
          </a:prstGeom>
          <a:noFill/>
        </p:spPr>
        <p:txBody>
          <a:bodyPr wrap="square" lIns="0" tIns="0" rIns="0" bIns="0" anchor="t">
            <a:spAutoFit/>
          </a:bodyPr>
          <a:lstStyle/>
          <a:p>
            <a:pPr algn="l">
              <a:lnSpc>
                <a:spcPct val="100000"/>
              </a:lnSpc>
            </a:pPr>
            <a:r>
              <a:rPr sz="1600" b="1" i="0" dirty="0">
                <a:solidFill>
                  <a:schemeClr val="accent2">
                    <a:lumMod val="40000"/>
                    <a:lumOff val="60000"/>
                  </a:schemeClr>
                </a:solidFill>
                <a:latin typeface="Arial"/>
              </a:rPr>
              <a:t>Analysis </a:t>
            </a:r>
            <a:r>
              <a:rPr sz="1600" b="1" i="0" dirty="0" err="1">
                <a:solidFill>
                  <a:schemeClr val="accent2">
                    <a:lumMod val="40000"/>
                    <a:lumOff val="60000"/>
                  </a:schemeClr>
                </a:solidFill>
                <a:latin typeface="Arial"/>
              </a:rPr>
              <a:t>ToolPak</a:t>
            </a:r>
            <a:endParaRPr sz="1600" b="1" i="0" dirty="0">
              <a:solidFill>
                <a:schemeClr val="accent2">
                  <a:lumMod val="40000"/>
                  <a:lumOff val="60000"/>
                </a:schemeClr>
              </a:solidFill>
              <a:latin typeface="Arial"/>
            </a:endParaRPr>
          </a:p>
        </p:txBody>
      </p:sp>
      <p:sp>
        <p:nvSpPr>
          <p:cNvPr id="9" name="TextBox 8"/>
          <p:cNvSpPr txBox="1"/>
          <p:nvPr/>
        </p:nvSpPr>
        <p:spPr>
          <a:xfrm>
            <a:off x="4562856"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Excel's built-in regression</a:t>
            </a:r>
          </a:p>
        </p:txBody>
      </p:sp>
      <p:sp>
        <p:nvSpPr>
          <p:cNvPr id="10" name="TextBox 9"/>
          <p:cNvSpPr txBox="1"/>
          <p:nvPr/>
        </p:nvSpPr>
        <p:spPr>
          <a:xfrm>
            <a:off x="7790688"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11" name="Rounded Rectangle 10"/>
          <p:cNvSpPr/>
          <p:nvPr/>
        </p:nvSpPr>
        <p:spPr>
          <a:xfrm>
            <a:off x="8101583" y="1389445"/>
            <a:ext cx="3474720" cy="114300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1526605"/>
            <a:ext cx="310896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statsmodels</a:t>
            </a:r>
          </a:p>
        </p:txBody>
      </p:sp>
      <p:sp>
        <p:nvSpPr>
          <p:cNvPr id="13" name="TextBox 12"/>
          <p:cNvSpPr txBox="1"/>
          <p:nvPr/>
        </p:nvSpPr>
        <p:spPr>
          <a:xfrm>
            <a:off x="8330183"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Python reference</a:t>
            </a:r>
          </a:p>
        </p:txBody>
      </p:sp>
      <p:sp>
        <p:nvSpPr>
          <p:cNvPr id="14" name="Rounded Rectangle 13"/>
          <p:cNvSpPr/>
          <p:nvPr/>
        </p:nvSpPr>
        <p:spPr>
          <a:xfrm>
            <a:off x="566928" y="2636286"/>
            <a:ext cx="11055096" cy="3396524"/>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b="1" dirty="0">
                <a:solidFill>
                  <a:srgbClr val="FFFFFF"/>
                </a:solidFill>
                <a:latin typeface="Arial"/>
              </a:rPr>
              <a:t>Analysis </a:t>
            </a:r>
            <a:r>
              <a:rPr lang="en-US" b="1" dirty="0" err="1">
                <a:solidFill>
                  <a:srgbClr val="FFFFFF"/>
                </a:solidFill>
                <a:latin typeface="Arial"/>
              </a:rPr>
              <a:t>Toolpak</a:t>
            </a:r>
            <a:r>
              <a:rPr lang="en-US" b="1" dirty="0">
                <a:solidFill>
                  <a:srgbClr val="FFFFFF"/>
                </a:solidFill>
                <a:latin typeface="Arial"/>
              </a:rPr>
              <a:t> capabilities:</a:t>
            </a:r>
          </a:p>
          <a:p>
            <a:pPr marL="285750" indent="-285750">
              <a:lnSpc>
                <a:spcPct val="105000"/>
              </a:lnSpc>
              <a:buFont typeface="Arial" panose="020B0604020202020204" pitchFamily="34" charset="0"/>
              <a:buChar char="•"/>
            </a:pPr>
            <a:r>
              <a:rPr lang="en-US" b="1" dirty="0">
                <a:solidFill>
                  <a:srgbClr val="FFFFFF"/>
                </a:solidFill>
                <a:latin typeface="Arial"/>
              </a:rPr>
              <a:t>Regression Statistics</a:t>
            </a:r>
          </a:p>
          <a:p>
            <a:pPr marL="285750" indent="-285750">
              <a:lnSpc>
                <a:spcPct val="105000"/>
              </a:lnSpc>
              <a:buFont typeface="Arial" panose="020B0604020202020204" pitchFamily="34" charset="0"/>
              <a:buChar char="•"/>
            </a:pPr>
            <a:r>
              <a:rPr lang="en-US" b="1" dirty="0">
                <a:solidFill>
                  <a:srgbClr val="FFFFFF"/>
                </a:solidFill>
                <a:latin typeface="Arial"/>
              </a:rPr>
              <a:t>ANOVA</a:t>
            </a:r>
          </a:p>
          <a:p>
            <a:pPr marL="285750" indent="-285750">
              <a:lnSpc>
                <a:spcPct val="105000"/>
              </a:lnSpc>
              <a:buFont typeface="Arial" panose="020B0604020202020204" pitchFamily="34" charset="0"/>
              <a:buChar char="•"/>
            </a:pPr>
            <a:r>
              <a:rPr lang="en-US" b="1" dirty="0">
                <a:solidFill>
                  <a:srgbClr val="FFFFFF"/>
                </a:solidFill>
                <a:latin typeface="Arial"/>
              </a:rPr>
              <a:t>Coefficients</a:t>
            </a:r>
          </a:p>
          <a:p>
            <a:pPr marL="285750" indent="-285750">
              <a:lnSpc>
                <a:spcPct val="105000"/>
              </a:lnSpc>
              <a:buFont typeface="Arial" panose="020B0604020202020204" pitchFamily="34" charset="0"/>
              <a:buChar char="•"/>
            </a:pPr>
            <a:r>
              <a:rPr lang="en-US" b="1" dirty="0">
                <a:solidFill>
                  <a:srgbClr val="FFFFFF"/>
                </a:solidFill>
                <a:latin typeface="Arial"/>
              </a:rPr>
              <a:t>95% CI</a:t>
            </a:r>
          </a:p>
          <a:p>
            <a:pPr marL="285750" indent="-285750">
              <a:lnSpc>
                <a:spcPct val="105000"/>
              </a:lnSpc>
              <a:buFont typeface="Arial" panose="020B0604020202020204" pitchFamily="34" charset="0"/>
              <a:buChar char="•"/>
            </a:pPr>
            <a:r>
              <a:rPr lang="en-US" b="1" dirty="0">
                <a:solidFill>
                  <a:srgbClr val="FFFFFF"/>
                </a:solidFill>
                <a:latin typeface="Arial"/>
              </a:rPr>
              <a:t>Predicted Values</a:t>
            </a:r>
          </a:p>
          <a:p>
            <a:pPr marL="285750" indent="-285750">
              <a:lnSpc>
                <a:spcPct val="105000"/>
              </a:lnSpc>
              <a:buFont typeface="Arial" panose="020B0604020202020204" pitchFamily="34" charset="0"/>
              <a:buChar char="•"/>
            </a:pPr>
            <a:r>
              <a:rPr lang="en-US" b="1" dirty="0">
                <a:solidFill>
                  <a:srgbClr val="FFFFFF"/>
                </a:solidFill>
                <a:latin typeface="Arial"/>
              </a:rPr>
              <a:t>Residuals</a:t>
            </a:r>
          </a:p>
          <a:p>
            <a:pPr marL="285750" indent="-285750">
              <a:lnSpc>
                <a:spcPct val="105000"/>
              </a:lnSpc>
              <a:buFont typeface="Arial" panose="020B0604020202020204" pitchFamily="34" charset="0"/>
              <a:buChar char="•"/>
            </a:pPr>
            <a:r>
              <a:rPr lang="en-US" b="1" dirty="0">
                <a:solidFill>
                  <a:srgbClr val="FFFFFF"/>
                </a:solidFill>
                <a:latin typeface="Arial"/>
              </a:rPr>
              <a:t>Standard Residuals*</a:t>
            </a:r>
          </a:p>
          <a:p>
            <a:pPr marL="285750" indent="-285750">
              <a:lnSpc>
                <a:spcPct val="105000"/>
              </a:lnSpc>
              <a:buFont typeface="Arial" panose="020B0604020202020204" pitchFamily="34" charset="0"/>
              <a:buChar char="•"/>
            </a:pPr>
            <a:r>
              <a:rPr lang="en-US" b="1" dirty="0">
                <a:solidFill>
                  <a:srgbClr val="FFFFFF"/>
                </a:solidFill>
                <a:latin typeface="Arial"/>
              </a:rPr>
              <a:t>Descriptive Statistics</a:t>
            </a:r>
          </a:p>
          <a:p>
            <a:pPr marL="285750" indent="-285750">
              <a:lnSpc>
                <a:spcPct val="105000"/>
              </a:lnSpc>
              <a:buFont typeface="Arial" panose="020B0604020202020204" pitchFamily="34" charset="0"/>
              <a:buChar char="•"/>
            </a:pPr>
            <a:r>
              <a:rPr lang="en-US" b="1" dirty="0">
                <a:solidFill>
                  <a:srgbClr val="FFFFFF"/>
                </a:solidFill>
                <a:latin typeface="Arial"/>
              </a:rPr>
              <a:t>Histogram Binning</a:t>
            </a:r>
          </a:p>
          <a:p>
            <a:pPr marL="285750" indent="-285750">
              <a:lnSpc>
                <a:spcPct val="105000"/>
              </a:lnSpc>
              <a:buFont typeface="Arial" panose="020B0604020202020204" pitchFamily="34" charset="0"/>
              <a:buChar char="•"/>
            </a:pPr>
            <a:r>
              <a:rPr lang="en-US" b="1" dirty="0">
                <a:solidFill>
                  <a:srgbClr val="FFFFFF"/>
                </a:solidFill>
                <a:latin typeface="Arial"/>
              </a:rPr>
              <a:t>Pearson Correlation</a:t>
            </a:r>
          </a:p>
          <a:p>
            <a:pPr>
              <a:lnSpc>
                <a:spcPct val="105000"/>
              </a:lnSpc>
            </a:pPr>
            <a:endParaRPr lang="en-US" b="1" dirty="0">
              <a:solidFill>
                <a:srgbClr val="FFFFFF"/>
              </a:solidFill>
              <a:latin typeface="Arial"/>
            </a:endParaRPr>
          </a:p>
          <a:p>
            <a:pPr>
              <a:lnSpc>
                <a:spcPct val="105000"/>
              </a:lnSpc>
            </a:pPr>
            <a:r>
              <a:rPr lang="en-US" b="1" dirty="0">
                <a:solidFill>
                  <a:srgbClr val="FFFFFF"/>
                </a:solidFill>
                <a:latin typeface="Arial"/>
              </a:rPr>
              <a:t>Additional </a:t>
            </a:r>
            <a:r>
              <a:rPr lang="en-US" b="1" dirty="0" err="1">
                <a:solidFill>
                  <a:srgbClr val="FFFFFF"/>
                </a:solidFill>
                <a:latin typeface="Arial"/>
              </a:rPr>
              <a:t>features:tested</a:t>
            </a:r>
            <a:r>
              <a:rPr lang="en-US" b="1" dirty="0">
                <a:solidFill>
                  <a:srgbClr val="FFFFFF"/>
                </a:solidFill>
                <a:latin typeface="Arial"/>
              </a:rPr>
              <a:t> against </a:t>
            </a:r>
            <a:r>
              <a:rPr lang="en-US" b="1" dirty="0" err="1">
                <a:solidFill>
                  <a:srgbClr val="FFFFFF"/>
                </a:solidFill>
                <a:latin typeface="Arial"/>
              </a:rPr>
              <a:t>statsmodels</a:t>
            </a:r>
            <a:r>
              <a:rPr lang="en-US" b="1" dirty="0">
                <a:solidFill>
                  <a:srgbClr val="FFFFFF"/>
                </a:solidFill>
                <a:latin typeface="Arial"/>
              </a:rPr>
              <a:t> only: </a:t>
            </a:r>
          </a:p>
          <a:p>
            <a:pPr marL="285750" indent="-285750">
              <a:lnSpc>
                <a:spcPct val="105000"/>
              </a:lnSpc>
              <a:buFont typeface="Arial" panose="020B0604020202020204" pitchFamily="34" charset="0"/>
              <a:buChar char="•"/>
            </a:pPr>
            <a:r>
              <a:rPr lang="en-US" b="1" dirty="0">
                <a:solidFill>
                  <a:srgbClr val="FFFFFF"/>
                </a:solidFill>
                <a:latin typeface="Arial"/>
              </a:rPr>
              <a:t>Predictor attributes (Pearson &amp; Spearman R with y, Kurtosis, Skew)</a:t>
            </a:r>
          </a:p>
          <a:p>
            <a:pPr marL="285750" indent="-285750">
              <a:lnSpc>
                <a:spcPct val="105000"/>
              </a:lnSpc>
              <a:buFont typeface="Arial" panose="020B0604020202020204" pitchFamily="34" charset="0"/>
              <a:buChar char="•"/>
            </a:pPr>
            <a:r>
              <a:rPr lang="en-US" b="1" dirty="0">
                <a:solidFill>
                  <a:srgbClr val="FFFFFF"/>
                </a:solidFill>
                <a:latin typeface="Arial"/>
              </a:rPr>
              <a:t>GVIF</a:t>
            </a:r>
          </a:p>
          <a:p>
            <a:pPr marL="285750" indent="-285750">
              <a:lnSpc>
                <a:spcPct val="105000"/>
              </a:lnSpc>
              <a:buFont typeface="Arial" panose="020B0604020202020204" pitchFamily="34" charset="0"/>
              <a:buChar char="•"/>
            </a:pPr>
            <a:r>
              <a:rPr lang="en-US" b="1" dirty="0">
                <a:solidFill>
                  <a:srgbClr val="FFFFFF"/>
                </a:solidFill>
                <a:latin typeface="Arial"/>
              </a:rPr>
              <a:t>Tolerance</a:t>
            </a:r>
          </a:p>
          <a:p>
            <a:pPr marL="285750" indent="-285750">
              <a:lnSpc>
                <a:spcPct val="105000"/>
              </a:lnSpc>
              <a:buFont typeface="Arial" panose="020B0604020202020204" pitchFamily="34" charset="0"/>
              <a:buChar char="•"/>
            </a:pPr>
            <a:r>
              <a:rPr lang="en-US" b="1" dirty="0">
                <a:solidFill>
                  <a:srgbClr val="FFFFFF"/>
                </a:solidFill>
                <a:latin typeface="Arial"/>
              </a:rPr>
              <a:t>PRESS/LOOCV/Predicted R2</a:t>
            </a:r>
          </a:p>
          <a:p>
            <a:pPr marL="285750" indent="-285750">
              <a:lnSpc>
                <a:spcPct val="105000"/>
              </a:lnSpc>
              <a:buFont typeface="Arial" panose="020B0604020202020204" pitchFamily="34" charset="0"/>
              <a:buChar char="•"/>
            </a:pPr>
            <a:r>
              <a:rPr lang="en-US" b="1" dirty="0">
                <a:solidFill>
                  <a:srgbClr val="FFFFFF"/>
                </a:solidFill>
                <a:latin typeface="Arial"/>
              </a:rPr>
              <a:t>Studentized Residuals</a:t>
            </a:r>
          </a:p>
          <a:p>
            <a:pPr marL="285750" indent="-285750">
              <a:lnSpc>
                <a:spcPct val="105000"/>
              </a:lnSpc>
              <a:buFont typeface="Arial" panose="020B0604020202020204" pitchFamily="34" charset="0"/>
              <a:buChar char="•"/>
            </a:pPr>
            <a:r>
              <a:rPr lang="en-US" b="1" dirty="0">
                <a:solidFill>
                  <a:srgbClr val="FFFFFF"/>
                </a:solidFill>
                <a:latin typeface="Arial"/>
              </a:rPr>
              <a:t>AIC/</a:t>
            </a:r>
            <a:r>
              <a:rPr lang="en-US" b="1" dirty="0" err="1">
                <a:solidFill>
                  <a:srgbClr val="FFFFFF"/>
                </a:solidFill>
                <a:latin typeface="Arial"/>
              </a:rPr>
              <a:t>AICc</a:t>
            </a:r>
            <a:r>
              <a:rPr lang="en-US" b="1" dirty="0">
                <a:solidFill>
                  <a:srgbClr val="FFFFFF"/>
                </a:solidFill>
                <a:latin typeface="Arial"/>
              </a:rPr>
              <a:t>/BIC</a:t>
            </a:r>
          </a:p>
          <a:p>
            <a:pPr marL="285750" indent="-285750">
              <a:lnSpc>
                <a:spcPct val="105000"/>
              </a:lnSpc>
              <a:buFont typeface="Arial" panose="020B0604020202020204" pitchFamily="34" charset="0"/>
              <a:buChar char="•"/>
            </a:pPr>
            <a:r>
              <a:rPr lang="en-US" b="1" dirty="0">
                <a:solidFill>
                  <a:srgbClr val="FFFFFF"/>
                </a:solidFill>
                <a:latin typeface="Arial"/>
              </a:rPr>
              <a:t>Durbin-Watson (exp-aware)</a:t>
            </a:r>
          </a:p>
          <a:p>
            <a:pPr marL="285750" indent="-285750">
              <a:lnSpc>
                <a:spcPct val="105000"/>
              </a:lnSpc>
              <a:buFont typeface="Arial" panose="020B0604020202020204" pitchFamily="34" charset="0"/>
              <a:buChar char="•"/>
            </a:pPr>
            <a:r>
              <a:rPr lang="en-US" b="1" dirty="0">
                <a:solidFill>
                  <a:srgbClr val="FFFFFF"/>
                </a:solidFill>
                <a:latin typeface="Arial"/>
              </a:rPr>
              <a:t>Spearman &amp; Partial Correlation</a:t>
            </a:r>
          </a:p>
          <a:p>
            <a:pPr marL="285750" indent="-285750">
              <a:lnSpc>
                <a:spcPct val="105000"/>
              </a:lnSpc>
              <a:buFont typeface="Arial" panose="020B0604020202020204" pitchFamily="34" charset="0"/>
              <a:buChar char="•"/>
            </a:pPr>
            <a:r>
              <a:rPr lang="en-US" b="1" dirty="0">
                <a:solidFill>
                  <a:srgbClr val="FFFFFF"/>
                </a:solidFill>
                <a:latin typeface="Arial"/>
              </a:rPr>
              <a:t>Distribution Fitting</a:t>
            </a:r>
          </a:p>
          <a:p>
            <a:pPr marL="285750" indent="-285750">
              <a:lnSpc>
                <a:spcPct val="105000"/>
              </a:lnSpc>
              <a:buFont typeface="Arial" panose="020B0604020202020204" pitchFamily="34" charset="0"/>
              <a:buChar char="•"/>
            </a:pPr>
            <a:r>
              <a:rPr lang="en-US" b="1" dirty="0">
                <a:solidFill>
                  <a:srgbClr val="FFFFFF"/>
                </a:solidFill>
                <a:latin typeface="Arial"/>
              </a:rPr>
              <a:t>: Pearson &amp; Spearman R with y, Kurtosis, GVIF, Tolerance</a:t>
            </a:r>
          </a:p>
        </p:txBody>
      </p:sp>
      <p:sp>
        <p:nvSpPr>
          <p:cNvPr id="16" name="TextBox 15"/>
          <p:cNvSpPr txBox="1"/>
          <p:nvPr/>
        </p:nvSpPr>
        <p:spPr>
          <a:xfrm>
            <a:off x="838200" y="4513055"/>
            <a:ext cx="10241280" cy="218137"/>
          </a:xfrm>
          <a:prstGeom prst="rect">
            <a:avLst/>
          </a:prstGeom>
          <a:noFill/>
        </p:spPr>
        <p:txBody>
          <a:bodyPr wrap="square" lIns="0" tIns="0" rIns="0" bIns="0" anchor="t">
            <a:spAutoFit/>
          </a:bodyPr>
          <a:lstStyle/>
          <a:p>
            <a:pPr algn="l">
              <a:lnSpc>
                <a:spcPct val="105000"/>
              </a:lnSpc>
            </a:pPr>
            <a:endParaRPr sz="1450" b="0" i="0" dirty="0">
              <a:solidFill>
                <a:srgbClr val="D8E0EA"/>
              </a:solidFill>
              <a:latin typeface="Arial"/>
            </a:endParaRPr>
          </a:p>
        </p:txBody>
      </p:sp>
      <p:sp>
        <p:nvSpPr>
          <p:cNvPr id="17" name="TextBox 16">
            <a:extLst>
              <a:ext uri="{FF2B5EF4-FFF2-40B4-BE49-F238E27FC236}">
                <a16:creationId xmlns:a16="http://schemas.microsoft.com/office/drawing/2014/main" id="{531D0CB6-9A5B-AF8C-9C9C-4E6D8F059BBD}"/>
              </a:ext>
            </a:extLst>
          </p:cNvPr>
          <p:cNvSpPr txBox="1"/>
          <p:nvPr/>
        </p:nvSpPr>
        <p:spPr>
          <a:xfrm>
            <a:off x="261257" y="6498771"/>
            <a:ext cx="16839738" cy="369332"/>
          </a:xfrm>
          <a:prstGeom prst="rect">
            <a:avLst/>
          </a:prstGeom>
          <a:noFill/>
        </p:spPr>
        <p:txBody>
          <a:bodyPr wrap="none" rtlCol="0">
            <a:spAutoFit/>
          </a:bodyPr>
          <a:lstStyle/>
          <a:p>
            <a:r>
              <a:rPr lang="en-US" dirty="0"/>
              <a:t>*</a:t>
            </a:r>
            <a:r>
              <a:rPr lang="en-US" dirty="0" err="1"/>
              <a:t>Toolpak</a:t>
            </a:r>
            <a:r>
              <a:rPr lang="en-US" dirty="0"/>
              <a:t> uses a different definition of “standard residual” than the internally studentized residual that accounts for residual degrees of freedom and observation leverage.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C334-4063-00F3-6052-5D5FF5CB8337}"/>
              </a:ext>
            </a:extLst>
          </p:cNvPr>
          <p:cNvSpPr>
            <a:spLocks noGrp="1"/>
          </p:cNvSpPr>
          <p:nvPr>
            <p:ph type="title"/>
          </p:nvPr>
        </p:nvSpPr>
        <p:spPr/>
        <p:txBody>
          <a:bodyPr/>
          <a:lstStyle/>
          <a:p>
            <a:r>
              <a:rPr lang="en-US" dirty="0"/>
              <a:t>More Features and Future Work</a:t>
            </a:r>
          </a:p>
        </p:txBody>
      </p:sp>
      <p:sp>
        <p:nvSpPr>
          <p:cNvPr id="3" name="Slide Number Placeholder 2">
            <a:extLst>
              <a:ext uri="{FF2B5EF4-FFF2-40B4-BE49-F238E27FC236}">
                <a16:creationId xmlns:a16="http://schemas.microsoft.com/office/drawing/2014/main" id="{95E1C8DA-B2E3-CB7C-B0D9-C36B460928F0}"/>
              </a:ext>
            </a:extLst>
          </p:cNvPr>
          <p:cNvSpPr>
            <a:spLocks noGrp="1"/>
          </p:cNvSpPr>
          <p:nvPr>
            <p:ph type="sldNum" sz="quarter" idx="12"/>
          </p:nvPr>
        </p:nvSpPr>
        <p:spPr/>
        <p:txBody>
          <a:bodyPr/>
          <a:lstStyle/>
          <a:p>
            <a:fld id="{DD3EB71B-0E20-644D-98EB-43484203013E}" type="slidenum">
              <a:rPr lang="en-US" smtClean="0"/>
              <a:t>41</a:t>
            </a:fld>
            <a:endParaRPr lang="en-US"/>
          </a:p>
        </p:txBody>
      </p:sp>
      <p:sp>
        <p:nvSpPr>
          <p:cNvPr id="5" name="Rounded Rectangle 13">
            <a:extLst>
              <a:ext uri="{FF2B5EF4-FFF2-40B4-BE49-F238E27FC236}">
                <a16:creationId xmlns:a16="http://schemas.microsoft.com/office/drawing/2014/main" id="{85D200DC-8AA2-442E-CA47-0ACF395C1561}"/>
              </a:ext>
            </a:extLst>
          </p:cNvPr>
          <p:cNvSpPr/>
          <p:nvPr/>
        </p:nvSpPr>
        <p:spPr>
          <a:xfrm>
            <a:off x="566928" y="1376220"/>
            <a:ext cx="11055096" cy="465659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b="1" dirty="0">
                <a:solidFill>
                  <a:srgbClr val="FFFFFF"/>
                </a:solidFill>
                <a:latin typeface="Arial"/>
              </a:rPr>
              <a:t>More Regression Features:</a:t>
            </a:r>
          </a:p>
          <a:p>
            <a:pPr>
              <a:lnSpc>
                <a:spcPct val="105000"/>
              </a:lnSpc>
            </a:pPr>
            <a:r>
              <a:rPr lang="en-US" dirty="0">
                <a:solidFill>
                  <a:srgbClr val="FFFFFF"/>
                </a:solidFill>
                <a:latin typeface="Arial"/>
              </a:rPr>
              <a:t>Handling Fixed Effects</a:t>
            </a:r>
          </a:p>
          <a:p>
            <a:pPr>
              <a:lnSpc>
                <a:spcPct val="105000"/>
              </a:lnSpc>
            </a:pPr>
            <a:r>
              <a:rPr lang="en-US" dirty="0">
                <a:solidFill>
                  <a:srgbClr val="FFFFFF"/>
                </a:solidFill>
                <a:latin typeface="Arial"/>
              </a:rPr>
              <a:t>Treatment of Panel Data (Demeaning)</a:t>
            </a:r>
          </a:p>
          <a:p>
            <a:pPr>
              <a:lnSpc>
                <a:spcPct val="105000"/>
              </a:lnSpc>
            </a:pPr>
            <a:r>
              <a:rPr lang="en-US" dirty="0">
                <a:solidFill>
                  <a:srgbClr val="FFFFFF"/>
                </a:solidFill>
                <a:latin typeface="Arial"/>
              </a:rPr>
              <a:t>Transforms (Logarithm)</a:t>
            </a:r>
          </a:p>
          <a:p>
            <a:pPr>
              <a:lnSpc>
                <a:spcPct val="105000"/>
              </a:lnSpc>
            </a:pPr>
            <a:endParaRPr lang="en-US" dirty="0">
              <a:solidFill>
                <a:srgbClr val="FFFFFF"/>
              </a:solidFill>
              <a:latin typeface="Arial"/>
            </a:endParaRPr>
          </a:p>
        </p:txBody>
      </p:sp>
    </p:spTree>
    <p:extLst>
      <p:ext uri="{BB962C8B-B14F-4D97-AF65-F5344CB8AC3E}">
        <p14:creationId xmlns:p14="http://schemas.microsoft.com/office/powerpoint/2010/main" val="3583523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3500000"/>
          </a:xfrm>
          <a:prstGeom prst="rect">
            <a:avLst/>
          </a:prstGeom>
          <a:noFill/>
        </p:spPr>
        <p:txBody>
          <a:bodyPr wrap="square" lIns="0" tIns="0" rIns="0" bIns="0" anchor="t">
            <a:spAutoFit/>
          </a:bodyPr>
          <a:lstStyle/>
          <a:p>
            <a:pPr algn="l">
              <a:lnSpc>
                <a:spcPct val="115000"/>
              </a:lnSpc>
            </a:pPr>
            <a:r>
              <a:rPr sz="1600" b="1" i="0">
                <a:solidFill>
                  <a:srgbClr val="5FD4C6"/>
                </a:solidFill>
                <a:latin typeface="Arial"/>
              </a:rPr>
              <a:t>Each row is one function</a:t>
            </a:r>
          </a:p>
          <a:p>
            <a:pPr algn="l">
              <a:lnSpc>
                <a:spcPct val="115000"/>
              </a:lnSpc>
            </a:pPr>
            <a:endParaRPr/>
          </a:p>
          <a:p>
            <a:pPr algn="l">
              <a:lnSpc>
                <a:spcPct val="115000"/>
              </a:lnSpc>
            </a:pPr>
            <a:r>
              <a:rPr sz="1300" b="1" i="0">
                <a:solidFill>
                  <a:srgbClr val="FFFFFF"/>
                </a:solidFill>
                <a:latin typeface="Arial"/>
              </a:rPr>
              <a:t>Name</a:t>
            </a:r>
            <a:r>
              <a:rPr sz="1300" b="0" i="0">
                <a:solidFill>
                  <a:srgbClr val="DCDCDC"/>
                </a:solidFill>
                <a:latin typeface="Arial"/>
              </a:rPr>
              <a:t>  —  the callable function name</a:t>
            </a:r>
          </a:p>
          <a:p>
            <a:pPr algn="l">
              <a:lnSpc>
                <a:spcPct val="115000"/>
              </a:lnSpc>
            </a:pPr>
            <a:r>
              <a:rPr sz="1300" b="1" i="0">
                <a:solidFill>
                  <a:srgbClr val="FFFFFF"/>
                </a:solidFill>
                <a:latin typeface="Arial"/>
              </a:rPr>
              <a:t>Arguments</a:t>
            </a:r>
            <a:r>
              <a:rPr sz="1300" b="0" i="0">
                <a:solidFill>
                  <a:srgbClr val="DCDCDC"/>
                </a:solidFill>
                <a:latin typeface="Arial"/>
              </a:rPr>
              <a:t>  —  parameters, [optional] in brackets</a:t>
            </a:r>
          </a:p>
          <a:p>
            <a:pPr algn="l">
              <a:lnSpc>
                <a:spcPct val="115000"/>
              </a:lnSpc>
            </a:pPr>
            <a:r>
              <a:rPr sz="1300" b="1" i="0">
                <a:solidFill>
                  <a:srgbClr val="FFFFFF"/>
                </a:solidFill>
                <a:latin typeface="Arial"/>
              </a:rPr>
              <a:t>Yields</a:t>
            </a:r>
            <a:r>
              <a:rPr sz="1300" b="0" i="0">
                <a:solidFill>
                  <a:srgbClr val="DCDCDC"/>
                </a:solidFill>
                <a:latin typeface="Arial"/>
              </a:rPr>
              <a:t>  —  scalar / vector / array</a:t>
            </a:r>
          </a:p>
          <a:p>
            <a:pPr algn="l">
              <a:lnSpc>
                <a:spcPct val="115000"/>
              </a:lnSpc>
            </a:pPr>
            <a:r>
              <a:rPr sz="1300" b="1" i="0">
                <a:solidFill>
                  <a:srgbClr val="FFFFFF"/>
                </a:solidFill>
                <a:latin typeface="Arial"/>
              </a:rPr>
              <a:t>Formula</a:t>
            </a:r>
            <a:r>
              <a:rPr sz="1300" b="0" i="0">
                <a:solidFill>
                  <a:srgbClr val="DCDCDC"/>
                </a:solidFill>
                <a:latin typeface="Arial"/>
              </a:rPr>
              <a:t>  —  human-readable formula body</a:t>
            </a:r>
          </a:p>
          <a:p>
            <a:pPr algn="l">
              <a:lnSpc>
                <a:spcPct val="115000"/>
              </a:lnSpc>
            </a:pPr>
            <a:r>
              <a:rPr sz="1300" b="1" i="0">
                <a:solidFill>
                  <a:srgbClr val="FFFFFF"/>
                </a:solidFill>
                <a:latin typeface="Arial"/>
              </a:rPr>
              <a:t>Description</a:t>
            </a:r>
            <a:r>
              <a:rPr sz="1300" b="0" i="0">
                <a:solidFill>
                  <a:srgbClr val="DCDCDC"/>
                </a:solidFill>
                <a:latin typeface="Arial"/>
              </a:rPr>
              <a:t>  —  plain-English explanation</a:t>
            </a:r>
          </a:p>
        </p:txBody>
      </p:sp>
      <p:sp>
        <p:nvSpPr>
          <p:cNvPr id="6" name="Rounded Rectangle 5"/>
          <p:cNvSpPr/>
          <p:nvPr/>
        </p:nvSpPr>
        <p:spPr>
          <a:xfrm>
            <a:off x="5824728" y="2011680"/>
            <a:ext cx="5797296" cy="370000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3500000"/>
          </a:xfrm>
          <a:prstGeom prst="rect">
            <a:avLst/>
          </a:prstGeom>
          <a:noFill/>
        </p:spPr>
        <p:txBody>
          <a:bodyPr wrap="square" lIns="0" tIns="0" rIns="0" bIns="0" anchor="t">
            <a:spAutoFit/>
          </a:bodyPr>
          <a:lstStyle/>
          <a:p>
            <a:pPr algn="l">
              <a:lnSpc>
                <a:spcPct val="115000"/>
              </a:lnSpc>
            </a:pPr>
            <a:r>
              <a:rPr sz="1600" b="1" i="0">
                <a:solidFill>
                  <a:srgbClr val="E3B23C"/>
                </a:solidFill>
                <a:latin typeface="Arial"/>
              </a:rPr>
              <a:t>The catalog is the spec</a:t>
            </a:r>
          </a:p>
          <a:p>
            <a:pPr algn="l">
              <a:lnSpc>
                <a:spcPct val="115000"/>
              </a:lnSpc>
            </a:pPr>
            <a:endParaRPr/>
          </a:p>
          <a:p>
            <a:pPr algn="l">
              <a:lnSpc>
                <a:spcPct val="115000"/>
              </a:lnSpc>
            </a:pPr>
            <a:r>
              <a:rPr sz="1300" b="0" i="0">
                <a:solidFill>
                  <a:srgbClr val="DCDCDC"/>
                </a:solidFill>
                <a:latin typeface="Arial"/>
              </a:rPr>
              <a:t>The formula in the sheet is the formula in the Name Manager — no separate documentation to go stale.</a:t>
            </a:r>
          </a:p>
          <a:p>
            <a:pPr algn="l">
              <a:lnSpc>
                <a:spcPct val="115000"/>
              </a:lnSpc>
            </a:pPr>
            <a:endParaRPr/>
          </a:p>
          <a:p>
            <a:pPr algn="l">
              <a:lnSpc>
                <a:spcPct val="115000"/>
              </a:lnSpc>
            </a:pPr>
            <a:r>
              <a:rPr sz="1300" b="0" i="0">
                <a:solidFill>
                  <a:srgbClr val="DCDCDC"/>
                </a:solidFill>
                <a:latin typeface="Arial"/>
              </a:rPr>
              <a:t>Open Name Manager and you see the same 112 entries — functions, arguments, descriptions — matching the catalog exactly.</a:t>
            </a:r>
          </a:p>
          <a:p>
            <a:pPr algn="l">
              <a:lnSpc>
                <a:spcPct val="115000"/>
              </a:lnSpc>
            </a:pPr>
            <a:endParaRPr/>
          </a:p>
          <a:p>
            <a:pPr algn="l">
              <a:lnSpc>
                <a:spcPct val="115000"/>
              </a:lnSpc>
            </a:pPr>
            <a:r>
              <a:rPr sz="1300" b="0" i="1">
                <a:solidFill>
                  <a:srgbClr val="C9CDD2"/>
                </a:solidFill>
                <a:latin typeface="Arial"/>
              </a:rPr>
              <a:t>Adding a function: edit the JSON source and rebuild. The catalog and the workbook update together, or neither does.</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3.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1059</TotalTime>
  <Words>9229</Words>
  <Application>Microsoft Office PowerPoint</Application>
  <PresentationFormat>Widescreen</PresentationFormat>
  <Paragraphs>857</Paragraphs>
  <Slides>42</Slides>
  <Notes>40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42</vt:i4>
      </vt:variant>
    </vt:vector>
  </HeadingPairs>
  <TitlesOfParts>
    <vt:vector size="53" baseType="lpstr">
      <vt:lpstr>Aptos</vt:lpstr>
      <vt:lpstr>Arial</vt:lpstr>
      <vt:lpstr>Bahnschrift SemiCondensed</vt:lpstr>
      <vt:lpstr>Consolas</vt:lpstr>
      <vt:lpstr>Figtree ExtraBold</vt:lpstr>
      <vt:lpstr>Montserrat</vt:lpstr>
      <vt:lpstr>Wingdings</vt:lpstr>
      <vt:lpstr>Office Theme</vt:lpstr>
      <vt:lpstr>1_Office Theme</vt:lpstr>
      <vt:lpstr>2_Office Theme</vt:lpstr>
      <vt:lpstr>3_Office Theme</vt:lpstr>
      <vt:lpstr>PowerPoint Presentation</vt:lpstr>
      <vt:lpstr>Motivation</vt:lpstr>
      <vt:lpstr>What's in this talk</vt:lpstr>
      <vt:lpstr>Tradeoffs</vt:lpstr>
      <vt:lpstr>Two Excel features do the work</vt:lpstr>
      <vt:lpstr>LET → LAMBDA</vt:lpstr>
      <vt:lpstr>What ships in the workbook</vt:lpstr>
      <vt:lpstr>You declare; the sheet constructs</vt:lpstr>
      <vt:lpstr>Three axes, one declaration</vt:lpstr>
      <vt:lpstr>The model spec block</vt:lpstr>
      <vt:lpstr>Categorical drivers, no helper columns</vt:lpstr>
      <vt:lpstr>One dropdown changes the fit</vt:lpstr>
      <vt:lpstr>Fixed effects: absorb the group</vt:lpstr>
      <vt:lpstr>Absorbing the group</vt:lpstr>
      <vt:lpstr>When your rows are a time series</vt:lpstr>
      <vt:lpstr>What the declaration replaces</vt:lpstr>
      <vt:lpstr>Demo 1  ·  Declaring a model</vt:lpstr>
      <vt:lpstr>Full workflow on one worksheet</vt:lpstr>
      <vt:lpstr>Look before you model</vt:lpstr>
      <vt:lpstr>Fit, with confidence intervals</vt:lpstr>
      <vt:lpstr>Trim collinearity — one toggle</vt:lpstr>
      <vt:lpstr>Three views of the same fit</vt:lpstr>
      <vt:lpstr>The honest metric</vt:lpstr>
      <vt:lpstr>A health check on the fit</vt:lpstr>
      <vt:lpstr>Predict, with uncertainty</vt:lpstr>
      <vt:lpstr>Log the cost → lognormal</vt:lpstr>
      <vt:lpstr>Demo 2  ·  Screening, diagnostics, prediction</vt:lpstr>
      <vt:lpstr>Describe, visualize, formalize</vt:lpstr>
      <vt:lpstr>Distribution fitting without Solver</vt:lpstr>
      <vt:lpstr>Demo 3  ·  Fitting a distribution, then taking it with you</vt:lpstr>
      <vt:lpstr>Results Verification</vt:lpstr>
      <vt:lpstr>One place the arithmetic can be wrong</vt:lpstr>
      <vt:lpstr>The interval, exactly</vt:lpstr>
      <vt:lpstr>Benefits</vt:lpstr>
      <vt:lpstr>Where it stops</vt:lpstr>
      <vt:lpstr>Getting it onto your own data</vt:lpstr>
      <vt:lpstr>What travels with the file</vt:lpstr>
      <vt:lpstr>What's next</vt:lpstr>
      <vt:lpstr>Where to get it</vt:lpstr>
      <vt:lpstr>Backup · validation methodology</vt:lpstr>
      <vt:lpstr>More Features and Future Work</vt:lpstr>
      <vt:lpstr>Backup · the LAMBDA_functions sheet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Colodner, Stephen</cp:lastModifiedBy>
  <cp:revision>20</cp:revision>
  <cp:lastPrinted>2025-09-12T16:13:46Z</cp:lastPrinted>
  <dcterms:created xsi:type="dcterms:W3CDTF">2025-09-10T18:06:41Z</dcterms:created>
  <dcterms:modified xsi:type="dcterms:W3CDTF">2026-07-27T20:54:14Z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